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24"/>
  </p:notesMasterIdLst>
  <p:sldIdLst>
    <p:sldId id="256" r:id="rId5"/>
    <p:sldId id="520" r:id="rId6"/>
    <p:sldId id="261" r:id="rId7"/>
    <p:sldId id="258" r:id="rId8"/>
    <p:sldId id="341" r:id="rId9"/>
    <p:sldId id="306" r:id="rId10"/>
    <p:sldId id="340" r:id="rId11"/>
    <p:sldId id="342" r:id="rId12"/>
    <p:sldId id="351" r:id="rId13"/>
    <p:sldId id="343" r:id="rId14"/>
    <p:sldId id="354" r:id="rId15"/>
    <p:sldId id="346" r:id="rId16"/>
    <p:sldId id="345" r:id="rId17"/>
    <p:sldId id="347" r:id="rId18"/>
    <p:sldId id="349" r:id="rId19"/>
    <p:sldId id="339" r:id="rId20"/>
    <p:sldId id="348" r:id="rId21"/>
    <p:sldId id="344" r:id="rId22"/>
    <p:sldId id="264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C47D"/>
    <a:srgbClr val="0BA06E"/>
    <a:srgbClr val="32C58D"/>
    <a:srgbClr val="198964"/>
    <a:srgbClr val="1E2736"/>
    <a:srgbClr val="EAEAEA"/>
    <a:srgbClr val="1C2534"/>
    <a:srgbClr val="CDCDCD"/>
    <a:srgbClr val="9CA3AF"/>
    <a:srgbClr val="EF444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5404"/>
  </p:normalViewPr>
  <p:slideViewPr>
    <p:cSldViewPr snapToGrid="0">
      <p:cViewPr varScale="1">
        <p:scale>
          <a:sx n="92" d="100"/>
          <a:sy n="92" d="100"/>
        </p:scale>
        <p:origin x="295" y="50"/>
      </p:cViewPr>
      <p:guideLst>
        <p:guide orient="horz" pos="2160"/>
        <p:guide pos="2880"/>
      </p:guideLst>
    </p:cSldViewPr>
  </p:slideViewPr>
  <p:notesTextViewPr>
    <p:cViewPr>
      <p:scale>
        <a:sx n="40" d="100"/>
        <a:sy n="4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 O'Connor" userId="57a919d2-84de-49b5-b74c-dce227a21e70" providerId="ADAL" clId="{7F17EF93-C0B4-4E1A-965C-48301B74B3C7}"/>
    <pc:docChg chg="undo custSel modSld sldOrd">
      <pc:chgData name="Chris O'Connor" userId="57a919d2-84de-49b5-b74c-dce227a21e70" providerId="ADAL" clId="{7F17EF93-C0B4-4E1A-965C-48301B74B3C7}" dt="2026-08-24T20:25:29.159" v="1004" actId="20577"/>
      <pc:docMkLst>
        <pc:docMk/>
      </pc:docMkLst>
      <pc:sldChg chg="addSp modSp mod ord">
        <pc:chgData name="Chris O'Connor" userId="57a919d2-84de-49b5-b74c-dce227a21e70" providerId="ADAL" clId="{7F17EF93-C0B4-4E1A-965C-48301B74B3C7}" dt="2026-08-24T20:22:51.573" v="984" actId="20577"/>
        <pc:sldMkLst>
          <pc:docMk/>
          <pc:sldMk cId="0" sldId="306"/>
        </pc:sldMkLst>
        <pc:spChg chg="mod">
          <ac:chgData name="Chris O'Connor" userId="57a919d2-84de-49b5-b74c-dce227a21e70" providerId="ADAL" clId="{7F17EF93-C0B4-4E1A-965C-48301B74B3C7}" dt="2026-08-24T20:22:51.573" v="984" actId="20577"/>
          <ac:spMkLst>
            <pc:docMk/>
            <pc:sldMk cId="0" sldId="306"/>
            <ac:spMk id="98" creationId="{0095E17E-77B6-0CA3-BC73-595C5125BF20}"/>
          </ac:spMkLst>
        </pc:spChg>
        <pc:picChg chg="add">
          <ac:chgData name="Chris O'Connor" userId="57a919d2-84de-49b5-b74c-dce227a21e70" providerId="ADAL" clId="{7F17EF93-C0B4-4E1A-965C-48301B74B3C7}" dt="2026-08-24T20:22:05.196" v="983" actId="22"/>
          <ac:picMkLst>
            <pc:docMk/>
            <pc:sldMk cId="0" sldId="306"/>
            <ac:picMk id="4" creationId="{F381A55A-28ED-B567-115F-F3F183F7F579}"/>
          </ac:picMkLst>
        </pc:picChg>
      </pc:sldChg>
      <pc:sldChg chg="modSp mod">
        <pc:chgData name="Chris O'Connor" userId="57a919d2-84de-49b5-b74c-dce227a21e70" providerId="ADAL" clId="{7F17EF93-C0B4-4E1A-965C-48301B74B3C7}" dt="2026-08-24T20:25:29.159" v="1004" actId="20577"/>
        <pc:sldMkLst>
          <pc:docMk/>
          <pc:sldMk cId="0" sldId="340"/>
        </pc:sldMkLst>
        <pc:spChg chg="mod">
          <ac:chgData name="Chris O'Connor" userId="57a919d2-84de-49b5-b74c-dce227a21e70" providerId="ADAL" clId="{7F17EF93-C0B4-4E1A-965C-48301B74B3C7}" dt="2026-08-24T20:25:29.159" v="1004" actId="20577"/>
          <ac:spMkLst>
            <pc:docMk/>
            <pc:sldMk cId="0" sldId="340"/>
            <ac:spMk id="110" creationId="{00000000-0000-0000-0000-000000000000}"/>
          </ac:spMkLst>
        </pc:spChg>
      </pc:sldChg>
    </pc:docChg>
  </pc:docChgLst>
  <pc:docChgLst>
    <pc:chgData name="Chris O'Connor" userId="5cbbaa93-0376-4fcb-87a3-7b8e02e2f993" providerId="ADAL" clId="{7F17EF93-C0B4-4E1A-965C-48301B74B3C7}"/>
    <pc:docChg chg="undo custSel addSld modSld">
      <pc:chgData name="Chris O'Connor" userId="5cbbaa93-0376-4fcb-87a3-7b8e02e2f993" providerId="ADAL" clId="{7F17EF93-C0B4-4E1A-965C-48301B74B3C7}" dt="2026-08-26T15:02:09.628" v="13"/>
      <pc:docMkLst>
        <pc:docMk/>
      </pc:docMkLst>
      <pc:sldChg chg="add">
        <pc:chgData name="Chris O'Connor" userId="5cbbaa93-0376-4fcb-87a3-7b8e02e2f993" providerId="ADAL" clId="{7F17EF93-C0B4-4E1A-965C-48301B74B3C7}" dt="2026-08-26T15:02:09.628" v="13"/>
        <pc:sldMkLst>
          <pc:docMk/>
          <pc:sldMk cId="0" sldId="261"/>
        </pc:sldMkLst>
      </pc:sldChg>
      <pc:sldChg chg="modSp mod">
        <pc:chgData name="Chris O'Connor" userId="5cbbaa93-0376-4fcb-87a3-7b8e02e2f993" providerId="ADAL" clId="{7F17EF93-C0B4-4E1A-965C-48301B74B3C7}" dt="2026-08-24T20:34:13.323" v="12" actId="20577"/>
        <pc:sldMkLst>
          <pc:docMk/>
          <pc:sldMk cId="0" sldId="340"/>
        </pc:sldMkLst>
        <pc:spChg chg="mod">
          <ac:chgData name="Chris O'Connor" userId="5cbbaa93-0376-4fcb-87a3-7b8e02e2f993" providerId="ADAL" clId="{7F17EF93-C0B4-4E1A-965C-48301B74B3C7}" dt="2026-08-24T20:34:13.323" v="12" actId="20577"/>
          <ac:spMkLst>
            <pc:docMk/>
            <pc:sldMk cId="0" sldId="340"/>
            <ac:spMk id="110" creationId="{00000000-0000-0000-0000-000000000000}"/>
          </ac:spMkLst>
        </pc:spChg>
      </pc:sldChg>
      <pc:sldChg chg="add">
        <pc:chgData name="Chris O'Connor" userId="5cbbaa93-0376-4fcb-87a3-7b8e02e2f993" providerId="ADAL" clId="{7F17EF93-C0B4-4E1A-965C-48301B74B3C7}" dt="2026-08-26T15:02:09.628" v="13"/>
        <pc:sldMkLst>
          <pc:docMk/>
          <pc:sldMk cId="2233139679" sldId="520"/>
        </pc:sldMkLst>
      </pc:sldChg>
    </pc:docChg>
  </pc:docChgLst>
  <pc:docChgLst>
    <pc:chgData name="Joe Fischer" userId="995fe644-2e2c-4501-bbc0-aab1fb88cc72" providerId="ADAL" clId="{9105F263-EFE9-46AA-8671-0BC73F17EEAB}"/>
    <pc:docChg chg="undo custSel addSld delSld">
      <pc:chgData name="Joe Fischer" userId="995fe644-2e2c-4501-bbc0-aab1fb88cc72" providerId="ADAL" clId="{9105F263-EFE9-46AA-8671-0BC73F17EEAB}" dt="2026-09-09T15:12:48.960" v="1" actId="680"/>
      <pc:docMkLst>
        <pc:docMk/>
      </pc:docMkLst>
      <pc:sldChg chg="new del">
        <pc:chgData name="Joe Fischer" userId="995fe644-2e2c-4501-bbc0-aab1fb88cc72" providerId="ADAL" clId="{9105F263-EFE9-46AA-8671-0BC73F17EEAB}" dt="2026-09-09T15:12:48.960" v="1" actId="680"/>
        <pc:sldMkLst>
          <pc:docMk/>
          <pc:sldMk cId="876563397" sldId="52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67C8C6-5280-7742-9B36-0D5D341F1D32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830D74-D25D-4142-9D5A-78AE258B8EE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62610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830D74-D25D-4142-9D5A-78AE258B8EE8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00611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5830D74-D25D-4142-9D5A-78AE258B8EE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0837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50847-8ACE-95FE-AD58-8CE89553F3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AAEA77B-DFAE-DA00-774D-19731FBC7C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D30D12-6BF7-1C11-AC4F-0D1CF35FE6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CB83B0-5583-AEA6-F1D7-91FD6CB816D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4476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35953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4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svg"/><Relationship Id="rId4" Type="http://schemas.openxmlformats.org/officeDocument/2006/relationships/image" Target="../media/image7.png"/><Relationship Id="rId9" Type="http://schemas.openxmlformats.org/officeDocument/2006/relationships/image" Target="../media/image12.sv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16DF03C-1ACC-7351-A97C-D39F1263E208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120" r="34500"/>
          <a:stretch>
            <a:fillRect/>
          </a:stretch>
        </p:blipFill>
        <p:spPr>
          <a:xfrm>
            <a:off x="4775201" y="0"/>
            <a:ext cx="7416799" cy="6858000"/>
          </a:xfrm>
          <a:prstGeom prst="rect">
            <a:avLst/>
          </a:prstGeom>
        </p:spPr>
      </p:pic>
      <p:pic>
        <p:nvPicPr>
          <p:cNvPr id="4" name="Picture 3" descr="white-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1711608"/>
            <a:ext cx="3877056" cy="156224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5800" y="3971006"/>
            <a:ext cx="6455664" cy="570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lang="en-US" sz="3200" b="1" i="0" dirty="0">
                <a:solidFill>
                  <a:srgbClr val="31C48D"/>
                </a:solidFill>
                <a:latin typeface="Inter"/>
              </a:rPr>
              <a:t>Distribution Intelligence</a:t>
            </a:r>
            <a:endParaRPr sz="3200" b="1" i="0" dirty="0">
              <a:solidFill>
                <a:srgbClr val="31C48D"/>
              </a:solidFill>
              <a:latin typeface="Inter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6172200"/>
            <a:ext cx="8229600" cy="1861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 dirty="0">
                <a:solidFill>
                  <a:srgbClr val="9CA3AF"/>
                </a:solidFill>
                <a:latin typeface="Inter"/>
              </a:rPr>
              <a:t>Strictly Private and Confidential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">
          <a:extLst>
            <a:ext uri="{FF2B5EF4-FFF2-40B4-BE49-F238E27FC236}">
              <a16:creationId xmlns:a16="http://schemas.microsoft.com/office/drawing/2014/main" id="{0D6B0F24-A376-7F65-BE82-835B43F57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BD281EBB-1F1B-DD54-BA06-BE82445EB001}"/>
              </a:ext>
            </a:extLst>
          </p:cNvPr>
          <p:cNvSpPr/>
          <p:nvPr/>
        </p:nvSpPr>
        <p:spPr>
          <a:xfrm>
            <a:off x="495300" y="4861896"/>
            <a:ext cx="11201399" cy="935501"/>
          </a:xfrm>
          <a:prstGeom prst="roundRect">
            <a:avLst/>
          </a:prstGeom>
          <a:solidFill>
            <a:srgbClr val="00C47D">
              <a:alpha val="10000"/>
            </a:srgbClr>
          </a:solidFill>
          <a:ln w="6350">
            <a:solidFill>
              <a:srgbClr val="00C47D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4D8F5062-21CA-7A40-9D47-6BD8226E6198}"/>
              </a:ext>
            </a:extLst>
          </p:cNvPr>
          <p:cNvSpPr txBox="1"/>
          <p:nvPr/>
        </p:nvSpPr>
        <p:spPr>
          <a:xfrm>
            <a:off x="548640" y="711954"/>
            <a:ext cx="11094720" cy="492443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This is Field</a:t>
            </a:r>
            <a:endParaRPr kumimoji="0" sz="32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cxnSp>
        <p:nvCxnSpPr>
          <p:cNvPr id="50" name="Connector 50">
            <a:extLst>
              <a:ext uri="{FF2B5EF4-FFF2-40B4-BE49-F238E27FC236}">
                <a16:creationId xmlns:a16="http://schemas.microsoft.com/office/drawing/2014/main" id="{AEAC79ED-7C1E-2C4A-8A67-2F9820F50A6A}"/>
              </a:ext>
            </a:extLst>
          </p:cNvPr>
          <p:cNvCxnSpPr/>
          <p:nvPr/>
        </p:nvCxnSpPr>
        <p:spPr>
          <a:xfrm>
            <a:off x="457200" y="6473952"/>
            <a:ext cx="11277295" cy="0"/>
          </a:xfrm>
          <a:prstGeom prst="line">
            <a:avLst/>
          </a:prstGeom>
          <a:ln w="6350">
            <a:solidFill>
              <a:srgbClr val="374151"/>
            </a:solidFill>
          </a:ln>
        </p:spPr>
      </p:cxnSp>
      <p:sp>
        <p:nvSpPr>
          <p:cNvPr id="51" name="TextBox 51">
            <a:extLst>
              <a:ext uri="{FF2B5EF4-FFF2-40B4-BE49-F238E27FC236}">
                <a16:creationId xmlns:a16="http://schemas.microsoft.com/office/drawing/2014/main" id="{3F3E817B-F75E-328F-2F1B-EB5CA10DF71F}"/>
              </a:ext>
            </a:extLst>
          </p:cNvPr>
          <p:cNvSpPr txBox="1"/>
          <p:nvPr/>
        </p:nvSpPr>
        <p:spPr>
          <a:xfrm>
            <a:off x="457200" y="6565392"/>
            <a:ext cx="7315200" cy="1225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FIELD WEALTH INTELLIGENCE  · 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8AAD32C-A0CE-7C81-695B-39097A6CBD8E}"/>
              </a:ext>
            </a:extLst>
          </p:cNvPr>
          <p:cNvSpPr txBox="1"/>
          <p:nvPr/>
        </p:nvSpPr>
        <p:spPr>
          <a:xfrm>
            <a:off x="610121" y="2128279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18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FIELD 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34D8A8C-C076-906B-A615-92F71D705FD3}"/>
              </a:ext>
            </a:extLst>
          </p:cNvPr>
          <p:cNvSpPr txBox="1"/>
          <p:nvPr/>
        </p:nvSpPr>
        <p:spPr>
          <a:xfrm>
            <a:off x="610121" y="2521471"/>
            <a:ext cx="4892040" cy="141654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The universal data layer for wealth management. Every household in an advisor’s practice, continuously connected across custodians, platforms, and asset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types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. Intelligence above the data. Connection to the systems that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execute.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8C2D0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C502B18-F301-AD74-2D9F-8688BCE0852B}"/>
              </a:ext>
            </a:extLst>
          </p:cNvPr>
          <p:cNvSpPr txBox="1"/>
          <p:nvPr/>
        </p:nvSpPr>
        <p:spPr>
          <a:xfrm>
            <a:off x="6325121" y="2128279"/>
            <a:ext cx="48463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50" b="1" i="0" u="none" strike="noStrike" kern="1200" cap="none" spc="180" normalizeH="0" baseline="0" noProof="0" dirty="0">
                <a:ln>
                  <a:noFill/>
                </a:ln>
                <a:solidFill>
                  <a:srgbClr val="9CA3A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WHAT FIELD IS NOT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90C90C6-DF14-910B-1B6C-7906EAB08FAF}"/>
              </a:ext>
            </a:extLst>
          </p:cNvPr>
          <p:cNvSpPr txBox="1"/>
          <p:nvPr/>
        </p:nvSpPr>
        <p:spPr>
          <a:xfrm>
            <a:off x="6325121" y="2521471"/>
            <a:ext cx="5029200" cy="11280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 hosting platform. Field does not compete with Envestnet, Orion, GeoWealth, or SmartX. 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 </a:t>
            </a:r>
            <a:r>
              <a:rPr kumimoji="0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Those platforms have earned their positio</a:t>
            </a:r>
            <a:r>
              <a:rPr kumimoji="0" lang="en-US" sz="150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n.  We create a fabric above them.   </a:t>
            </a:r>
            <a:endParaRPr kumimoji="0" sz="1500" b="0" i="0" u="none" strike="noStrike" kern="1200" cap="none" spc="0" normalizeH="0" baseline="0" noProof="0" dirty="0">
              <a:ln>
                <a:noFill/>
              </a:ln>
              <a:solidFill>
                <a:srgbClr val="B8C2D0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pic>
        <p:nvPicPr>
          <p:cNvPr id="30" name="Picture 29" descr="field_logo.png">
            <a:extLst>
              <a:ext uri="{FF2B5EF4-FFF2-40B4-BE49-F238E27FC236}">
                <a16:creationId xmlns:a16="http://schemas.microsoft.com/office/drawing/2014/main" id="{55E55D4C-85E9-7785-5028-708EC59A56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846" y="5107410"/>
            <a:ext cx="1051560" cy="423721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963806F4-24C4-DE36-2935-70B1121681E5}"/>
              </a:ext>
            </a:extLst>
          </p:cNvPr>
          <p:cNvSpPr txBox="1"/>
          <p:nvPr/>
        </p:nvSpPr>
        <p:spPr>
          <a:xfrm>
            <a:off x="2270446" y="5070834"/>
            <a:ext cx="2743200" cy="16158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50" b="1" i="0" u="none" strike="noStrike" kern="1200" cap="none" spc="16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THE DATA LAYE</a:t>
            </a:r>
            <a:r>
              <a:rPr kumimoji="0" lang="en-US" sz="1050" b="1" i="0" u="none" strike="noStrike" kern="1200" cap="none" spc="16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R</a:t>
            </a:r>
            <a:endParaRPr kumimoji="0" sz="1050" b="1" i="0" u="none" strike="noStrike" kern="1200" cap="none" spc="160" normalizeH="0" baseline="0" noProof="0" dirty="0">
              <a:ln>
                <a:noFill/>
              </a:ln>
              <a:solidFill>
                <a:srgbClr val="31C48D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2788443-BAC4-A97B-3824-EF73B3D48FE1}"/>
              </a:ext>
            </a:extLst>
          </p:cNvPr>
          <p:cNvSpPr txBox="1"/>
          <p:nvPr/>
        </p:nvSpPr>
        <p:spPr>
          <a:xfrm>
            <a:off x="2270446" y="5345154"/>
            <a:ext cx="384048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Unified Dat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</a:t>
            </a:r>
            <a:endParaRPr kumimoji="0" sz="20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7A2381C-28C7-8E26-004C-507AA98CAED4}"/>
              </a:ext>
            </a:extLst>
          </p:cNvPr>
          <p:cNvSpPr txBox="1"/>
          <p:nvPr/>
        </p:nvSpPr>
        <p:spPr>
          <a:xfrm>
            <a:off x="5516566" y="5092519"/>
            <a:ext cx="5029200" cy="45954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350" b="0" i="0" u="none" strike="noStrike" kern="1200" cap="none" spc="0" normalizeH="0" baseline="0" noProof="0" dirty="0">
                <a:ln>
                  <a:noFill/>
                </a:ln>
                <a:solidFill>
                  <a:srgbClr val="B8C2D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Every household, one record, continuously connected across custodians, platforms, and asset classes</a:t>
            </a:r>
          </a:p>
        </p:txBody>
      </p:sp>
    </p:spTree>
    <p:extLst>
      <p:ext uri="{BB962C8B-B14F-4D97-AF65-F5344CB8AC3E}">
        <p14:creationId xmlns:p14="http://schemas.microsoft.com/office/powerpoint/2010/main" val="22331396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2F08C5A7-8F89-323E-1099-EB8B6BB499E1}"/>
              </a:ext>
            </a:extLst>
          </p:cNvPr>
          <p:cNvSpPr/>
          <p:nvPr/>
        </p:nvSpPr>
        <p:spPr>
          <a:xfrm>
            <a:off x="685799" y="4384075"/>
            <a:ext cx="10820095" cy="672556"/>
          </a:xfrm>
          <a:prstGeom prst="roundRect">
            <a:avLst/>
          </a:prstGeom>
          <a:solidFill>
            <a:srgbClr val="00C47D">
              <a:alpha val="10000"/>
            </a:srgbClr>
          </a:solidFill>
          <a:ln w="6350">
            <a:solidFill>
              <a:srgbClr val="00C47D">
                <a:alpha val="20000"/>
              </a:srgb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70" name="Connector 18">
            <a:extLst>
              <a:ext uri="{FF2B5EF4-FFF2-40B4-BE49-F238E27FC236}">
                <a16:creationId xmlns:a16="http://schemas.microsoft.com/office/drawing/2014/main" id="{729EE5F0-0008-FA9A-0E85-85D189E70CDC}"/>
              </a:ext>
            </a:extLst>
          </p:cNvPr>
          <p:cNvCxnSpPr/>
          <p:nvPr/>
        </p:nvCxnSpPr>
        <p:spPr>
          <a:xfrm>
            <a:off x="3273399" y="4010984"/>
            <a:ext cx="5573268" cy="0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0A31DE24-822B-E043-1693-B40E4E20813F}"/>
              </a:ext>
            </a:extLst>
          </p:cNvPr>
          <p:cNvSpPr/>
          <p:nvPr/>
        </p:nvSpPr>
        <p:spPr>
          <a:xfrm>
            <a:off x="685799" y="5571198"/>
            <a:ext cx="10835633" cy="439592"/>
          </a:xfrm>
          <a:prstGeom prst="roundRect">
            <a:avLst/>
          </a:prstGeom>
          <a:solidFill>
            <a:srgbClr val="1E2736">
              <a:alpha val="15000"/>
            </a:srgbClr>
          </a:solidFill>
          <a:ln w="6350">
            <a:solidFill>
              <a:srgbClr val="1E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799" y="762511"/>
            <a:ext cx="10972800" cy="53309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Modern Practice Management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19700" y="4480117"/>
            <a:ext cx="2286000" cy="14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25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THE </a:t>
            </a:r>
            <a:r>
              <a:rPr kumimoji="0" lang="en-US" sz="900" b="1" i="0" u="none" strike="noStrike" kern="1200" cap="none" spc="25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DATA LAYER</a:t>
            </a:r>
            <a:endParaRPr kumimoji="0" sz="900" b="1" i="0" u="none" strike="noStrike" kern="1200" cap="none" spc="250" normalizeH="0" baseline="0" noProof="0" dirty="0">
              <a:ln>
                <a:noFill/>
              </a:ln>
              <a:solidFill>
                <a:srgbClr val="31C48D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219700" y="4681285"/>
            <a:ext cx="3200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Unified Data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06240" y="4636008"/>
            <a:ext cx="7162495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Golden Record  ·  Entity Resolution  ·  Growth Signals  ·  Risk Alerts  ·  Full Audit Trail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" y="5472624"/>
            <a:ext cx="7315200" cy="1470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1" i="0" u="none" strike="noStrike" kern="1200" cap="none" spc="25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ECOSYSTEM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22553" y="5692583"/>
            <a:ext cx="2362123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Asset Managers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1482" y="5692583"/>
            <a:ext cx="2362123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Wealthtechs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06612" y="5692583"/>
            <a:ext cx="2362123" cy="1960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Capital Providers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457200" y="6384009"/>
            <a:ext cx="11277295" cy="0"/>
          </a:xfrm>
          <a:prstGeom prst="line">
            <a:avLst/>
          </a:prstGeom>
          <a:ln w="6350">
            <a:solidFill>
              <a:srgbClr val="37415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17">
            <a:extLst>
              <a:ext uri="{FF2B5EF4-FFF2-40B4-BE49-F238E27FC236}">
                <a16:creationId xmlns:a16="http://schemas.microsoft.com/office/drawing/2014/main" id="{9EB7FB62-5A68-6BCA-91C7-822D7CE8B2AC}"/>
              </a:ext>
            </a:extLst>
          </p:cNvPr>
          <p:cNvCxnSpPr>
            <a:cxnSpLocks/>
          </p:cNvCxnSpPr>
          <p:nvPr/>
        </p:nvCxnSpPr>
        <p:spPr>
          <a:xfrm>
            <a:off x="3321244" y="5056631"/>
            <a:ext cx="0" cy="370591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18">
            <a:extLst>
              <a:ext uri="{FF2B5EF4-FFF2-40B4-BE49-F238E27FC236}">
                <a16:creationId xmlns:a16="http://schemas.microsoft.com/office/drawing/2014/main" id="{4237F63F-D8ED-C25D-6407-77C30E1FBF15}"/>
              </a:ext>
            </a:extLst>
          </p:cNvPr>
          <p:cNvCxnSpPr/>
          <p:nvPr/>
        </p:nvCxnSpPr>
        <p:spPr>
          <a:xfrm>
            <a:off x="3321244" y="5427222"/>
            <a:ext cx="5573268" cy="0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19">
            <a:extLst>
              <a:ext uri="{FF2B5EF4-FFF2-40B4-BE49-F238E27FC236}">
                <a16:creationId xmlns:a16="http://schemas.microsoft.com/office/drawing/2014/main" id="{44625C32-7A84-9341-D8B7-7800A3CBF89E}"/>
              </a:ext>
            </a:extLst>
          </p:cNvPr>
          <p:cNvCxnSpPr>
            <a:cxnSpLocks/>
          </p:cNvCxnSpPr>
          <p:nvPr/>
        </p:nvCxnSpPr>
        <p:spPr>
          <a:xfrm>
            <a:off x="8894512" y="5047488"/>
            <a:ext cx="0" cy="379734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20">
            <a:extLst>
              <a:ext uri="{FF2B5EF4-FFF2-40B4-BE49-F238E27FC236}">
                <a16:creationId xmlns:a16="http://schemas.microsoft.com/office/drawing/2014/main" id="{6C6DFD45-EE65-8996-1096-2B028723C9BE}"/>
              </a:ext>
            </a:extLst>
          </p:cNvPr>
          <p:cNvCxnSpPr>
            <a:cxnSpLocks/>
          </p:cNvCxnSpPr>
          <p:nvPr/>
        </p:nvCxnSpPr>
        <p:spPr>
          <a:xfrm>
            <a:off x="6107878" y="5427222"/>
            <a:ext cx="0" cy="137160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20">
            <a:extLst>
              <a:ext uri="{FF2B5EF4-FFF2-40B4-BE49-F238E27FC236}">
                <a16:creationId xmlns:a16="http://schemas.microsoft.com/office/drawing/2014/main" id="{6EFFA8FB-44C6-0631-8F47-C36980D9AFAE}"/>
              </a:ext>
            </a:extLst>
          </p:cNvPr>
          <p:cNvCxnSpPr>
            <a:cxnSpLocks/>
            <a:endCxn id="50" idx="0"/>
          </p:cNvCxnSpPr>
          <p:nvPr/>
        </p:nvCxnSpPr>
        <p:spPr>
          <a:xfrm>
            <a:off x="6095846" y="4228100"/>
            <a:ext cx="1" cy="155975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17">
            <a:extLst>
              <a:ext uri="{FF2B5EF4-FFF2-40B4-BE49-F238E27FC236}">
                <a16:creationId xmlns:a16="http://schemas.microsoft.com/office/drawing/2014/main" id="{975106C1-B2E5-EA0A-B3EC-CECA3590764D}"/>
              </a:ext>
            </a:extLst>
          </p:cNvPr>
          <p:cNvCxnSpPr>
            <a:cxnSpLocks/>
          </p:cNvCxnSpPr>
          <p:nvPr/>
        </p:nvCxnSpPr>
        <p:spPr>
          <a:xfrm>
            <a:off x="3273399" y="3800135"/>
            <a:ext cx="0" cy="210849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19">
            <a:extLst>
              <a:ext uri="{FF2B5EF4-FFF2-40B4-BE49-F238E27FC236}">
                <a16:creationId xmlns:a16="http://schemas.microsoft.com/office/drawing/2014/main" id="{CCA6E1CA-4442-EE93-512B-37F38D3CEF89}"/>
              </a:ext>
            </a:extLst>
          </p:cNvPr>
          <p:cNvCxnSpPr>
            <a:cxnSpLocks/>
          </p:cNvCxnSpPr>
          <p:nvPr/>
        </p:nvCxnSpPr>
        <p:spPr>
          <a:xfrm>
            <a:off x="8846667" y="3756187"/>
            <a:ext cx="0" cy="254797"/>
          </a:xfrm>
          <a:prstGeom prst="line">
            <a:avLst/>
          </a:prstGeom>
          <a:ln w="19050">
            <a:solidFill>
              <a:srgbClr val="00C47D">
                <a:alpha val="20000"/>
              </a:srgb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85F1912A-7BBA-5EE6-E832-CF864D37EDB9}"/>
              </a:ext>
            </a:extLst>
          </p:cNvPr>
          <p:cNvSpPr/>
          <p:nvPr/>
        </p:nvSpPr>
        <p:spPr>
          <a:xfrm>
            <a:off x="4900028" y="3756187"/>
            <a:ext cx="2320010" cy="482636"/>
          </a:xfrm>
          <a:prstGeom prst="roundRect">
            <a:avLst/>
          </a:prstGeom>
          <a:solidFill>
            <a:srgbClr val="1E2736"/>
          </a:solidFill>
          <a:ln w="6350">
            <a:solidFill>
              <a:srgbClr val="1E27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971652" y="3924297"/>
            <a:ext cx="2248386" cy="1389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50" b="1" i="0" u="none" strike="noStrike" kern="1200" cap="none" spc="3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INTELLIGENCE ENABLED</a:t>
            </a:r>
          </a:p>
        </p:txBody>
      </p:sp>
      <p:pic>
        <p:nvPicPr>
          <p:cNvPr id="84" name="Picture 83">
            <a:extLst>
              <a:ext uri="{FF2B5EF4-FFF2-40B4-BE49-F238E27FC236}">
                <a16:creationId xmlns:a16="http://schemas.microsoft.com/office/drawing/2014/main" id="{360DCA4B-9AB5-00E9-56F1-D312D6DE62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4336" y="2128249"/>
            <a:ext cx="3001995" cy="1688622"/>
          </a:xfrm>
          <a:prstGeom prst="roundRect">
            <a:avLst/>
          </a:prstGeom>
        </p:spPr>
      </p:pic>
      <p:pic>
        <p:nvPicPr>
          <p:cNvPr id="87" name="Picture 86">
            <a:extLst>
              <a:ext uri="{FF2B5EF4-FFF2-40B4-BE49-F238E27FC236}">
                <a16:creationId xmlns:a16="http://schemas.microsoft.com/office/drawing/2014/main" id="{EE8B0D0B-083E-C1AE-FD38-B507AC9BB22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5671" y="2119931"/>
            <a:ext cx="2999170" cy="1678592"/>
          </a:xfrm>
          <a:prstGeom prst="roundRect">
            <a:avLst/>
          </a:prstGeom>
        </p:spPr>
      </p:pic>
      <p:sp>
        <p:nvSpPr>
          <p:cNvPr id="93" name="TextBox 92">
            <a:extLst>
              <a:ext uri="{FF2B5EF4-FFF2-40B4-BE49-F238E27FC236}">
                <a16:creationId xmlns:a16="http://schemas.microsoft.com/office/drawing/2014/main" id="{A5AE22F5-408F-52AC-05CA-773EC46BACA8}"/>
              </a:ext>
            </a:extLst>
          </p:cNvPr>
          <p:cNvSpPr txBox="1"/>
          <p:nvPr/>
        </p:nvSpPr>
        <p:spPr>
          <a:xfrm>
            <a:off x="2498733" y="1743291"/>
            <a:ext cx="1464139" cy="294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Advice</a:t>
            </a:r>
            <a:endParaRPr kumimoji="0" sz="1800" b="1" i="0" u="none" strike="noStrike" kern="1200" cap="none" spc="300" normalizeH="0" baseline="0" noProof="0" dirty="0">
              <a:ln>
                <a:noFill/>
              </a:ln>
              <a:solidFill>
                <a:srgbClr val="31C48D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85D8B61-7B95-AB1E-8D50-8313D4E83FAC}"/>
              </a:ext>
            </a:extLst>
          </p:cNvPr>
          <p:cNvSpPr txBox="1"/>
          <p:nvPr/>
        </p:nvSpPr>
        <p:spPr>
          <a:xfrm>
            <a:off x="8101584" y="1729043"/>
            <a:ext cx="1464139" cy="2941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300" normalizeH="0" baseline="0" noProof="0" dirty="0">
                <a:ln>
                  <a:noFill/>
                </a:ln>
                <a:solidFill>
                  <a:srgbClr val="31C48D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Business</a:t>
            </a:r>
            <a:endParaRPr kumimoji="0" sz="1800" b="1" i="0" u="none" strike="noStrike" kern="1200" cap="none" spc="300" normalizeH="0" baseline="0" noProof="0" dirty="0">
              <a:ln>
                <a:noFill/>
              </a:ln>
              <a:solidFill>
                <a:srgbClr val="31C48D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DD082D-97E2-F8E1-928F-568F7D76DFFC}"/>
              </a:ext>
            </a:extLst>
          </p:cNvPr>
          <p:cNvSpPr txBox="1"/>
          <p:nvPr/>
        </p:nvSpPr>
        <p:spPr>
          <a:xfrm>
            <a:off x="457200" y="6565392"/>
            <a:ext cx="7315200" cy="1249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750" b="0" i="0" u="none" strike="noStrike" kern="1200" cap="none" spc="200" normalizeH="0" baseline="0" noProof="0" dirty="0">
                <a:ln>
                  <a:noFill/>
                </a:ln>
                <a:solidFill>
                  <a:srgbClr val="6B7280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FIELD WEALTH INTELLIGENCE  ·  CONFIDENTIAL</a:t>
            </a:r>
          </a:p>
        </p:txBody>
      </p:sp>
      <p:pic>
        <p:nvPicPr>
          <p:cNvPr id="3" name="Picture 2" descr="white-logo.png">
            <a:extLst>
              <a:ext uri="{FF2B5EF4-FFF2-40B4-BE49-F238E27FC236}">
                <a16:creationId xmlns:a16="http://schemas.microsoft.com/office/drawing/2014/main" id="{4D659308-9A92-844C-DBE2-9E56E8F44E6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6669" y="4482985"/>
            <a:ext cx="1052162" cy="4239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609600" y="560832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$1M+ Invested in the Data. Still Flying Blind.</a:t>
            </a:r>
            <a:endParaRPr lang="en-US" sz="3200" dirty="0"/>
          </a:p>
        </p:txBody>
      </p:sp>
      <p:sp>
        <p:nvSpPr>
          <p:cNvPr id="900" name="Subtitle"/>
          <p:cNvSpPr/>
          <p:nvPr/>
        </p:nvSpPr>
        <p:spPr>
          <a:xfrm>
            <a:off x="609600" y="122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median asset manager subscribes to 6+ data packs and still can’t act on what they buy.</a:t>
            </a: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169664" y="1733384"/>
            <a:ext cx="0" cy="3779520"/>
          </a:xfrm>
          <a:prstGeom prst="line">
            <a:avLst/>
          </a:prstGeom>
          <a:noFill/>
          <a:ln w="12700">
            <a:solidFill>
              <a:srgbClr val="2A354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8071104" y="1733384"/>
            <a:ext cx="0" cy="3779520"/>
          </a:xfrm>
          <a:prstGeom prst="line">
            <a:avLst/>
          </a:prstGeom>
          <a:noFill/>
          <a:ln w="12700">
            <a:solidFill>
              <a:srgbClr val="2A354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33984" y="1843112"/>
            <a:ext cx="3352800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4B5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INVESTMENT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33984" y="2135720"/>
            <a:ext cx="3352800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6+</a:t>
            </a:r>
            <a:endParaRPr lang="en-US" sz="9600" dirty="0">
              <a:solidFill>
                <a:srgbClr val="E34F4F"/>
              </a:solidFill>
            </a:endParaRPr>
          </a:p>
        </p:txBody>
      </p:sp>
      <p:sp>
        <p:nvSpPr>
          <p:cNvPr id="10" name="Text 8"/>
          <p:cNvSpPr/>
          <p:nvPr/>
        </p:nvSpPr>
        <p:spPr>
          <a:xfrm>
            <a:off x="633984" y="3574376"/>
            <a:ext cx="335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packs subscribed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33984" y="4160000"/>
            <a:ext cx="3352800" cy="1145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median asset manager. Rarely operationalized.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389120" y="1843112"/>
            <a:ext cx="351129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4B5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CAPACITY GAP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389120" y="2135720"/>
            <a:ext cx="3511296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6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60%</a:t>
            </a:r>
            <a:endParaRPr lang="en-US" sz="9600" dirty="0">
              <a:solidFill>
                <a:srgbClr val="E34F4F"/>
              </a:solidFill>
            </a:endParaRPr>
          </a:p>
        </p:txBody>
      </p:sp>
      <p:sp>
        <p:nvSpPr>
          <p:cNvPr id="14" name="Text 12"/>
          <p:cNvSpPr/>
          <p:nvPr/>
        </p:nvSpPr>
        <p:spPr>
          <a:xfrm>
            <a:off x="4389120" y="3574376"/>
            <a:ext cx="35112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Spent cleaning data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389120" y="4160000"/>
            <a:ext cx="3511296" cy="1145640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t"/>
          <a:lstStyle/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8899AA"/>
                </a:solidFill>
                <a:latin typeface="Inter"/>
                <a:ea typeface="Inter"/>
                <a:cs typeface="Inter" pitchFamily="34" charset="-120"/>
              </a:rPr>
              <a:t>Most of it goes to their own sales and AUM numbers, leaving little to no capacity for the data packs they’ve invested in.</a:t>
            </a:r>
            <a:endParaRPr lang="en-US" sz="1100" dirty="0">
              <a:latin typeface="Inter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193024" y="1843112"/>
            <a:ext cx="3389376" cy="243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00" b="1" kern="0" spc="400" dirty="0">
                <a:solidFill>
                  <a:srgbClr val="4B5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RESULT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93024" y="2135720"/>
            <a:ext cx="3389376" cy="1365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933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86%</a:t>
            </a:r>
            <a:endParaRPr lang="en-US" sz="6933" dirty="0">
              <a:solidFill>
                <a:srgbClr val="E34F4F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8193024" y="3574376"/>
            <a:ext cx="338937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use the data they buy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8193024" y="4160000"/>
            <a:ext cx="3389376" cy="1145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lnSpc>
                <a:spcPct val="145000"/>
              </a:lnSpc>
            </a:pPr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precision on advisor quality, territory plans run on guesswork, and competitive moves surface months late.</a:t>
            </a:r>
            <a:endParaRPr lang="en-US" sz="1100" dirty="0"/>
          </a:p>
        </p:txBody>
      </p:sp>
      <p:sp>
        <p:nvSpPr>
          <p:cNvPr id="2" name="Text 9">
            <a:extLst>
              <a:ext uri="{FF2B5EF4-FFF2-40B4-BE49-F238E27FC236}">
                <a16:creationId xmlns:a16="http://schemas.microsoft.com/office/drawing/2014/main" id="{D356A5AA-D75E-808D-259E-4C3156CFD890}"/>
              </a:ext>
            </a:extLst>
          </p:cNvPr>
          <p:cNvSpPr/>
          <p:nvPr/>
        </p:nvSpPr>
        <p:spPr>
          <a:xfrm>
            <a:off x="609600" y="6164908"/>
            <a:ext cx="9753600" cy="633984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>
              <a:lnSpc>
                <a:spcPct val="145000"/>
              </a:lnSpc>
            </a:pPr>
            <a:r>
              <a:rPr lang="en-US" sz="1067" dirty="0">
                <a:solidFill>
                  <a:srgbClr val="8899AA"/>
                </a:solidFill>
                <a:latin typeface="Inter"/>
                <a:ea typeface="Inter"/>
                <a:cs typeface="Inter" pitchFamily="34" charset="-120"/>
              </a:rPr>
              <a:t>Source: Ignites, Data Packs: Bigger Bites for Smaller Managers? 05_28_25. Data team capacity: Field Distribution Intelligence whitepaper, 2026, citing dbt Labs &amp; O’Reilly, "Structured for Intelligence," 2026.</a:t>
            </a:r>
            <a:endParaRPr lang="en-US" sz="1067" dirty="0">
              <a:latin typeface="Inter"/>
              <a:ea typeface="Inter"/>
            </a:endParaRPr>
          </a:p>
        </p:txBody>
      </p:sp>
      <p:sp>
        <p:nvSpPr>
          <p:cNvPr id="20" name="Shape 4">
            <a:extLst>
              <a:ext uri="{FF2B5EF4-FFF2-40B4-BE49-F238E27FC236}">
                <a16:creationId xmlns:a16="http://schemas.microsoft.com/office/drawing/2014/main" id="{A823623A-4392-0E4D-FD2E-C2C02B123DEF}"/>
              </a:ext>
            </a:extLst>
          </p:cNvPr>
          <p:cNvSpPr/>
          <p:nvPr/>
        </p:nvSpPr>
        <p:spPr>
          <a:xfrm>
            <a:off x="785603" y="6124779"/>
            <a:ext cx="10796797" cy="0"/>
          </a:xfrm>
          <a:prstGeom prst="line">
            <a:avLst/>
          </a:prstGeom>
          <a:noFill/>
          <a:ln w="12700">
            <a:solidFill>
              <a:srgbClr val="2A3547"/>
            </a:solidFill>
            <a:prstDash val="solid"/>
          </a:ln>
        </p:spPr>
        <p:txBody>
          <a:bodyPr/>
          <a:lstStyle/>
          <a:p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2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Pressure to Adopt AI Is Real and Accelerating</a:t>
            </a:r>
            <a:endParaRPr lang="en-US" dirty="0"/>
          </a:p>
        </p:txBody>
      </p:sp>
      <p:sp>
        <p:nvSpPr>
          <p:cNvPr id="128" name="Text"/>
          <p:cNvSpPr/>
          <p:nvPr/>
        </p:nvSpPr>
        <p:spPr>
          <a:xfrm>
            <a:off x="609600" y="1130000"/>
            <a:ext cx="109728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the accelerant, not the architecture. The data underneath it is the problem, and that is why so many projects fail.</a:t>
            </a:r>
            <a:endParaRPr lang="en-US" dirty="0"/>
          </a:p>
        </p:txBody>
      </p:sp>
      <p:sp>
        <p:nvSpPr>
          <p:cNvPr id="129" name="Text"/>
          <p:cNvSpPr/>
          <p:nvPr/>
        </p:nvSpPr>
        <p:spPr>
          <a:xfrm>
            <a:off x="609600" y="2150000"/>
            <a:ext cx="33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FAILURE RATE</a:t>
            </a:r>
            <a:endParaRPr lang="en-US" dirty="0"/>
          </a:p>
        </p:txBody>
      </p:sp>
      <p:sp>
        <p:nvSpPr>
          <p:cNvPr id="130" name="Text"/>
          <p:cNvSpPr/>
          <p:nvPr/>
        </p:nvSpPr>
        <p:spPr>
          <a:xfrm>
            <a:off x="609600" y="2500000"/>
            <a:ext cx="335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80%+</a:t>
            </a:r>
            <a:endParaRPr lang="en-US" dirty="0"/>
          </a:p>
        </p:txBody>
      </p:sp>
      <p:sp>
        <p:nvSpPr>
          <p:cNvPr id="131" name="Text"/>
          <p:cNvSpPr/>
          <p:nvPr/>
        </p:nvSpPr>
        <p:spPr>
          <a:xfrm>
            <a:off x="609600" y="3700000"/>
            <a:ext cx="335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AI projects do not succeed</a:t>
            </a:r>
            <a:endParaRPr lang="en-US" dirty="0"/>
          </a:p>
        </p:txBody>
      </p:sp>
      <p:sp>
        <p:nvSpPr>
          <p:cNvPr id="132" name="Text"/>
          <p:cNvSpPr/>
          <p:nvPr/>
        </p:nvSpPr>
        <p:spPr>
          <a:xfrm>
            <a:off x="609600" y="4450000"/>
            <a:ext cx="335000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Nearly double the failure rate of traditional IT projects. The root cause is almost always bad data.</a:t>
            </a:r>
            <a:endParaRPr lang="en-US" dirty="0"/>
          </a:p>
        </p:txBody>
      </p:sp>
      <p:sp>
        <p:nvSpPr>
          <p:cNvPr id="133" name="Text"/>
          <p:cNvSpPr/>
          <p:nvPr/>
        </p:nvSpPr>
        <p:spPr>
          <a:xfrm>
            <a:off x="4420400" y="2150000"/>
            <a:ext cx="33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COST</a:t>
            </a:r>
            <a:endParaRPr lang="en-US" dirty="0"/>
          </a:p>
        </p:txBody>
      </p:sp>
      <p:sp>
        <p:nvSpPr>
          <p:cNvPr id="134" name="Text"/>
          <p:cNvSpPr/>
          <p:nvPr/>
        </p:nvSpPr>
        <p:spPr>
          <a:xfrm>
            <a:off x="4420400" y="2500000"/>
            <a:ext cx="335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$12.9M</a:t>
            </a:r>
            <a:endParaRPr lang="en-US" dirty="0"/>
          </a:p>
        </p:txBody>
      </p:sp>
      <p:sp>
        <p:nvSpPr>
          <p:cNvPr id="135" name="Text"/>
          <p:cNvSpPr/>
          <p:nvPr/>
        </p:nvSpPr>
        <p:spPr>
          <a:xfrm>
            <a:off x="4420400" y="3700000"/>
            <a:ext cx="335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average annual cost of poor data quality</a:t>
            </a:r>
            <a:endParaRPr lang="en-US" dirty="0"/>
          </a:p>
        </p:txBody>
      </p:sp>
      <p:sp>
        <p:nvSpPr>
          <p:cNvPr id="136" name="Text"/>
          <p:cNvSpPr/>
          <p:nvPr/>
        </p:nvSpPr>
        <p:spPr>
          <a:xfrm>
            <a:off x="4420400" y="4450000"/>
            <a:ext cx="335000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 organization, per Gartner. Some firms lose up to 6% of annual revenue to flawed AI outputs.</a:t>
            </a:r>
            <a:endParaRPr lang="en-US" dirty="0"/>
          </a:p>
        </p:txBody>
      </p:sp>
      <p:sp>
        <p:nvSpPr>
          <p:cNvPr id="137" name="Text"/>
          <p:cNvSpPr/>
          <p:nvPr/>
        </p:nvSpPr>
        <p:spPr>
          <a:xfrm>
            <a:off x="8231200" y="2150000"/>
            <a:ext cx="33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CANCELLATIONS</a:t>
            </a:r>
            <a:endParaRPr lang="en-US" dirty="0"/>
          </a:p>
        </p:txBody>
      </p:sp>
      <p:sp>
        <p:nvSpPr>
          <p:cNvPr id="138" name="Text"/>
          <p:cNvSpPr/>
          <p:nvPr/>
        </p:nvSpPr>
        <p:spPr>
          <a:xfrm>
            <a:off x="8231200" y="2500000"/>
            <a:ext cx="3350000" cy="11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60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40%+</a:t>
            </a:r>
            <a:endParaRPr lang="en-US" dirty="0"/>
          </a:p>
        </p:txBody>
      </p:sp>
      <p:sp>
        <p:nvSpPr>
          <p:cNvPr id="139" name="Text"/>
          <p:cNvSpPr/>
          <p:nvPr/>
        </p:nvSpPr>
        <p:spPr>
          <a:xfrm>
            <a:off x="8231200" y="3700000"/>
            <a:ext cx="335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 agentic AI projects canceled by end of 2027</a:t>
            </a:r>
            <a:endParaRPr lang="en-US" dirty="0"/>
          </a:p>
        </p:txBody>
      </p:sp>
      <p:sp>
        <p:nvSpPr>
          <p:cNvPr id="140" name="Text"/>
          <p:cNvSpPr/>
          <p:nvPr/>
        </p:nvSpPr>
        <p:spPr>
          <a:xfrm>
            <a:off x="8231200" y="4450000"/>
            <a:ext cx="3350000" cy="9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cites high costs, weak risk controls, and unclear objectives. All are data foundation problems first.</a:t>
            </a:r>
            <a:endParaRPr lang="en-US" dirty="0"/>
          </a:p>
        </p:txBody>
      </p:sp>
      <p:sp>
        <p:nvSpPr>
          <p:cNvPr id="141" name="Card"/>
          <p:cNvSpPr/>
          <p:nvPr/>
        </p:nvSpPr>
        <p:spPr>
          <a:xfrm>
            <a:off x="609600" y="5600000"/>
            <a:ext cx="10972800" cy="70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2" name="Text"/>
          <p:cNvSpPr/>
          <p:nvPr/>
        </p:nvSpPr>
        <p:spPr>
          <a:xfrm>
            <a:off x="809600" y="5600000"/>
            <a:ext cx="10572800" cy="7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only as good as the data underneath it. </a:t>
            </a:r>
            <a:r>
              <a:rPr lang="en-US" sz="1400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delivers that foundation on day one.</a:t>
            </a:r>
            <a:endParaRPr lang="en-US" dirty="0"/>
          </a:p>
        </p:txBody>
      </p:sp>
      <p:sp>
        <p:nvSpPr>
          <p:cNvPr id="143" name="Text"/>
          <p:cNvSpPr/>
          <p:nvPr/>
        </p:nvSpPr>
        <p:spPr>
          <a:xfrm>
            <a:off x="609600" y="6450000"/>
            <a:ext cx="109728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9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Source: Structured for Intelligence, O’Reilly Media and dbt Labs, 2026. Gartner research as cited.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Card 26">
            <a:extLst>
              <a:ext uri="{FF2B5EF4-FFF2-40B4-BE49-F238E27FC236}">
                <a16:creationId xmlns:a16="http://schemas.microsoft.com/office/drawing/2014/main" id="{ADD40131-AF7B-E452-0B93-2B6447774118}"/>
              </a:ext>
            </a:extLst>
          </p:cNvPr>
          <p:cNvSpPr/>
          <p:nvPr/>
        </p:nvSpPr>
        <p:spPr>
          <a:xfrm>
            <a:off x="5180879" y="2331634"/>
            <a:ext cx="1842907" cy="301217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9" name="Card 26">
            <a:extLst>
              <a:ext uri="{FF2B5EF4-FFF2-40B4-BE49-F238E27FC236}">
                <a16:creationId xmlns:a16="http://schemas.microsoft.com/office/drawing/2014/main" id="{F4B39A58-0C28-6C48-9EA0-65E7ADCB1C30}"/>
              </a:ext>
            </a:extLst>
          </p:cNvPr>
          <p:cNvSpPr/>
          <p:nvPr/>
        </p:nvSpPr>
        <p:spPr>
          <a:xfrm>
            <a:off x="5522092" y="4468179"/>
            <a:ext cx="1089152" cy="435346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7" name="Card 26">
            <a:extLst>
              <a:ext uri="{FF2B5EF4-FFF2-40B4-BE49-F238E27FC236}">
                <a16:creationId xmlns:a16="http://schemas.microsoft.com/office/drawing/2014/main" id="{C9859590-6F9B-ABFB-141B-77053AB2F922}"/>
              </a:ext>
            </a:extLst>
          </p:cNvPr>
          <p:cNvSpPr/>
          <p:nvPr/>
        </p:nvSpPr>
        <p:spPr>
          <a:xfrm>
            <a:off x="736494" y="5632141"/>
            <a:ext cx="415214" cy="39381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Card 26">
            <a:extLst>
              <a:ext uri="{FF2B5EF4-FFF2-40B4-BE49-F238E27FC236}">
                <a16:creationId xmlns:a16="http://schemas.microsoft.com/office/drawing/2014/main" id="{9803386F-EB0D-2C53-A676-B9C1770BB36B}"/>
              </a:ext>
            </a:extLst>
          </p:cNvPr>
          <p:cNvSpPr/>
          <p:nvPr/>
        </p:nvSpPr>
        <p:spPr>
          <a:xfrm>
            <a:off x="609600" y="3441025"/>
            <a:ext cx="2865119" cy="79339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" name="Card 26">
            <a:extLst>
              <a:ext uri="{FF2B5EF4-FFF2-40B4-BE49-F238E27FC236}">
                <a16:creationId xmlns:a16="http://schemas.microsoft.com/office/drawing/2014/main" id="{D1FD8F1E-D28E-7318-E1DF-7CF8096B2F14}"/>
              </a:ext>
            </a:extLst>
          </p:cNvPr>
          <p:cNvSpPr/>
          <p:nvPr/>
        </p:nvSpPr>
        <p:spPr>
          <a:xfrm>
            <a:off x="731833" y="3636581"/>
            <a:ext cx="415214" cy="39381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" name="Card 26">
            <a:extLst>
              <a:ext uri="{FF2B5EF4-FFF2-40B4-BE49-F238E27FC236}">
                <a16:creationId xmlns:a16="http://schemas.microsoft.com/office/drawing/2014/main" id="{51CDD3AF-A3C3-7FC8-B064-1B5769C88E0E}"/>
              </a:ext>
            </a:extLst>
          </p:cNvPr>
          <p:cNvSpPr/>
          <p:nvPr/>
        </p:nvSpPr>
        <p:spPr>
          <a:xfrm>
            <a:off x="621013" y="5423200"/>
            <a:ext cx="2865119" cy="79339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noFill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" name="Card 26">
            <a:extLst>
              <a:ext uri="{FF2B5EF4-FFF2-40B4-BE49-F238E27FC236}">
                <a16:creationId xmlns:a16="http://schemas.microsoft.com/office/drawing/2014/main" id="{E9C8D439-BD44-1B8F-D99D-2221215313A6}"/>
              </a:ext>
            </a:extLst>
          </p:cNvPr>
          <p:cNvSpPr/>
          <p:nvPr/>
        </p:nvSpPr>
        <p:spPr>
          <a:xfrm>
            <a:off x="728430" y="1660825"/>
            <a:ext cx="415214" cy="39381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8" name="Card 26">
            <a:extLst>
              <a:ext uri="{FF2B5EF4-FFF2-40B4-BE49-F238E27FC236}">
                <a16:creationId xmlns:a16="http://schemas.microsoft.com/office/drawing/2014/main" id="{FCF64D69-C5C0-2C3E-2D1A-27924016215F}"/>
              </a:ext>
            </a:extLst>
          </p:cNvPr>
          <p:cNvSpPr/>
          <p:nvPr/>
        </p:nvSpPr>
        <p:spPr>
          <a:xfrm>
            <a:off x="613062" y="4444211"/>
            <a:ext cx="2865119" cy="79339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Card 26">
            <a:extLst>
              <a:ext uri="{FF2B5EF4-FFF2-40B4-BE49-F238E27FC236}">
                <a16:creationId xmlns:a16="http://schemas.microsoft.com/office/drawing/2014/main" id="{CB0ABE8E-2FD1-7022-7BBB-835BD622D028}"/>
              </a:ext>
            </a:extLst>
          </p:cNvPr>
          <p:cNvSpPr/>
          <p:nvPr/>
        </p:nvSpPr>
        <p:spPr>
          <a:xfrm>
            <a:off x="621013" y="2438594"/>
            <a:ext cx="2865119" cy="79339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Card 26">
            <a:extLst>
              <a:ext uri="{FF2B5EF4-FFF2-40B4-BE49-F238E27FC236}">
                <a16:creationId xmlns:a16="http://schemas.microsoft.com/office/drawing/2014/main" id="{59AC84D7-CD41-3F16-E6E7-C36A30A22E99}"/>
              </a:ext>
            </a:extLst>
          </p:cNvPr>
          <p:cNvSpPr/>
          <p:nvPr/>
        </p:nvSpPr>
        <p:spPr>
          <a:xfrm>
            <a:off x="621013" y="1462281"/>
            <a:ext cx="2865119" cy="79339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09600" y="560832"/>
            <a:ext cx="10972800" cy="536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Intelligence Layer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30220" y="2709723"/>
            <a:ext cx="108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Normalize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5530220" y="3588951"/>
            <a:ext cx="108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Synthesize</a:t>
            </a:r>
            <a:endParaRPr lang="en-US" sz="1333" dirty="0"/>
          </a:p>
        </p:txBody>
      </p:sp>
      <p:sp>
        <p:nvSpPr>
          <p:cNvPr id="16" name="Text 14"/>
          <p:cNvSpPr/>
          <p:nvPr/>
        </p:nvSpPr>
        <p:spPr>
          <a:xfrm>
            <a:off x="5530220" y="4464612"/>
            <a:ext cx="10891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Activate</a:t>
            </a:r>
            <a:endParaRPr lang="en-US" sz="1333" dirty="0"/>
          </a:p>
        </p:txBody>
      </p: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8682358-7652-41F3-31FC-4D149A60C4C8}"/>
              </a:ext>
            </a:extLst>
          </p:cNvPr>
          <p:cNvGrpSpPr/>
          <p:nvPr/>
        </p:nvGrpSpPr>
        <p:grpSpPr>
          <a:xfrm>
            <a:off x="829544" y="1478280"/>
            <a:ext cx="2510285" cy="731520"/>
            <a:chOff x="622158" y="1108710"/>
            <a:chExt cx="1882714" cy="548640"/>
          </a:xfrm>
        </p:grpSpPr>
        <p:pic>
          <p:nvPicPr>
            <p:cNvPr id="23" name="Image 0" descr="preencoded.png"/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2158" y="1301100"/>
              <a:ext cx="163860" cy="163860"/>
            </a:xfrm>
            <a:prstGeom prst="rect">
              <a:avLst/>
            </a:prstGeom>
            <a:ln>
              <a:noFill/>
            </a:ln>
          </p:spPr>
        </p:pic>
        <p:sp>
          <p:nvSpPr>
            <p:cNvPr id="24" name="Text 21"/>
            <p:cNvSpPr/>
            <p:nvPr/>
          </p:nvSpPr>
          <p:spPr>
            <a:xfrm>
              <a:off x="950392" y="1108710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Wirehouse &amp; BD Data</a:t>
              </a:r>
              <a:endParaRPr lang="en-US" sz="1400" dirty="0"/>
            </a:p>
          </p:txBody>
        </p:sp>
      </p:grpSp>
      <p:grpSp>
        <p:nvGrpSpPr>
          <p:cNvPr id="117" name="Group 116">
            <a:extLst>
              <a:ext uri="{FF2B5EF4-FFF2-40B4-BE49-F238E27FC236}">
                <a16:creationId xmlns:a16="http://schemas.microsoft.com/office/drawing/2014/main" id="{3996543E-7294-1402-20D7-E7891BC44D66}"/>
              </a:ext>
            </a:extLst>
          </p:cNvPr>
          <p:cNvGrpSpPr/>
          <p:nvPr/>
        </p:nvGrpSpPr>
        <p:grpSpPr>
          <a:xfrm>
            <a:off x="8797781" y="1478280"/>
            <a:ext cx="2609088" cy="731520"/>
            <a:chOff x="6598336" y="1236726"/>
            <a:chExt cx="1956816" cy="548640"/>
          </a:xfrm>
        </p:grpSpPr>
        <p:sp>
          <p:nvSpPr>
            <p:cNvPr id="46" name="Shape 40"/>
            <p:cNvSpPr/>
            <p:nvPr/>
          </p:nvSpPr>
          <p:spPr>
            <a:xfrm>
              <a:off x="6598336" y="1364742"/>
              <a:ext cx="292608" cy="292608"/>
            </a:xfrm>
            <a:prstGeom prst="rect">
              <a:avLst/>
            </a:prstGeom>
            <a:solidFill>
              <a:srgbClr val="00C47D">
                <a:alpha val="16000"/>
              </a:srgbClr>
            </a:solidFill>
            <a:ln w="12700">
              <a:solidFill>
                <a:srgbClr val="00C47D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pic>
          <p:nvPicPr>
            <p:cNvPr id="47" name="Image 4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662710" y="1429116"/>
              <a:ext cx="163860" cy="163860"/>
            </a:xfrm>
            <a:prstGeom prst="rect">
              <a:avLst/>
            </a:prstGeom>
          </p:spPr>
        </p:pic>
        <p:sp>
          <p:nvSpPr>
            <p:cNvPr id="48" name="Text 41"/>
            <p:cNvSpPr/>
            <p:nvPr/>
          </p:nvSpPr>
          <p:spPr>
            <a:xfrm>
              <a:off x="7000672" y="1236726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FA Analytics Dashboard</a:t>
              </a:r>
              <a:endParaRPr lang="en-US" sz="1400" dirty="0"/>
            </a:p>
          </p:txBody>
        </p:sp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03BAD1E8-ED57-221F-B69D-6B21236D83FE}"/>
              </a:ext>
            </a:extLst>
          </p:cNvPr>
          <p:cNvGrpSpPr/>
          <p:nvPr/>
        </p:nvGrpSpPr>
        <p:grpSpPr>
          <a:xfrm>
            <a:off x="8797781" y="2472244"/>
            <a:ext cx="2609088" cy="731520"/>
            <a:chOff x="6598336" y="2023110"/>
            <a:chExt cx="1956816" cy="548640"/>
          </a:xfrm>
        </p:grpSpPr>
        <p:sp>
          <p:nvSpPr>
            <p:cNvPr id="51" name="Shape 44"/>
            <p:cNvSpPr/>
            <p:nvPr/>
          </p:nvSpPr>
          <p:spPr>
            <a:xfrm>
              <a:off x="6598336" y="2151126"/>
              <a:ext cx="292608" cy="292608"/>
            </a:xfrm>
            <a:prstGeom prst="rect">
              <a:avLst/>
            </a:prstGeom>
            <a:solidFill>
              <a:srgbClr val="00C47D">
                <a:alpha val="16000"/>
              </a:srgbClr>
            </a:solidFill>
            <a:ln w="12700">
              <a:solidFill>
                <a:srgbClr val="00C47D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pic>
          <p:nvPicPr>
            <p:cNvPr id="52" name="Image 5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662710" y="2215500"/>
              <a:ext cx="163860" cy="163860"/>
            </a:xfrm>
            <a:prstGeom prst="rect">
              <a:avLst/>
            </a:prstGeom>
          </p:spPr>
        </p:pic>
        <p:sp>
          <p:nvSpPr>
            <p:cNvPr id="53" name="Text 45"/>
            <p:cNvSpPr/>
            <p:nvPr/>
          </p:nvSpPr>
          <p:spPr>
            <a:xfrm>
              <a:off x="7000672" y="2023110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Territory Intelligence</a:t>
              </a:r>
              <a:endParaRPr lang="en-US" sz="1400" dirty="0"/>
            </a:p>
          </p:txBody>
        </p:sp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E4FC5933-EC28-55EF-91CA-8F4ED6439FAF}"/>
              </a:ext>
            </a:extLst>
          </p:cNvPr>
          <p:cNvGrpSpPr/>
          <p:nvPr/>
        </p:nvGrpSpPr>
        <p:grpSpPr>
          <a:xfrm>
            <a:off x="8789653" y="3463497"/>
            <a:ext cx="2609088" cy="731520"/>
            <a:chOff x="6598336" y="2809494"/>
            <a:chExt cx="1956816" cy="548640"/>
          </a:xfrm>
        </p:grpSpPr>
        <p:sp>
          <p:nvSpPr>
            <p:cNvPr id="56" name="Shape 48"/>
            <p:cNvSpPr/>
            <p:nvPr/>
          </p:nvSpPr>
          <p:spPr>
            <a:xfrm>
              <a:off x="6598336" y="2937510"/>
              <a:ext cx="292608" cy="292608"/>
            </a:xfrm>
            <a:prstGeom prst="rect">
              <a:avLst/>
            </a:prstGeom>
            <a:solidFill>
              <a:srgbClr val="00C47D">
                <a:alpha val="16000"/>
              </a:srgbClr>
            </a:solidFill>
            <a:ln w="12700">
              <a:solidFill>
                <a:srgbClr val="00C47D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pic>
          <p:nvPicPr>
            <p:cNvPr id="57" name="Image 6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662710" y="3001884"/>
              <a:ext cx="163860" cy="163860"/>
            </a:xfrm>
            <a:prstGeom prst="rect">
              <a:avLst/>
            </a:prstGeom>
          </p:spPr>
        </p:pic>
        <p:sp>
          <p:nvSpPr>
            <p:cNvPr id="58" name="Text 49"/>
            <p:cNvSpPr/>
            <p:nvPr/>
          </p:nvSpPr>
          <p:spPr>
            <a:xfrm>
              <a:off x="7000672" y="2809494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"Ask Field" AI Queries</a:t>
              </a:r>
              <a:endParaRPr lang="en-US" sz="1400" dirty="0"/>
            </a:p>
          </p:txBody>
        </p:sp>
      </p:grp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097B9966-1176-36E6-D967-EFBB98BE7B18}"/>
              </a:ext>
            </a:extLst>
          </p:cNvPr>
          <p:cNvGrpSpPr/>
          <p:nvPr/>
        </p:nvGrpSpPr>
        <p:grpSpPr>
          <a:xfrm>
            <a:off x="8797781" y="4460172"/>
            <a:ext cx="2609088" cy="731520"/>
            <a:chOff x="6598336" y="3595878"/>
            <a:chExt cx="1956816" cy="548640"/>
          </a:xfrm>
        </p:grpSpPr>
        <p:sp>
          <p:nvSpPr>
            <p:cNvPr id="61" name="Shape 52"/>
            <p:cNvSpPr/>
            <p:nvPr/>
          </p:nvSpPr>
          <p:spPr>
            <a:xfrm>
              <a:off x="6598336" y="3723894"/>
              <a:ext cx="292608" cy="292608"/>
            </a:xfrm>
            <a:prstGeom prst="rect">
              <a:avLst/>
            </a:prstGeom>
            <a:solidFill>
              <a:srgbClr val="00C47D">
                <a:alpha val="16000"/>
              </a:srgbClr>
            </a:solidFill>
            <a:ln w="12700">
              <a:solidFill>
                <a:srgbClr val="00C47D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pic>
          <p:nvPicPr>
            <p:cNvPr id="62" name="Image 7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662710" y="3788268"/>
              <a:ext cx="163860" cy="163860"/>
            </a:xfrm>
            <a:prstGeom prst="rect">
              <a:avLst/>
            </a:prstGeom>
          </p:spPr>
        </p:pic>
        <p:sp>
          <p:nvSpPr>
            <p:cNvPr id="63" name="Text 53"/>
            <p:cNvSpPr/>
            <p:nvPr/>
          </p:nvSpPr>
          <p:spPr>
            <a:xfrm>
              <a:off x="7000672" y="3595878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CRM Writeback API</a:t>
              </a:r>
              <a:endParaRPr lang="en-US" sz="1400" dirty="0"/>
            </a:p>
          </p:txBody>
        </p:sp>
      </p:grpSp>
      <p:sp>
        <p:nvSpPr>
          <p:cNvPr id="64" name="Text 54"/>
          <p:cNvSpPr/>
          <p:nvPr/>
        </p:nvSpPr>
        <p:spPr>
          <a:xfrm>
            <a:off x="560053" y="6385953"/>
            <a:ext cx="29260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200" dirty="0">
                <a:solidFill>
                  <a:srgbClr val="4B5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SOURCES</a:t>
            </a:r>
            <a:endParaRPr lang="en-US" sz="1067" dirty="0"/>
          </a:p>
        </p:txBody>
      </p:sp>
      <p:sp>
        <p:nvSpPr>
          <p:cNvPr id="65" name="Text 55"/>
          <p:cNvSpPr/>
          <p:nvPr/>
        </p:nvSpPr>
        <p:spPr>
          <a:xfrm>
            <a:off x="8656320" y="6385953"/>
            <a:ext cx="292608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67" b="1" kern="0" spc="200" dirty="0">
                <a:solidFill>
                  <a:srgbClr val="4B5E7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INTELLIGENCE OUTPUTS</a:t>
            </a:r>
            <a:endParaRPr lang="en-US" sz="1067" dirty="0"/>
          </a:p>
        </p:txBody>
      </p:sp>
      <p:cxnSp>
        <p:nvCxnSpPr>
          <p:cNvPr id="72" name="Curved Connector 71">
            <a:extLst>
              <a:ext uri="{FF2B5EF4-FFF2-40B4-BE49-F238E27FC236}">
                <a16:creationId xmlns:a16="http://schemas.microsoft.com/office/drawing/2014/main" id="{9776E51C-DD29-081B-8FB6-88AA49C99A6C}"/>
              </a:ext>
            </a:extLst>
          </p:cNvPr>
          <p:cNvCxnSpPr>
            <a:cxnSpLocks/>
          </p:cNvCxnSpPr>
          <p:nvPr/>
        </p:nvCxnSpPr>
        <p:spPr>
          <a:xfrm flipV="1">
            <a:off x="3486133" y="3829257"/>
            <a:ext cx="1673952" cy="996675"/>
          </a:xfrm>
          <a:prstGeom prst="curvedConnector3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urved Connector 72">
            <a:extLst>
              <a:ext uri="{FF2B5EF4-FFF2-40B4-BE49-F238E27FC236}">
                <a16:creationId xmlns:a16="http://schemas.microsoft.com/office/drawing/2014/main" id="{BCE60690-E4A4-4E1D-4388-6370853335EF}"/>
              </a:ext>
            </a:extLst>
          </p:cNvPr>
          <p:cNvCxnSpPr>
            <a:cxnSpLocks/>
            <a:stCxn id="7" idx="3"/>
          </p:cNvCxnSpPr>
          <p:nvPr/>
        </p:nvCxnSpPr>
        <p:spPr>
          <a:xfrm flipV="1">
            <a:off x="3474719" y="3829257"/>
            <a:ext cx="1685367" cy="8467"/>
          </a:xfrm>
          <a:prstGeom prst="curvedConnector3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urved Connector 75">
            <a:extLst>
              <a:ext uri="{FF2B5EF4-FFF2-40B4-BE49-F238E27FC236}">
                <a16:creationId xmlns:a16="http://schemas.microsoft.com/office/drawing/2014/main" id="{FF64C9DD-584E-069F-0611-A10C806E3A66}"/>
              </a:ext>
            </a:extLst>
          </p:cNvPr>
          <p:cNvCxnSpPr>
            <a:cxnSpLocks/>
          </p:cNvCxnSpPr>
          <p:nvPr/>
        </p:nvCxnSpPr>
        <p:spPr>
          <a:xfrm>
            <a:off x="3486133" y="2838004"/>
            <a:ext cx="1673952" cy="991253"/>
          </a:xfrm>
          <a:prstGeom prst="curvedConnector3">
            <a:avLst/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urved Connector 78">
            <a:extLst>
              <a:ext uri="{FF2B5EF4-FFF2-40B4-BE49-F238E27FC236}">
                <a16:creationId xmlns:a16="http://schemas.microsoft.com/office/drawing/2014/main" id="{0710D731-CCCB-8191-C37C-E7DD877CEA95}"/>
              </a:ext>
            </a:extLst>
          </p:cNvPr>
          <p:cNvCxnSpPr>
            <a:cxnSpLocks/>
          </p:cNvCxnSpPr>
          <p:nvPr/>
        </p:nvCxnSpPr>
        <p:spPr>
          <a:xfrm>
            <a:off x="3486133" y="1844041"/>
            <a:ext cx="1673952" cy="1985217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urved Connector 81">
            <a:extLst>
              <a:ext uri="{FF2B5EF4-FFF2-40B4-BE49-F238E27FC236}">
                <a16:creationId xmlns:a16="http://schemas.microsoft.com/office/drawing/2014/main" id="{B2E4F551-E38A-6180-C479-4806B1F7999F}"/>
              </a:ext>
            </a:extLst>
          </p:cNvPr>
          <p:cNvCxnSpPr>
            <a:cxnSpLocks/>
          </p:cNvCxnSpPr>
          <p:nvPr/>
        </p:nvCxnSpPr>
        <p:spPr>
          <a:xfrm>
            <a:off x="7031914" y="3829258"/>
            <a:ext cx="1587052" cy="16933"/>
          </a:xfrm>
          <a:prstGeom prst="curvedConnector3">
            <a:avLst>
              <a:gd name="adj1" fmla="val 50000"/>
            </a:avLst>
          </a:prstGeom>
          <a:ln>
            <a:solidFill>
              <a:srgbClr val="00C4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Curved Connector 82">
            <a:extLst>
              <a:ext uri="{FF2B5EF4-FFF2-40B4-BE49-F238E27FC236}">
                <a16:creationId xmlns:a16="http://schemas.microsoft.com/office/drawing/2014/main" id="{833DB83D-E979-F3B6-C2E6-E7B3BBF6A947}"/>
              </a:ext>
            </a:extLst>
          </p:cNvPr>
          <p:cNvCxnSpPr>
            <a:cxnSpLocks/>
          </p:cNvCxnSpPr>
          <p:nvPr/>
        </p:nvCxnSpPr>
        <p:spPr>
          <a:xfrm>
            <a:off x="7031914" y="3829257"/>
            <a:ext cx="1595180" cy="996675"/>
          </a:xfrm>
          <a:prstGeom prst="curvedConnector3">
            <a:avLst>
              <a:gd name="adj1" fmla="val 50000"/>
            </a:avLst>
          </a:prstGeom>
          <a:ln>
            <a:solidFill>
              <a:srgbClr val="00C4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urved Connector 87">
            <a:extLst>
              <a:ext uri="{FF2B5EF4-FFF2-40B4-BE49-F238E27FC236}">
                <a16:creationId xmlns:a16="http://schemas.microsoft.com/office/drawing/2014/main" id="{70F38858-BB5C-C49F-8CBB-0A02335E470F}"/>
              </a:ext>
            </a:extLst>
          </p:cNvPr>
          <p:cNvCxnSpPr>
            <a:cxnSpLocks/>
          </p:cNvCxnSpPr>
          <p:nvPr/>
        </p:nvCxnSpPr>
        <p:spPr>
          <a:xfrm flipV="1">
            <a:off x="7031914" y="2838004"/>
            <a:ext cx="1595180" cy="991253"/>
          </a:xfrm>
          <a:prstGeom prst="curvedConnector3">
            <a:avLst>
              <a:gd name="adj1" fmla="val 50000"/>
            </a:avLst>
          </a:prstGeom>
          <a:ln>
            <a:solidFill>
              <a:srgbClr val="00C4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Curved Connector 90">
            <a:extLst>
              <a:ext uri="{FF2B5EF4-FFF2-40B4-BE49-F238E27FC236}">
                <a16:creationId xmlns:a16="http://schemas.microsoft.com/office/drawing/2014/main" id="{A5DB3290-8715-60A1-6AA7-43090F04B6FD}"/>
              </a:ext>
            </a:extLst>
          </p:cNvPr>
          <p:cNvCxnSpPr>
            <a:cxnSpLocks/>
          </p:cNvCxnSpPr>
          <p:nvPr/>
        </p:nvCxnSpPr>
        <p:spPr>
          <a:xfrm flipV="1">
            <a:off x="7031914" y="1844041"/>
            <a:ext cx="1595180" cy="1985217"/>
          </a:xfrm>
          <a:prstGeom prst="curvedConnector3">
            <a:avLst>
              <a:gd name="adj1" fmla="val 50000"/>
            </a:avLst>
          </a:prstGeom>
          <a:ln>
            <a:solidFill>
              <a:srgbClr val="00C4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Text 36">
            <a:extLst>
              <a:ext uri="{FF2B5EF4-FFF2-40B4-BE49-F238E27FC236}">
                <a16:creationId xmlns:a16="http://schemas.microsoft.com/office/drawing/2014/main" id="{0095E17E-77B6-0CA3-BC73-595C5125BF20}"/>
              </a:ext>
            </a:extLst>
          </p:cNvPr>
          <p:cNvSpPr/>
          <p:nvPr/>
        </p:nvSpPr>
        <p:spPr>
          <a:xfrm>
            <a:off x="1267189" y="5454139"/>
            <a:ext cx="2072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            Network Data</a:t>
            </a:r>
            <a:endParaRPr lang="en-US" sz="1400" dirty="0"/>
          </a:p>
        </p:txBody>
      </p:sp>
      <p:cxnSp>
        <p:nvCxnSpPr>
          <p:cNvPr id="105" name="Curved Connector 104">
            <a:extLst>
              <a:ext uri="{FF2B5EF4-FFF2-40B4-BE49-F238E27FC236}">
                <a16:creationId xmlns:a16="http://schemas.microsoft.com/office/drawing/2014/main" id="{6FE0EF27-52B3-A600-C74E-2AE358ECF95B}"/>
              </a:ext>
            </a:extLst>
          </p:cNvPr>
          <p:cNvCxnSpPr>
            <a:cxnSpLocks/>
          </p:cNvCxnSpPr>
          <p:nvPr/>
        </p:nvCxnSpPr>
        <p:spPr>
          <a:xfrm flipV="1">
            <a:off x="3486133" y="3829258"/>
            <a:ext cx="1673952" cy="1990641"/>
          </a:xfrm>
          <a:prstGeom prst="curvedConnector3">
            <a:avLst>
              <a:gd name="adj1" fmla="val 50000"/>
            </a:avLst>
          </a:prstGeom>
          <a:ln>
            <a:solidFill>
              <a:schemeClr val="bg1">
                <a:lumMod val="8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ED3C74F-99F6-7199-000F-55D4D6F43618}"/>
              </a:ext>
            </a:extLst>
          </p:cNvPr>
          <p:cNvGrpSpPr/>
          <p:nvPr/>
        </p:nvGrpSpPr>
        <p:grpSpPr>
          <a:xfrm>
            <a:off x="8797781" y="5454139"/>
            <a:ext cx="2609088" cy="731520"/>
            <a:chOff x="6598336" y="3595878"/>
            <a:chExt cx="1956816" cy="548640"/>
          </a:xfrm>
        </p:grpSpPr>
        <p:sp>
          <p:nvSpPr>
            <p:cNvPr id="123" name="Shape 52">
              <a:extLst>
                <a:ext uri="{FF2B5EF4-FFF2-40B4-BE49-F238E27FC236}">
                  <a16:creationId xmlns:a16="http://schemas.microsoft.com/office/drawing/2014/main" id="{6BD38256-0141-D1F4-6E3E-30D737343F59}"/>
                </a:ext>
              </a:extLst>
            </p:cNvPr>
            <p:cNvSpPr/>
            <p:nvPr/>
          </p:nvSpPr>
          <p:spPr>
            <a:xfrm>
              <a:off x="6598336" y="3723894"/>
              <a:ext cx="292608" cy="292608"/>
            </a:xfrm>
            <a:prstGeom prst="rect">
              <a:avLst/>
            </a:prstGeom>
            <a:solidFill>
              <a:srgbClr val="00C47D">
                <a:alpha val="16000"/>
              </a:srgbClr>
            </a:solidFill>
            <a:ln w="12700">
              <a:solidFill>
                <a:srgbClr val="00C47D">
                  <a:alpha val="22000"/>
                </a:srgbClr>
              </a:solidFill>
              <a:prstDash val="solid"/>
            </a:ln>
          </p:spPr>
          <p:txBody>
            <a:bodyPr/>
            <a:lstStyle/>
            <a:p>
              <a:endParaRPr lang="en-US" sz="2400" dirty="0"/>
            </a:p>
          </p:txBody>
        </p:sp>
        <p:sp>
          <p:nvSpPr>
            <p:cNvPr id="125" name="Text 53">
              <a:extLst>
                <a:ext uri="{FF2B5EF4-FFF2-40B4-BE49-F238E27FC236}">
                  <a16:creationId xmlns:a16="http://schemas.microsoft.com/office/drawing/2014/main" id="{8A973C49-7F74-A38E-C53D-5F8E8A0B2ECE}"/>
                </a:ext>
              </a:extLst>
            </p:cNvPr>
            <p:cNvSpPr/>
            <p:nvPr/>
          </p:nvSpPr>
          <p:spPr>
            <a:xfrm>
              <a:off x="7000672" y="3595878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Semantic Layer</a:t>
              </a:r>
              <a:endParaRPr lang="en-US" sz="1400" dirty="0"/>
            </a:p>
          </p:txBody>
        </p:sp>
      </p:grpSp>
      <p:cxnSp>
        <p:nvCxnSpPr>
          <p:cNvPr id="126" name="Curved Connector 125">
            <a:extLst>
              <a:ext uri="{FF2B5EF4-FFF2-40B4-BE49-F238E27FC236}">
                <a16:creationId xmlns:a16="http://schemas.microsoft.com/office/drawing/2014/main" id="{9FE0203A-9010-DF50-73C4-302D3C2CE22F}"/>
              </a:ext>
            </a:extLst>
          </p:cNvPr>
          <p:cNvCxnSpPr>
            <a:cxnSpLocks/>
          </p:cNvCxnSpPr>
          <p:nvPr/>
        </p:nvCxnSpPr>
        <p:spPr>
          <a:xfrm>
            <a:off x="7031914" y="3829258"/>
            <a:ext cx="1595180" cy="1990641"/>
          </a:xfrm>
          <a:prstGeom prst="curvedConnector3">
            <a:avLst>
              <a:gd name="adj1" fmla="val 50000"/>
            </a:avLst>
          </a:prstGeom>
          <a:ln>
            <a:solidFill>
              <a:srgbClr val="00C4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5" name="Graphic 134" descr="Layers Design outline">
            <a:extLst>
              <a:ext uri="{FF2B5EF4-FFF2-40B4-BE49-F238E27FC236}">
                <a16:creationId xmlns:a16="http://schemas.microsoft.com/office/drawing/2014/main" id="{4F151EA0-1013-0A12-E083-F757AA7580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6703" y="5657662"/>
            <a:ext cx="325644" cy="325644"/>
          </a:xfrm>
          <a:prstGeom prst="rect">
            <a:avLst/>
          </a:prstGeom>
        </p:spPr>
      </p:pic>
      <p:pic>
        <p:nvPicPr>
          <p:cNvPr id="137" name="Graphic 136" descr="Magnifying glass outline">
            <a:extLst>
              <a:ext uri="{FF2B5EF4-FFF2-40B4-BE49-F238E27FC236}">
                <a16:creationId xmlns:a16="http://schemas.microsoft.com/office/drawing/2014/main" id="{5E8358AF-6E8D-3665-DB46-14E5BD12EA4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76547" y="5652291"/>
            <a:ext cx="318980" cy="318980"/>
          </a:xfrm>
          <a:prstGeom prst="rect">
            <a:avLst/>
          </a:prstGeom>
        </p:spPr>
      </p:pic>
      <p:sp>
        <p:nvSpPr>
          <p:cNvPr id="19" name="Card 26">
            <a:extLst>
              <a:ext uri="{FF2B5EF4-FFF2-40B4-BE49-F238E27FC236}">
                <a16:creationId xmlns:a16="http://schemas.microsoft.com/office/drawing/2014/main" id="{E217859D-A398-1D3E-7D4A-51CAFBC65F33}"/>
              </a:ext>
            </a:extLst>
          </p:cNvPr>
          <p:cNvSpPr/>
          <p:nvPr/>
        </p:nvSpPr>
        <p:spPr>
          <a:xfrm>
            <a:off x="736494" y="2642932"/>
            <a:ext cx="415214" cy="39381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9F4958CB-587D-6379-F3CB-5B771D792087}"/>
              </a:ext>
            </a:extLst>
          </p:cNvPr>
          <p:cNvGrpSpPr/>
          <p:nvPr/>
        </p:nvGrpSpPr>
        <p:grpSpPr>
          <a:xfrm>
            <a:off x="829544" y="2472244"/>
            <a:ext cx="2510285" cy="731520"/>
            <a:chOff x="622158" y="1895094"/>
            <a:chExt cx="1882714" cy="548640"/>
          </a:xfrm>
        </p:grpSpPr>
        <p:pic>
          <p:nvPicPr>
            <p:cNvPr id="29" name="Image 1" descr="preencoded.png"/>
            <p:cNvPicPr>
              <a:picLocks noChangeAspect="1"/>
            </p:cNvPicPr>
            <p:nvPr/>
          </p:nvPicPr>
          <p:blipFill>
            <a:blip r:embed="rId11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2158" y="2087484"/>
              <a:ext cx="163860" cy="163860"/>
            </a:xfrm>
            <a:prstGeom prst="rect">
              <a:avLst/>
            </a:prstGeom>
            <a:ln>
              <a:noFill/>
            </a:ln>
          </p:spPr>
        </p:pic>
        <p:sp>
          <p:nvSpPr>
            <p:cNvPr id="30" name="Text 26"/>
            <p:cNvSpPr/>
            <p:nvPr/>
          </p:nvSpPr>
          <p:spPr>
            <a:xfrm>
              <a:off x="950392" y="1895094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Consortium Packs</a:t>
              </a:r>
              <a:endParaRPr lang="en-US" sz="1400" dirty="0"/>
            </a:p>
          </p:txBody>
        </p:sp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2FCC511A-1F0A-E240-0D47-CD0C83957360}"/>
              </a:ext>
            </a:extLst>
          </p:cNvPr>
          <p:cNvGrpSpPr/>
          <p:nvPr/>
        </p:nvGrpSpPr>
        <p:grpSpPr>
          <a:xfrm>
            <a:off x="829544" y="3463497"/>
            <a:ext cx="2510285" cy="731520"/>
            <a:chOff x="622158" y="2681478"/>
            <a:chExt cx="1882714" cy="548640"/>
          </a:xfrm>
        </p:grpSpPr>
        <p:pic>
          <p:nvPicPr>
            <p:cNvPr id="35" name="Image 2" descr="preencoded.png"/>
            <p:cNvPicPr>
              <a:picLocks noChangeAspect="1"/>
            </p:cNvPicPr>
            <p:nvPr/>
          </p:nvPicPr>
          <p:blipFill>
            <a:blip r:embed="rId12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2158" y="2883596"/>
              <a:ext cx="163860" cy="163860"/>
            </a:xfrm>
            <a:prstGeom prst="rect">
              <a:avLst/>
            </a:prstGeom>
            <a:ln>
              <a:noFill/>
            </a:ln>
          </p:spPr>
        </p:pic>
        <p:sp>
          <p:nvSpPr>
            <p:cNvPr id="36" name="Text 31"/>
            <p:cNvSpPr/>
            <p:nvPr/>
          </p:nvSpPr>
          <p:spPr>
            <a:xfrm>
              <a:off x="950392" y="2681478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ADV · 13F · BrokerCheck</a:t>
              </a:r>
              <a:endParaRPr lang="en-US" sz="1400" dirty="0"/>
            </a:p>
          </p:txBody>
        </p:sp>
      </p:grpSp>
      <p:sp>
        <p:nvSpPr>
          <p:cNvPr id="31" name="Card 26">
            <a:extLst>
              <a:ext uri="{FF2B5EF4-FFF2-40B4-BE49-F238E27FC236}">
                <a16:creationId xmlns:a16="http://schemas.microsoft.com/office/drawing/2014/main" id="{058F7E6D-18D6-033D-23DD-C53499CB9DB0}"/>
              </a:ext>
            </a:extLst>
          </p:cNvPr>
          <p:cNvSpPr/>
          <p:nvPr/>
        </p:nvSpPr>
        <p:spPr>
          <a:xfrm>
            <a:off x="736494" y="4647372"/>
            <a:ext cx="415214" cy="393817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1F20E960-3D04-3265-BA02-72381C2C3443}"/>
              </a:ext>
            </a:extLst>
          </p:cNvPr>
          <p:cNvGrpSpPr/>
          <p:nvPr/>
        </p:nvGrpSpPr>
        <p:grpSpPr>
          <a:xfrm>
            <a:off x="829544" y="4460172"/>
            <a:ext cx="2510285" cy="731520"/>
            <a:chOff x="622158" y="3386041"/>
            <a:chExt cx="1882714" cy="548640"/>
          </a:xfrm>
        </p:grpSpPr>
        <p:pic>
          <p:nvPicPr>
            <p:cNvPr id="41" name="Image 3" descr="preencoded.png"/>
            <p:cNvPicPr>
              <a:picLocks noChangeAspect="1"/>
            </p:cNvPicPr>
            <p:nvPr/>
          </p:nvPicPr>
          <p:blipFill>
            <a:blip r:embed="rId13">
              <a:duotone>
                <a:schemeClr val="bg2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622158" y="3588159"/>
              <a:ext cx="163860" cy="163860"/>
            </a:xfrm>
            <a:prstGeom prst="rect">
              <a:avLst/>
            </a:prstGeom>
            <a:ln>
              <a:noFill/>
            </a:ln>
          </p:spPr>
        </p:pic>
        <p:sp>
          <p:nvSpPr>
            <p:cNvPr id="42" name="Text 36"/>
            <p:cNvSpPr/>
            <p:nvPr/>
          </p:nvSpPr>
          <p:spPr>
            <a:xfrm>
              <a:off x="950392" y="3386041"/>
              <a:ext cx="155448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1400" b="1" dirty="0">
                  <a:solidFill>
                    <a:srgbClr val="FFFFFF"/>
                  </a:solidFill>
                  <a:latin typeface="Inter" pitchFamily="34" charset="0"/>
                  <a:ea typeface="Inter" pitchFamily="34" charset="-122"/>
                  <a:cs typeface="Inter" pitchFamily="34" charset="-120"/>
                </a:rPr>
                <a:t>Distribution Data</a:t>
              </a:r>
              <a:endParaRPr lang="en-US" sz="1400" dirty="0"/>
            </a:p>
          </p:txBody>
        </p:sp>
      </p:grpSp>
      <p:sp>
        <p:nvSpPr>
          <p:cNvPr id="54" name="Card 26">
            <a:extLst>
              <a:ext uri="{FF2B5EF4-FFF2-40B4-BE49-F238E27FC236}">
                <a16:creationId xmlns:a16="http://schemas.microsoft.com/office/drawing/2014/main" id="{42891760-ED3C-8553-4D86-536B9BE84126}"/>
              </a:ext>
            </a:extLst>
          </p:cNvPr>
          <p:cNvSpPr/>
          <p:nvPr/>
        </p:nvSpPr>
        <p:spPr>
          <a:xfrm>
            <a:off x="5530220" y="3596084"/>
            <a:ext cx="1089152" cy="435346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9" name="Card 26">
            <a:extLst>
              <a:ext uri="{FF2B5EF4-FFF2-40B4-BE49-F238E27FC236}">
                <a16:creationId xmlns:a16="http://schemas.microsoft.com/office/drawing/2014/main" id="{A4B667F9-75E1-7AED-B864-83822900D17A}"/>
              </a:ext>
            </a:extLst>
          </p:cNvPr>
          <p:cNvSpPr/>
          <p:nvPr/>
        </p:nvSpPr>
        <p:spPr>
          <a:xfrm>
            <a:off x="5522092" y="2719341"/>
            <a:ext cx="1089152" cy="435346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6" name="Card 26">
            <a:extLst>
              <a:ext uri="{FF2B5EF4-FFF2-40B4-BE49-F238E27FC236}">
                <a16:creationId xmlns:a16="http://schemas.microsoft.com/office/drawing/2014/main" id="{AF7E3D9C-47F4-A257-DEFD-E3E98A680397}"/>
              </a:ext>
            </a:extLst>
          </p:cNvPr>
          <p:cNvSpPr/>
          <p:nvPr/>
        </p:nvSpPr>
        <p:spPr>
          <a:xfrm>
            <a:off x="8614213" y="5466078"/>
            <a:ext cx="2926080" cy="72356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" name="Card 26">
            <a:extLst>
              <a:ext uri="{FF2B5EF4-FFF2-40B4-BE49-F238E27FC236}">
                <a16:creationId xmlns:a16="http://schemas.microsoft.com/office/drawing/2014/main" id="{FC2F53CC-7095-4C32-FDC0-D9743C28C0D1}"/>
              </a:ext>
            </a:extLst>
          </p:cNvPr>
          <p:cNvSpPr/>
          <p:nvPr/>
        </p:nvSpPr>
        <p:spPr>
          <a:xfrm>
            <a:off x="8614213" y="4476091"/>
            <a:ext cx="2926080" cy="72356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8" name="Card 26">
            <a:extLst>
              <a:ext uri="{FF2B5EF4-FFF2-40B4-BE49-F238E27FC236}">
                <a16:creationId xmlns:a16="http://schemas.microsoft.com/office/drawing/2014/main" id="{EB515277-163D-3900-2EDD-BA6A3E58D669}"/>
              </a:ext>
            </a:extLst>
          </p:cNvPr>
          <p:cNvSpPr/>
          <p:nvPr/>
        </p:nvSpPr>
        <p:spPr>
          <a:xfrm>
            <a:off x="8614213" y="3485288"/>
            <a:ext cx="2926080" cy="72356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9" name="Card 26">
            <a:extLst>
              <a:ext uri="{FF2B5EF4-FFF2-40B4-BE49-F238E27FC236}">
                <a16:creationId xmlns:a16="http://schemas.microsoft.com/office/drawing/2014/main" id="{AD00E7AF-C7EC-0765-ABA1-40D22339698F}"/>
              </a:ext>
            </a:extLst>
          </p:cNvPr>
          <p:cNvSpPr/>
          <p:nvPr/>
        </p:nvSpPr>
        <p:spPr>
          <a:xfrm>
            <a:off x="8619844" y="2497696"/>
            <a:ext cx="2926080" cy="72356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" name="Card 26">
            <a:extLst>
              <a:ext uri="{FF2B5EF4-FFF2-40B4-BE49-F238E27FC236}">
                <a16:creationId xmlns:a16="http://schemas.microsoft.com/office/drawing/2014/main" id="{23F4A9FE-38AB-9BA8-0C14-A973DC6FE07C}"/>
              </a:ext>
            </a:extLst>
          </p:cNvPr>
          <p:cNvSpPr/>
          <p:nvPr/>
        </p:nvSpPr>
        <p:spPr>
          <a:xfrm>
            <a:off x="8627094" y="1529156"/>
            <a:ext cx="2926080" cy="72356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381A55A-28ED-B567-115F-F3F183F7F57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299458" y="5684915"/>
            <a:ext cx="629691" cy="25373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Pack Speaks a Different Language</a:t>
            </a:r>
            <a:endParaRPr lang="en-US" dirty="0"/>
          </a:p>
        </p:txBody>
      </p:sp>
      <p:sp>
        <p:nvSpPr>
          <p:cNvPr id="102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shared vocabulary, no shared grain, no shared coverage. Every pack was built to stand alone.</a:t>
            </a:r>
            <a:endParaRPr lang="en-US" dirty="0"/>
          </a:p>
        </p:txBody>
      </p:sp>
      <p:sp>
        <p:nvSpPr>
          <p:cNvPr id="103" name="Card"/>
          <p:cNvSpPr/>
          <p:nvPr/>
        </p:nvSpPr>
        <p:spPr>
          <a:xfrm>
            <a:off x="609600" y="1800000"/>
            <a:ext cx="3450000" cy="15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4" name="Chip"/>
          <p:cNvSpPr/>
          <p:nvPr/>
        </p:nvSpPr>
        <p:spPr>
          <a:xfrm>
            <a:off x="829600" y="2020000"/>
            <a:ext cx="380000" cy="380000"/>
          </a:xfrm>
          <a:prstGeom prst="rect">
            <a:avLst/>
          </a:prstGeom>
          <a:solidFill>
            <a:srgbClr val="E34F4F">
              <a:alpha val="9000"/>
            </a:srgbClr>
          </a:solidFill>
          <a:ln w="12700">
            <a:solidFill>
              <a:srgbClr val="E34F4F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dirty="0"/>
          </a:p>
        </p:txBody>
      </p:sp>
      <p:sp>
        <p:nvSpPr>
          <p:cNvPr id="105" name="Text"/>
          <p:cNvSpPr/>
          <p:nvPr/>
        </p:nvSpPr>
        <p:spPr>
          <a:xfrm>
            <a:off x="1369600" y="1980000"/>
            <a:ext cx="25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Different grains</a:t>
            </a:r>
            <a:endParaRPr lang="en-US" dirty="0"/>
          </a:p>
        </p:txBody>
      </p:sp>
      <p:sp>
        <p:nvSpPr>
          <p:cNvPr id="106" name="Text"/>
          <p:cNvSpPr/>
          <p:nvPr/>
        </p:nvSpPr>
        <p:spPr>
          <a:xfrm>
            <a:off x="1369600" y="2400000"/>
            <a:ext cx="250000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pack reports at the advisor level, the next at the branch, a third at the team.</a:t>
            </a:r>
            <a:endParaRPr lang="en-US" dirty="0"/>
          </a:p>
        </p:txBody>
      </p:sp>
      <p:sp>
        <p:nvSpPr>
          <p:cNvPr id="107" name="Card"/>
          <p:cNvSpPr/>
          <p:nvPr/>
        </p:nvSpPr>
        <p:spPr>
          <a:xfrm>
            <a:off x="4371000" y="1800000"/>
            <a:ext cx="3450000" cy="15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08" name="Chip"/>
          <p:cNvSpPr/>
          <p:nvPr/>
        </p:nvSpPr>
        <p:spPr>
          <a:xfrm>
            <a:off x="4591000" y="2020000"/>
            <a:ext cx="380000" cy="380000"/>
          </a:xfrm>
          <a:prstGeom prst="rect">
            <a:avLst/>
          </a:prstGeom>
          <a:solidFill>
            <a:srgbClr val="E34F4F">
              <a:alpha val="9000"/>
            </a:srgbClr>
          </a:solidFill>
          <a:ln w="12700">
            <a:solidFill>
              <a:srgbClr val="E34F4F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dirty="0"/>
          </a:p>
        </p:txBody>
      </p:sp>
      <p:sp>
        <p:nvSpPr>
          <p:cNvPr id="109" name="Text"/>
          <p:cNvSpPr/>
          <p:nvPr/>
        </p:nvSpPr>
        <p:spPr>
          <a:xfrm>
            <a:off x="5131000" y="1980000"/>
            <a:ext cx="25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Inconsistent coverage</a:t>
            </a:r>
            <a:endParaRPr lang="en-US" dirty="0"/>
          </a:p>
        </p:txBody>
      </p:sp>
      <p:sp>
        <p:nvSpPr>
          <p:cNvPr id="110" name="Text"/>
          <p:cNvSpPr/>
          <p:nvPr/>
        </p:nvSpPr>
        <p:spPr>
          <a:xfrm>
            <a:off x="5131000" y="2400000"/>
            <a:ext cx="250000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pack captures mutual funds in detail. Another covers ETFs at a different scope, frequency, and classification.</a:t>
            </a:r>
            <a:endParaRPr lang="en-US" dirty="0"/>
          </a:p>
        </p:txBody>
      </p:sp>
      <p:sp>
        <p:nvSpPr>
          <p:cNvPr id="903" name="Card"/>
          <p:cNvSpPr/>
          <p:nvPr/>
        </p:nvSpPr>
        <p:spPr>
          <a:xfrm>
            <a:off x="8132400" y="1800000"/>
            <a:ext cx="3450000" cy="15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904" name="Chip"/>
          <p:cNvSpPr/>
          <p:nvPr/>
        </p:nvSpPr>
        <p:spPr>
          <a:xfrm>
            <a:off x="8352400" y="2020000"/>
            <a:ext cx="380000" cy="380000"/>
          </a:xfrm>
          <a:prstGeom prst="rect">
            <a:avLst/>
          </a:prstGeom>
          <a:solidFill>
            <a:srgbClr val="E34F4F">
              <a:alpha val="9000"/>
            </a:srgbClr>
          </a:solidFill>
          <a:ln w="12700">
            <a:solidFill>
              <a:srgbClr val="E34F4F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E34F4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dirty="0"/>
          </a:p>
        </p:txBody>
      </p:sp>
      <p:sp>
        <p:nvSpPr>
          <p:cNvPr id="905" name="Text"/>
          <p:cNvSpPr/>
          <p:nvPr/>
        </p:nvSpPr>
        <p:spPr>
          <a:xfrm>
            <a:off x="8892400" y="1980000"/>
            <a:ext cx="2500000" cy="4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Overlapping coverage</a:t>
            </a:r>
            <a:endParaRPr lang="en-US" dirty="0"/>
          </a:p>
        </p:txBody>
      </p:sp>
      <p:sp>
        <p:nvSpPr>
          <p:cNvPr id="906" name="Text"/>
          <p:cNvSpPr/>
          <p:nvPr/>
        </p:nvSpPr>
        <p:spPr>
          <a:xfrm>
            <a:off x="8892400" y="2400000"/>
            <a:ext cx="2500000" cy="8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Broker dealer and consortium packs cover the same firm from different angles, and the overlap risks double counting.</a:t>
            </a:r>
            <a:endParaRPr lang="en-US" dirty="0"/>
          </a:p>
        </p:txBody>
      </p:sp>
      <p:sp>
        <p:nvSpPr>
          <p:cNvPr id="902" name="QuoteLabel"/>
          <p:cNvSpPr/>
          <p:nvPr/>
        </p:nvSpPr>
        <p:spPr>
          <a:xfrm>
            <a:off x="609600" y="3650000"/>
            <a:ext cx="4000000" cy="2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000" b="1" spc="220" dirty="0">
                <a:solidFill>
                  <a:srgbClr val="E34F4F"/>
                </a:solidFill>
                <a:latin typeface="Inter" pitchFamily="34" charset="0"/>
              </a:rPr>
              <a:t>THE RESULT</a:t>
            </a:r>
            <a:endParaRPr lang="en-US" dirty="0"/>
          </a:p>
        </p:txBody>
      </p:sp>
      <p:sp>
        <p:nvSpPr>
          <p:cNvPr id="901" name="Quote"/>
          <p:cNvSpPr/>
          <p:nvPr/>
        </p:nvSpPr>
        <p:spPr>
          <a:xfrm>
            <a:off x="609600" y="4000000"/>
            <a:ext cx="9800000" cy="1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>
              <a:lnSpc>
                <a:spcPct val="145000"/>
              </a:lnSpc>
            </a:pPr>
            <a:r>
              <a:rPr lang="en-US" sz="2800" i="1" dirty="0">
                <a:solidFill>
                  <a:srgbClr val="FFFFFF"/>
                </a:solidFill>
                <a:latin typeface="Inter" pitchFamily="34" charset="0"/>
              </a:rPr>
              <a:t>Assembling one coherent view of territory opportunity across every subscribed pack takes a reconciliation methodology on top of the engineering.</a:t>
            </a: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Unified Data Set</a:t>
            </a:r>
            <a:endParaRPr lang="en-US" dirty="0"/>
          </a:p>
        </p:txBody>
      </p:sp>
      <p:sp>
        <p:nvSpPr>
          <p:cNvPr id="145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pack, every grain, in one connected schema and mapped to your team and territory structure.</a:t>
            </a:r>
            <a:endParaRPr lang="en-US" dirty="0"/>
          </a:p>
        </p:txBody>
      </p:sp>
      <p:sp>
        <p:nvSpPr>
          <p:cNvPr id="146" name="Card"/>
          <p:cNvSpPr/>
          <p:nvPr/>
        </p:nvSpPr>
        <p:spPr>
          <a:xfrm>
            <a:off x="609600" y="2022190"/>
            <a:ext cx="3700000" cy="436781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7" name="Text"/>
          <p:cNvSpPr/>
          <p:nvPr/>
        </p:nvSpPr>
        <p:spPr>
          <a:xfrm>
            <a:off x="859600" y="2423491"/>
            <a:ext cx="32000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OF VALUE DROPPED</a:t>
            </a:r>
            <a:endParaRPr lang="en-US" dirty="0"/>
          </a:p>
        </p:txBody>
      </p:sp>
      <p:sp>
        <p:nvSpPr>
          <p:cNvPr id="148" name="Text"/>
          <p:cNvSpPr/>
          <p:nvPr/>
        </p:nvSpPr>
        <p:spPr>
          <a:xfrm>
            <a:off x="859600" y="2873491"/>
            <a:ext cx="320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field of value preserved</a:t>
            </a:r>
            <a:endParaRPr lang="en-US" dirty="0"/>
          </a:p>
        </p:txBody>
      </p:sp>
      <p:sp>
        <p:nvSpPr>
          <p:cNvPr id="149" name="Text"/>
          <p:cNvSpPr/>
          <p:nvPr/>
        </p:nvSpPr>
        <p:spPr>
          <a:xfrm>
            <a:off x="859600" y="3873491"/>
            <a:ext cx="3200000" cy="143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attribute makes it through, no matter how you handle these packs today. Firm specific detail is carried through into one denormalized schema, joined on CRD.</a:t>
            </a:r>
            <a:endParaRPr lang="en-US" dirty="0"/>
          </a:p>
        </p:txBody>
      </p:sp>
      <p:sp>
        <p:nvSpPr>
          <p:cNvPr id="150" name="Text"/>
          <p:cNvSpPr/>
          <p:nvPr/>
        </p:nvSpPr>
        <p:spPr>
          <a:xfrm>
            <a:off x="859600" y="5174905"/>
            <a:ext cx="3200000" cy="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schema.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around how your sales organization covers the market.</a:t>
            </a:r>
            <a:endParaRPr lang="en-US" dirty="0"/>
          </a:p>
        </p:txBody>
      </p:sp>
      <p:sp>
        <p:nvSpPr>
          <p:cNvPr id="151" name="Card"/>
          <p:cNvSpPr/>
          <p:nvPr/>
        </p:nvSpPr>
        <p:spPr>
          <a:xfrm>
            <a:off x="4540000" y="170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2" name="Text"/>
          <p:cNvSpPr/>
          <p:nvPr/>
        </p:nvSpPr>
        <p:spPr>
          <a:xfrm>
            <a:off x="4790000" y="177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schema</a:t>
            </a:r>
            <a:endParaRPr lang="en-US" dirty="0"/>
          </a:p>
        </p:txBody>
      </p:sp>
      <p:sp>
        <p:nvSpPr>
          <p:cNvPr id="153" name="Text"/>
          <p:cNvSpPr/>
          <p:nvPr/>
        </p:nvSpPr>
        <p:spPr>
          <a:xfrm>
            <a:off x="4790000" y="207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most granular buying unit available, with FA level data preserved across all packs.</a:t>
            </a:r>
            <a:endParaRPr lang="en-US" dirty="0"/>
          </a:p>
        </p:txBody>
      </p:sp>
      <p:sp>
        <p:nvSpPr>
          <p:cNvPr id="154" name="Card"/>
          <p:cNvSpPr/>
          <p:nvPr/>
        </p:nvSpPr>
        <p:spPr>
          <a:xfrm>
            <a:off x="4540000" y="249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5" name="Text"/>
          <p:cNvSpPr/>
          <p:nvPr/>
        </p:nvSpPr>
        <p:spPr>
          <a:xfrm>
            <a:off x="4790000" y="256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Hierarchy resolved</a:t>
            </a:r>
            <a:endParaRPr lang="en-US" dirty="0"/>
          </a:p>
        </p:txBody>
      </p:sp>
      <p:sp>
        <p:nvSpPr>
          <p:cNvPr id="156" name="Text"/>
          <p:cNvSpPr/>
          <p:nvPr/>
        </p:nvSpPr>
        <p:spPr>
          <a:xfrm>
            <a:off x="4790000" y="286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Branch feeds deduplicated and mapped to teams and advisors, office context preserved.</a:t>
            </a:r>
            <a:endParaRPr lang="en-US" dirty="0"/>
          </a:p>
        </p:txBody>
      </p:sp>
      <p:sp>
        <p:nvSpPr>
          <p:cNvPr id="157" name="Card"/>
          <p:cNvSpPr/>
          <p:nvPr/>
        </p:nvSpPr>
        <p:spPr>
          <a:xfrm>
            <a:off x="4540000" y="328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8" name="Text"/>
          <p:cNvSpPr/>
          <p:nvPr/>
        </p:nvSpPr>
        <p:spPr>
          <a:xfrm>
            <a:off x="4790000" y="335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Best Piece selection</a:t>
            </a:r>
            <a:endParaRPr lang="en-US" dirty="0"/>
          </a:p>
        </p:txBody>
      </p:sp>
      <p:sp>
        <p:nvSpPr>
          <p:cNvPr id="159" name="Text"/>
          <p:cNvSpPr/>
          <p:nvPr/>
        </p:nvSpPr>
        <p:spPr>
          <a:xfrm>
            <a:off x="4790000" y="365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each dimension, the highest quality source wins across packs and public filings.</a:t>
            </a:r>
            <a:endParaRPr lang="en-US" dirty="0"/>
          </a:p>
        </p:txBody>
      </p:sp>
      <p:sp>
        <p:nvSpPr>
          <p:cNvPr id="170" name="Card"/>
          <p:cNvSpPr/>
          <p:nvPr/>
        </p:nvSpPr>
        <p:spPr>
          <a:xfrm>
            <a:off x="4540000" y="407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1" name="Text"/>
          <p:cNvSpPr/>
          <p:nvPr/>
        </p:nvSpPr>
        <p:spPr>
          <a:xfrm>
            <a:off x="4790000" y="414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 Attribution</a:t>
            </a:r>
            <a:endParaRPr lang="en-US" dirty="0"/>
          </a:p>
        </p:txBody>
      </p:sp>
      <p:sp>
        <p:nvSpPr>
          <p:cNvPr id="172" name="Text"/>
          <p:cNvSpPr/>
          <p:nvPr/>
        </p:nvSpPr>
        <p:spPr>
          <a:xfrm>
            <a:off x="4790000" y="444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Office totals allocated to FAs by Machine Learning, then rolled up to the team or buying unit.</a:t>
            </a:r>
            <a:endParaRPr lang="en-US" dirty="0"/>
          </a:p>
        </p:txBody>
      </p:sp>
      <p:sp>
        <p:nvSpPr>
          <p:cNvPr id="160" name="Card"/>
          <p:cNvSpPr/>
          <p:nvPr/>
        </p:nvSpPr>
        <p:spPr>
          <a:xfrm>
            <a:off x="4540000" y="486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1" name="Text"/>
          <p:cNvSpPr/>
          <p:nvPr/>
        </p:nvSpPr>
        <p:spPr>
          <a:xfrm>
            <a:off x="4790000" y="493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Cadence and drift managed</a:t>
            </a:r>
            <a:endParaRPr lang="en-US" dirty="0"/>
          </a:p>
        </p:txBody>
      </p:sp>
      <p:sp>
        <p:nvSpPr>
          <p:cNvPr id="162" name="Text"/>
          <p:cNvSpPr/>
          <p:nvPr/>
        </p:nvSpPr>
        <p:spPr>
          <a:xfrm>
            <a:off x="4790000" y="523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Native cadence respected per pack. Field absorbs schema changes and version drift.</a:t>
            </a:r>
            <a:endParaRPr lang="en-US" dirty="0"/>
          </a:p>
        </p:txBody>
      </p:sp>
      <p:sp>
        <p:nvSpPr>
          <p:cNvPr id="163" name="Card"/>
          <p:cNvSpPr/>
          <p:nvPr/>
        </p:nvSpPr>
        <p:spPr>
          <a:xfrm>
            <a:off x="4540000" y="5650000"/>
            <a:ext cx="7042400" cy="74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Text"/>
          <p:cNvSpPr/>
          <p:nvPr/>
        </p:nvSpPr>
        <p:spPr>
          <a:xfrm>
            <a:off x="4790000" y="572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Forward visibility</a:t>
            </a:r>
            <a:endParaRPr lang="en-US" dirty="0"/>
          </a:p>
        </p:txBody>
      </p:sp>
      <p:sp>
        <p:nvSpPr>
          <p:cNvPr id="165" name="Text"/>
          <p:cNvSpPr/>
          <p:nvPr/>
        </p:nvSpPr>
        <p:spPr>
          <a:xfrm>
            <a:off x="4790000" y="6020000"/>
            <a:ext cx="65424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Emerging packs flagged early, with integration paths already mapped.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</a:rPr>
              <a:t>Best Piece + FA Attribution, in Practice</a:t>
            </a:r>
            <a:endParaRPr lang="en-US" dirty="0"/>
          </a:p>
        </p:txBody>
      </p:sp>
      <p:sp>
        <p:nvSpPr>
          <p:cNvPr id="102" name="Text"/>
          <p:cNvSpPr/>
          <p:nvPr/>
        </p:nvSpPr>
        <p:spPr>
          <a:xfrm>
            <a:off x="609600" y="122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</a:rPr>
              <a:t>Best Piece picks the strongest pack per advisor. FA Attribution allocates the rest down to the individual, or infers it entirely.</a:t>
            </a:r>
            <a:endParaRPr lang="en-US" dirty="0"/>
          </a:p>
        </p:txBody>
      </p:sp>
      <p:sp>
        <p:nvSpPr>
          <p:cNvPr id="500" name="Card"/>
          <p:cNvSpPr/>
          <p:nvPr/>
        </p:nvSpPr>
        <p:spPr>
          <a:xfrm>
            <a:off x="609600" y="1700000"/>
            <a:ext cx="10972800" cy="22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01" name="Text"/>
          <p:cNvSpPr/>
          <p:nvPr/>
        </p:nvSpPr>
        <p:spPr>
          <a:xfrm>
            <a:off x="859600" y="1880000"/>
            <a:ext cx="2350000" cy="38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BEST PIECE</a:t>
            </a:r>
            <a:endParaRPr lang="en-US" dirty="0"/>
          </a:p>
        </p:txBody>
      </p:sp>
      <p:sp>
        <p:nvSpPr>
          <p:cNvPr id="502" name="Text"/>
          <p:cNvSpPr/>
          <p:nvPr/>
        </p:nvSpPr>
        <p:spPr>
          <a:xfrm>
            <a:off x="3350000" y="1880000"/>
            <a:ext cx="42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Inter" pitchFamily="34" charset="0"/>
              </a:rPr>
              <a:t>Advisor John Smith at LPL</a:t>
            </a:r>
            <a:endParaRPr lang="en-US" dirty="0"/>
          </a:p>
        </p:txBody>
      </p:sp>
      <p:sp>
        <p:nvSpPr>
          <p:cNvPr id="600" name="Card"/>
          <p:cNvSpPr/>
          <p:nvPr/>
        </p:nvSpPr>
        <p:spPr>
          <a:xfrm>
            <a:off x="859600" y="2400000"/>
            <a:ext cx="3200000" cy="110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00C47D">
                <a:alpha val="7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01" name="Text"/>
          <p:cNvSpPr/>
          <p:nvPr/>
        </p:nvSpPr>
        <p:spPr>
          <a:xfrm>
            <a:off x="1009600" y="2510000"/>
            <a:ext cx="1450000" cy="26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Inter" pitchFamily="34" charset="0"/>
              </a:rPr>
              <a:t>DIRECT</a:t>
            </a:r>
            <a:endParaRPr lang="en-US" dirty="0"/>
          </a:p>
        </p:txBody>
      </p:sp>
      <p:sp>
        <p:nvSpPr>
          <p:cNvPr id="602" name="Text"/>
          <p:cNvSpPr/>
          <p:nvPr/>
        </p:nvSpPr>
        <p:spPr>
          <a:xfrm>
            <a:off x="1009600" y="2800000"/>
            <a:ext cx="2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50" b="1" dirty="0">
                <a:solidFill>
                  <a:srgbClr val="FFFFFF"/>
                </a:solidFill>
                <a:latin typeface="Inter" pitchFamily="34" charset="0"/>
              </a:rPr>
              <a:t>Mutual Fund</a:t>
            </a:r>
            <a:endParaRPr lang="en-US" dirty="0"/>
          </a:p>
        </p:txBody>
      </p:sp>
      <p:sp>
        <p:nvSpPr>
          <p:cNvPr id="603" name="Text"/>
          <p:cNvSpPr/>
          <p:nvPr/>
        </p:nvSpPr>
        <p:spPr>
          <a:xfrm>
            <a:off x="1009600" y="3120000"/>
            <a:ext cx="290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900" dirty="0">
                <a:solidFill>
                  <a:srgbClr val="8899AA"/>
                </a:solidFill>
                <a:latin typeface="Inter" pitchFamily="34" charset="0"/>
              </a:rPr>
              <a:t>LPL pack, FA native. $175M, Morningstar category detail.</a:t>
            </a:r>
            <a:endParaRPr lang="en-US" dirty="0"/>
          </a:p>
        </p:txBody>
      </p:sp>
      <p:sp>
        <p:nvSpPr>
          <p:cNvPr id="620" name="Card"/>
          <p:cNvSpPr/>
          <p:nvPr/>
        </p:nvSpPr>
        <p:spPr>
          <a:xfrm>
            <a:off x="4496000" y="2400000"/>
            <a:ext cx="3200000" cy="110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7C93FF">
                <a:alpha val="7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21" name="Text"/>
          <p:cNvSpPr/>
          <p:nvPr/>
        </p:nvSpPr>
        <p:spPr>
          <a:xfrm>
            <a:off x="4646000" y="2510000"/>
            <a:ext cx="1450000" cy="260000"/>
          </a:xfrm>
          <a:prstGeom prst="roundRect">
            <a:avLst>
              <a:gd name="adj" fmla="val 50000"/>
            </a:avLst>
          </a:prstGeom>
          <a:solidFill>
            <a:srgbClr val="7C93FF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FFFFFF"/>
                </a:solidFill>
                <a:latin typeface="Inter" pitchFamily="34" charset="0"/>
              </a:rPr>
              <a:t>ATTRIBUTED</a:t>
            </a:r>
            <a:endParaRPr lang="en-US" dirty="0"/>
          </a:p>
        </p:txBody>
      </p:sp>
      <p:sp>
        <p:nvSpPr>
          <p:cNvPr id="622" name="Text"/>
          <p:cNvSpPr/>
          <p:nvPr/>
        </p:nvSpPr>
        <p:spPr>
          <a:xfrm>
            <a:off x="4646000" y="2800000"/>
            <a:ext cx="2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50" b="1" dirty="0">
                <a:solidFill>
                  <a:srgbClr val="FFFFFF"/>
                </a:solidFill>
                <a:latin typeface="Inter" pitchFamily="34" charset="0"/>
              </a:rPr>
              <a:t>ETF</a:t>
            </a:r>
            <a:endParaRPr lang="en-US" dirty="0"/>
          </a:p>
        </p:txBody>
      </p:sp>
      <p:sp>
        <p:nvSpPr>
          <p:cNvPr id="623" name="Text"/>
          <p:cNvSpPr/>
          <p:nvPr/>
        </p:nvSpPr>
        <p:spPr>
          <a:xfrm>
            <a:off x="4646000" y="3120000"/>
            <a:ext cx="290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900" dirty="0">
                <a:solidFill>
                  <a:srgbClr val="8899AA"/>
                </a:solidFill>
                <a:latin typeface="Inter" pitchFamily="34" charset="0"/>
              </a:rPr>
              <a:t>Broadridge Market Intelligence. $625M branch, $105M to John’s share.</a:t>
            </a:r>
            <a:endParaRPr lang="en-US" dirty="0"/>
          </a:p>
        </p:txBody>
      </p:sp>
      <p:sp>
        <p:nvSpPr>
          <p:cNvPr id="640" name="Card"/>
          <p:cNvSpPr/>
          <p:nvPr/>
        </p:nvSpPr>
        <p:spPr>
          <a:xfrm>
            <a:off x="8132400" y="2400000"/>
            <a:ext cx="3200000" cy="110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22D3EE">
                <a:alpha val="7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41" name="Text"/>
          <p:cNvSpPr/>
          <p:nvPr/>
        </p:nvSpPr>
        <p:spPr>
          <a:xfrm>
            <a:off x="8282400" y="2510000"/>
            <a:ext cx="1450000" cy="2600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800" b="1" dirty="0">
                <a:solidFill>
                  <a:srgbClr val="0B1220"/>
                </a:solidFill>
                <a:latin typeface="Inter" pitchFamily="34" charset="0"/>
              </a:rPr>
              <a:t>SYNTHESIZED</a:t>
            </a:r>
            <a:endParaRPr lang="en-US" dirty="0"/>
          </a:p>
        </p:txBody>
      </p:sp>
      <p:sp>
        <p:nvSpPr>
          <p:cNvPr id="642" name="Text"/>
          <p:cNvSpPr/>
          <p:nvPr/>
        </p:nvSpPr>
        <p:spPr>
          <a:xfrm>
            <a:off x="8282400" y="2800000"/>
            <a:ext cx="2900000" cy="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50" b="1" dirty="0">
                <a:solidFill>
                  <a:srgbClr val="FFFFFF"/>
                </a:solidFill>
                <a:latin typeface="Inter" pitchFamily="34" charset="0"/>
              </a:rPr>
              <a:t>Competitive Advantage</a:t>
            </a:r>
            <a:endParaRPr lang="en-US" dirty="0"/>
          </a:p>
        </p:txBody>
      </p:sp>
      <p:sp>
        <p:nvSpPr>
          <p:cNvPr id="643" name="Text"/>
          <p:cNvSpPr/>
          <p:nvPr/>
        </p:nvSpPr>
        <p:spPr>
          <a:xfrm>
            <a:off x="8282400" y="3120000"/>
            <a:ext cx="2900000" cy="36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900" dirty="0">
                <a:solidFill>
                  <a:srgbClr val="8899AA"/>
                </a:solidFill>
                <a:latin typeface="Inter" pitchFamily="34" charset="0"/>
              </a:rPr>
              <a:t>SS&amp;C Teams data for John’s team, used since his direct pack lacks it.</a:t>
            </a:r>
            <a:endParaRPr lang="en-US" dirty="0"/>
          </a:p>
        </p:txBody>
      </p:sp>
      <p:sp>
        <p:nvSpPr>
          <p:cNvPr id="660" name="Text"/>
          <p:cNvSpPr/>
          <p:nvPr/>
        </p:nvSpPr>
        <p:spPr>
          <a:xfrm>
            <a:off x="4059600" y="2750000"/>
            <a:ext cx="436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8899AA"/>
                </a:solidFill>
                <a:latin typeface="Inter" pitchFamily="34" charset="0"/>
              </a:rPr>
              <a:t>+</a:t>
            </a:r>
            <a:endParaRPr lang="en-US" dirty="0"/>
          </a:p>
        </p:txBody>
      </p:sp>
      <p:sp>
        <p:nvSpPr>
          <p:cNvPr id="661" name="Text"/>
          <p:cNvSpPr/>
          <p:nvPr/>
        </p:nvSpPr>
        <p:spPr>
          <a:xfrm>
            <a:off x="7696000" y="2750000"/>
            <a:ext cx="436400" cy="4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8899AA"/>
                </a:solidFill>
                <a:latin typeface="Inter" pitchFamily="34" charset="0"/>
              </a:rPr>
              <a:t>+</a:t>
            </a:r>
            <a:endParaRPr lang="en-US" dirty="0"/>
          </a:p>
        </p:txBody>
      </p:sp>
      <p:sp>
        <p:nvSpPr>
          <p:cNvPr id="670" name="Card"/>
          <p:cNvSpPr/>
          <p:nvPr/>
        </p:nvSpPr>
        <p:spPr>
          <a:xfrm>
            <a:off x="859600" y="3600000"/>
            <a:ext cx="10472800" cy="28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>
                <a:alpha val="10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71" name="Text"/>
          <p:cNvSpPr/>
          <p:nvPr/>
        </p:nvSpPr>
        <p:spPr>
          <a:xfrm>
            <a:off x="859600" y="3600000"/>
            <a:ext cx="10472800" cy="2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50" b="1" dirty="0">
                <a:solidFill>
                  <a:srgbClr val="FFFFFF"/>
                </a:solidFill>
                <a:latin typeface="Inter" pitchFamily="34" charset="0"/>
              </a:rPr>
              <a:t>=  One row for John Smith. Every piece traced back to its source.</a:t>
            </a:r>
            <a:endParaRPr lang="en-US" dirty="0"/>
          </a:p>
        </p:txBody>
      </p:sp>
      <p:sp>
        <p:nvSpPr>
          <p:cNvPr id="700" name="Card"/>
          <p:cNvSpPr/>
          <p:nvPr/>
        </p:nvSpPr>
        <p:spPr>
          <a:xfrm>
            <a:off x="609600" y="4000000"/>
            <a:ext cx="10972800" cy="22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01" name="Text"/>
          <p:cNvSpPr/>
          <p:nvPr/>
        </p:nvSpPr>
        <p:spPr>
          <a:xfrm>
            <a:off x="859600" y="4180000"/>
            <a:ext cx="2350000" cy="380000"/>
          </a:xfrm>
          <a:prstGeom prst="roundRect">
            <a:avLst>
              <a:gd name="adj" fmla="val 50000"/>
            </a:avLst>
          </a:prstGeom>
          <a:solidFill>
            <a:srgbClr val="8899AA"/>
          </a:solidFill>
          <a:ln>
            <a:noFill/>
          </a:ln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FA ATTRIBUTION</a:t>
            </a:r>
            <a:endParaRPr lang="en-US" dirty="0"/>
          </a:p>
        </p:txBody>
      </p:sp>
      <p:sp>
        <p:nvSpPr>
          <p:cNvPr id="702" name="Text"/>
          <p:cNvSpPr/>
          <p:nvPr/>
        </p:nvSpPr>
        <p:spPr>
          <a:xfrm>
            <a:off x="3350000" y="4180000"/>
            <a:ext cx="420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Inter" pitchFamily="34" charset="0"/>
              </a:rPr>
              <a:t>Same LPL branch, ETF data</a:t>
            </a:r>
            <a:endParaRPr lang="en-US" dirty="0"/>
          </a:p>
        </p:txBody>
      </p:sp>
      <p:sp>
        <p:nvSpPr>
          <p:cNvPr id="710" name="Text"/>
          <p:cNvSpPr/>
          <p:nvPr/>
        </p:nvSpPr>
        <p:spPr>
          <a:xfrm>
            <a:off x="989600" y="4760000"/>
            <a:ext cx="48764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b="1" dirty="0">
                <a:solidFill>
                  <a:srgbClr val="32C58D"/>
                </a:solidFill>
                <a:latin typeface="Inter" pitchFamily="34" charset="0"/>
              </a:rPr>
              <a:t>SIGNAL WEIGHTS THAT SCORE EACH FA (ILLUSTRATIVE)</a:t>
            </a:r>
            <a:endParaRPr lang="en-US" dirty="0"/>
          </a:p>
        </p:txBody>
      </p:sp>
      <p:sp>
        <p:nvSpPr>
          <p:cNvPr id="720" name="Text"/>
          <p:cNvSpPr/>
          <p:nvPr/>
        </p:nvSpPr>
        <p:spPr>
          <a:xfrm>
            <a:off x="989600" y="504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Tenure (FINRA)</a:t>
            </a:r>
            <a:endParaRPr lang="en-US" dirty="0"/>
          </a:p>
        </p:txBody>
      </p:sp>
      <p:sp>
        <p:nvSpPr>
          <p:cNvPr id="721" name="BarBg"/>
          <p:cNvSpPr/>
          <p:nvPr/>
        </p:nvSpPr>
        <p:spPr>
          <a:xfrm>
            <a:off x="2529600" y="507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22" name="BarFill"/>
          <p:cNvSpPr/>
          <p:nvPr/>
        </p:nvSpPr>
        <p:spPr>
          <a:xfrm>
            <a:off x="2529600" y="507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23" name="Text"/>
          <p:cNvSpPr/>
          <p:nvPr/>
        </p:nvSpPr>
        <p:spPr>
          <a:xfrm>
            <a:off x="4939600" y="504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.28</a:t>
            </a:r>
            <a:endParaRPr lang="en-US" dirty="0"/>
          </a:p>
        </p:txBody>
      </p:sp>
      <p:sp>
        <p:nvSpPr>
          <p:cNvPr id="724" name="Text"/>
          <p:cNvSpPr/>
          <p:nvPr/>
        </p:nvSpPr>
        <p:spPr>
          <a:xfrm>
            <a:off x="989600" y="520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Barron’s ranking</a:t>
            </a:r>
            <a:endParaRPr lang="en-US" dirty="0"/>
          </a:p>
        </p:txBody>
      </p:sp>
      <p:sp>
        <p:nvSpPr>
          <p:cNvPr id="725" name="BarBg"/>
          <p:cNvSpPr/>
          <p:nvPr/>
        </p:nvSpPr>
        <p:spPr>
          <a:xfrm>
            <a:off x="2529600" y="523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26" name="BarFill"/>
          <p:cNvSpPr/>
          <p:nvPr/>
        </p:nvSpPr>
        <p:spPr>
          <a:xfrm>
            <a:off x="2529600" y="5235000"/>
            <a:ext cx="2014285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27" name="Text"/>
          <p:cNvSpPr/>
          <p:nvPr/>
        </p:nvSpPr>
        <p:spPr>
          <a:xfrm>
            <a:off x="4939600" y="520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.24</a:t>
            </a:r>
            <a:endParaRPr lang="en-US" dirty="0"/>
          </a:p>
        </p:txBody>
      </p:sp>
      <p:sp>
        <p:nvSpPr>
          <p:cNvPr id="728" name="Text"/>
          <p:cNvSpPr/>
          <p:nvPr/>
        </p:nvSpPr>
        <p:spPr>
          <a:xfrm>
            <a:off x="989600" y="536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Home office list</a:t>
            </a:r>
            <a:endParaRPr lang="en-US" dirty="0"/>
          </a:p>
        </p:txBody>
      </p:sp>
      <p:sp>
        <p:nvSpPr>
          <p:cNvPr id="729" name="BarBg"/>
          <p:cNvSpPr/>
          <p:nvPr/>
        </p:nvSpPr>
        <p:spPr>
          <a:xfrm>
            <a:off x="2529600" y="539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0" name="BarFill"/>
          <p:cNvSpPr/>
          <p:nvPr/>
        </p:nvSpPr>
        <p:spPr>
          <a:xfrm>
            <a:off x="2529600" y="5395000"/>
            <a:ext cx="1594642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1" name="Text"/>
          <p:cNvSpPr/>
          <p:nvPr/>
        </p:nvSpPr>
        <p:spPr>
          <a:xfrm>
            <a:off x="4939600" y="536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.19</a:t>
            </a:r>
            <a:endParaRPr lang="en-US" dirty="0"/>
          </a:p>
        </p:txBody>
      </p:sp>
      <p:sp>
        <p:nvSpPr>
          <p:cNvPr id="732" name="Text"/>
          <p:cNvSpPr/>
          <p:nvPr/>
        </p:nvSpPr>
        <p:spPr>
          <a:xfrm>
            <a:off x="989600" y="552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Prior BD AUM</a:t>
            </a:r>
            <a:endParaRPr lang="en-US" dirty="0"/>
          </a:p>
        </p:txBody>
      </p:sp>
      <p:sp>
        <p:nvSpPr>
          <p:cNvPr id="733" name="BarBg"/>
          <p:cNvSpPr/>
          <p:nvPr/>
        </p:nvSpPr>
        <p:spPr>
          <a:xfrm>
            <a:off x="2529600" y="555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4" name="BarFill"/>
          <p:cNvSpPr/>
          <p:nvPr/>
        </p:nvSpPr>
        <p:spPr>
          <a:xfrm>
            <a:off x="2529600" y="5555000"/>
            <a:ext cx="1175000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5" name="Text"/>
          <p:cNvSpPr/>
          <p:nvPr/>
        </p:nvSpPr>
        <p:spPr>
          <a:xfrm>
            <a:off x="4939600" y="552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.14</a:t>
            </a:r>
            <a:endParaRPr lang="en-US" dirty="0"/>
          </a:p>
        </p:txBody>
      </p:sp>
      <p:sp>
        <p:nvSpPr>
          <p:cNvPr id="736" name="Text"/>
          <p:cNvSpPr/>
          <p:nvPr/>
        </p:nvSpPr>
        <p:spPr>
          <a:xfrm>
            <a:off x="989600" y="568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Designations</a:t>
            </a:r>
            <a:endParaRPr lang="en-US" dirty="0"/>
          </a:p>
        </p:txBody>
      </p:sp>
      <p:sp>
        <p:nvSpPr>
          <p:cNvPr id="737" name="BarBg"/>
          <p:cNvSpPr/>
          <p:nvPr/>
        </p:nvSpPr>
        <p:spPr>
          <a:xfrm>
            <a:off x="2529600" y="571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8" name="BarFill"/>
          <p:cNvSpPr/>
          <p:nvPr/>
        </p:nvSpPr>
        <p:spPr>
          <a:xfrm>
            <a:off x="2529600" y="5715000"/>
            <a:ext cx="839285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39" name="Text"/>
          <p:cNvSpPr/>
          <p:nvPr/>
        </p:nvSpPr>
        <p:spPr>
          <a:xfrm>
            <a:off x="4939600" y="568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.10</a:t>
            </a:r>
            <a:endParaRPr lang="en-US" dirty="0"/>
          </a:p>
        </p:txBody>
      </p:sp>
      <p:sp>
        <p:nvSpPr>
          <p:cNvPr id="740" name="Text"/>
          <p:cNvSpPr/>
          <p:nvPr/>
        </p:nvSpPr>
        <p:spPr>
          <a:xfrm>
            <a:off x="989600" y="5840000"/>
            <a:ext cx="1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dirty="0">
                <a:solidFill>
                  <a:srgbClr val="C7D1DC"/>
                </a:solidFill>
                <a:latin typeface="Inter" pitchFamily="34" charset="0"/>
              </a:rPr>
              <a:t>Focus areas</a:t>
            </a:r>
            <a:endParaRPr lang="en-US" dirty="0"/>
          </a:p>
        </p:txBody>
      </p:sp>
      <p:sp>
        <p:nvSpPr>
          <p:cNvPr id="741" name="BarBg"/>
          <p:cNvSpPr/>
          <p:nvPr/>
        </p:nvSpPr>
        <p:spPr>
          <a:xfrm>
            <a:off x="2529600" y="5875000"/>
            <a:ext cx="2350000" cy="70000"/>
          </a:xfrm>
          <a:prstGeom prst="roundRect">
            <a:avLst>
              <a:gd name="adj" fmla="val 50000"/>
            </a:avLst>
          </a:prstGeom>
          <a:solidFill>
            <a:srgbClr val="374151">
              <a:alpha val="60000"/>
            </a:srgbClr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42" name="BarFill"/>
          <p:cNvSpPr/>
          <p:nvPr/>
        </p:nvSpPr>
        <p:spPr>
          <a:xfrm>
            <a:off x="2529600" y="5875000"/>
            <a:ext cx="419642" cy="70000"/>
          </a:xfrm>
          <a:prstGeom prst="roundRect">
            <a:avLst>
              <a:gd name="adj" fmla="val 50000"/>
            </a:avLst>
          </a:prstGeom>
          <a:solidFill>
            <a:srgbClr val="00C47D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743" name="Text"/>
          <p:cNvSpPr/>
          <p:nvPr/>
        </p:nvSpPr>
        <p:spPr>
          <a:xfrm>
            <a:off x="4939600" y="5840000"/>
            <a:ext cx="500000" cy="14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900" b="1" dirty="0">
                <a:solidFill>
                  <a:srgbClr val="FFFFFF"/>
                </a:solidFill>
                <a:latin typeface="Inter" pitchFamily="34" charset="0"/>
              </a:rPr>
              <a:t>.05</a:t>
            </a:r>
            <a:endParaRPr lang="en-US" dirty="0"/>
          </a:p>
        </p:txBody>
      </p:sp>
      <p:sp>
        <p:nvSpPr>
          <p:cNvPr id="744" name="Text"/>
          <p:cNvSpPr/>
          <p:nvPr/>
        </p:nvSpPr>
        <p:spPr>
          <a:xfrm>
            <a:off x="5789600" y="4760000"/>
            <a:ext cx="4876400" cy="2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850" b="1" dirty="0">
                <a:solidFill>
                  <a:srgbClr val="8899AA"/>
                </a:solidFill>
                <a:latin typeface="Inter" pitchFamily="34" charset="0"/>
              </a:rPr>
              <a:t>OFFICE TOTAL ALLOCATED TO EACH FA</a:t>
            </a:r>
            <a:endParaRPr lang="en-US" dirty="0"/>
          </a:p>
        </p:txBody>
      </p:sp>
      <p:sp>
        <p:nvSpPr>
          <p:cNvPr id="745" name="Card"/>
          <p:cNvSpPr/>
          <p:nvPr/>
        </p:nvSpPr>
        <p:spPr>
          <a:xfrm>
            <a:off x="5789600" y="5150000"/>
            <a:ext cx="1750000" cy="70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8899AA">
                <a:alpha val="7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6" name="Text"/>
          <p:cNvSpPr/>
          <p:nvPr/>
        </p:nvSpPr>
        <p:spPr>
          <a:xfrm>
            <a:off x="5939600" y="5150000"/>
            <a:ext cx="14500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FFFFFF"/>
                </a:solidFill>
                <a:latin typeface="Inter" pitchFamily="34" charset="0"/>
              </a:rPr>
              <a:t>LPL Branch</a:t>
            </a:r>
            <a:endParaRPr lang="en-US" dirty="0"/>
          </a:p>
        </p:txBody>
      </p:sp>
      <p:sp>
        <p:nvSpPr>
          <p:cNvPr id="747" name="Text"/>
          <p:cNvSpPr/>
          <p:nvPr/>
        </p:nvSpPr>
        <p:spPr>
          <a:xfrm>
            <a:off x="5939600" y="5490000"/>
            <a:ext cx="14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900" dirty="0">
                <a:solidFill>
                  <a:srgbClr val="8899AA"/>
                </a:solidFill>
                <a:latin typeface="Inter" pitchFamily="34" charset="0"/>
              </a:rPr>
              <a:t>$625M, Broadridge</a:t>
            </a:r>
            <a:endParaRPr lang="en-US" dirty="0"/>
          </a:p>
        </p:txBody>
      </p:sp>
      <p:sp>
        <p:nvSpPr>
          <p:cNvPr id="748" name="Card"/>
          <p:cNvSpPr/>
          <p:nvPr/>
        </p:nvSpPr>
        <p:spPr>
          <a:xfrm>
            <a:off x="8066000" y="5040000"/>
            <a:ext cx="2600000" cy="230000"/>
          </a:xfrm>
          <a:prstGeom prst="roundRect">
            <a:avLst>
              <a:gd name="adj" fmla="val 5000"/>
            </a:avLst>
          </a:prstGeom>
          <a:solidFill>
            <a:srgbClr val="32C58D">
              <a:alpha val="18000"/>
            </a:srgbClr>
          </a:solidFill>
          <a:ln w="15000">
            <a:solidFill>
              <a:srgbClr val="00C47D">
                <a:alpha val="10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49" name="Text"/>
          <p:cNvSpPr/>
          <p:nvPr/>
        </p:nvSpPr>
        <p:spPr>
          <a:xfrm>
            <a:off x="8216000" y="5040000"/>
            <a:ext cx="7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Smith</a:t>
            </a:r>
            <a:endParaRPr lang="en-US" dirty="0"/>
          </a:p>
        </p:txBody>
      </p:sp>
      <p:sp>
        <p:nvSpPr>
          <p:cNvPr id="750" name="Text"/>
          <p:cNvSpPr/>
          <p:nvPr/>
        </p:nvSpPr>
        <p:spPr>
          <a:xfrm>
            <a:off x="9016000" y="5040000"/>
            <a:ext cx="15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0C47D"/>
                </a:solidFill>
                <a:latin typeface="Inter" pitchFamily="34" charset="0"/>
              </a:rPr>
              <a:t>17% · $105M</a:t>
            </a:r>
            <a:endParaRPr lang="en-US" dirty="0"/>
          </a:p>
        </p:txBody>
      </p:sp>
      <p:cxnSp>
        <p:nvCxnSpPr>
          <p:cNvPr id="751" name="Connector"/>
          <p:cNvCxnSpPr/>
          <p:nvPr/>
        </p:nvCxnSpPr>
        <p:spPr>
          <a:xfrm flipV="1">
            <a:off x="7539600" y="5155000"/>
            <a:ext cx="526400" cy="345000"/>
          </a:xfrm>
          <a:prstGeom prst="line">
            <a:avLst/>
          </a:prstGeom>
          <a:ln w="19050">
            <a:solidFill>
              <a:srgbClr val="00C47D"/>
            </a:solidFill>
            <a:tailEnd type="triangle" w="med" len="med"/>
          </a:ln>
        </p:spPr>
      </p:cxnSp>
      <p:sp>
        <p:nvSpPr>
          <p:cNvPr id="752" name="Card"/>
          <p:cNvSpPr/>
          <p:nvPr/>
        </p:nvSpPr>
        <p:spPr>
          <a:xfrm>
            <a:off x="8066000" y="5310000"/>
            <a:ext cx="2600000" cy="23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00C47D">
                <a:alpha val="5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53" name="Text"/>
          <p:cNvSpPr/>
          <p:nvPr/>
        </p:nvSpPr>
        <p:spPr>
          <a:xfrm>
            <a:off x="8216000" y="5310000"/>
            <a:ext cx="7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Chen</a:t>
            </a:r>
            <a:endParaRPr lang="en-US" dirty="0"/>
          </a:p>
        </p:txBody>
      </p:sp>
      <p:sp>
        <p:nvSpPr>
          <p:cNvPr id="754" name="Text"/>
          <p:cNvSpPr/>
          <p:nvPr/>
        </p:nvSpPr>
        <p:spPr>
          <a:xfrm>
            <a:off x="9016000" y="5310000"/>
            <a:ext cx="15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0C47D"/>
                </a:solidFill>
                <a:latin typeface="Inter" pitchFamily="34" charset="0"/>
              </a:rPr>
              <a:t>34% · $210M</a:t>
            </a:r>
            <a:endParaRPr lang="en-US" dirty="0"/>
          </a:p>
        </p:txBody>
      </p:sp>
      <p:cxnSp>
        <p:nvCxnSpPr>
          <p:cNvPr id="755" name="Connector"/>
          <p:cNvCxnSpPr/>
          <p:nvPr/>
        </p:nvCxnSpPr>
        <p:spPr>
          <a:xfrm flipV="1">
            <a:off x="7539600" y="5425000"/>
            <a:ext cx="526400" cy="75000"/>
          </a:xfrm>
          <a:prstGeom prst="line">
            <a:avLst/>
          </a:prstGeom>
          <a:ln w="19050">
            <a:solidFill>
              <a:srgbClr val="00C47D"/>
            </a:solidFill>
            <a:tailEnd type="triangle" w="med" len="med"/>
          </a:ln>
        </p:spPr>
      </p:cxnSp>
      <p:sp>
        <p:nvSpPr>
          <p:cNvPr id="756" name="Card"/>
          <p:cNvSpPr/>
          <p:nvPr/>
        </p:nvSpPr>
        <p:spPr>
          <a:xfrm>
            <a:off x="8066000" y="5580000"/>
            <a:ext cx="2600000" cy="23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00C47D">
                <a:alpha val="5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57" name="Text"/>
          <p:cNvSpPr/>
          <p:nvPr/>
        </p:nvSpPr>
        <p:spPr>
          <a:xfrm>
            <a:off x="8216000" y="5580000"/>
            <a:ext cx="7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Park</a:t>
            </a:r>
            <a:endParaRPr lang="en-US" dirty="0"/>
          </a:p>
        </p:txBody>
      </p:sp>
      <p:sp>
        <p:nvSpPr>
          <p:cNvPr id="758" name="Text"/>
          <p:cNvSpPr/>
          <p:nvPr/>
        </p:nvSpPr>
        <p:spPr>
          <a:xfrm>
            <a:off x="9016000" y="5580000"/>
            <a:ext cx="15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0C47D"/>
                </a:solidFill>
                <a:latin typeface="Inter" pitchFamily="34" charset="0"/>
              </a:rPr>
              <a:t>28% · $175M</a:t>
            </a:r>
            <a:endParaRPr lang="en-US" dirty="0"/>
          </a:p>
        </p:txBody>
      </p:sp>
      <p:cxnSp>
        <p:nvCxnSpPr>
          <p:cNvPr id="759" name="Connector"/>
          <p:cNvCxnSpPr/>
          <p:nvPr/>
        </p:nvCxnSpPr>
        <p:spPr>
          <a:xfrm>
            <a:off x="7539600" y="5500000"/>
            <a:ext cx="526400" cy="195000"/>
          </a:xfrm>
          <a:prstGeom prst="line">
            <a:avLst/>
          </a:prstGeom>
          <a:ln w="19050">
            <a:solidFill>
              <a:srgbClr val="00C47D"/>
            </a:solidFill>
            <a:tailEnd type="triangle" w="med" len="med"/>
          </a:ln>
        </p:spPr>
      </p:cxnSp>
      <p:sp>
        <p:nvSpPr>
          <p:cNvPr id="760" name="Card"/>
          <p:cNvSpPr/>
          <p:nvPr/>
        </p:nvSpPr>
        <p:spPr>
          <a:xfrm>
            <a:off x="8066000" y="5850000"/>
            <a:ext cx="2600000" cy="230000"/>
          </a:xfrm>
          <a:prstGeom prst="roundRect">
            <a:avLst>
              <a:gd name="adj" fmla="val 5000"/>
            </a:avLst>
          </a:prstGeom>
          <a:solidFill>
            <a:srgbClr val="1E2736">
              <a:alpha val="70000"/>
            </a:srgbClr>
          </a:solidFill>
          <a:ln w="6350">
            <a:solidFill>
              <a:srgbClr val="00C47D">
                <a:alpha val="5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61" name="Text"/>
          <p:cNvSpPr/>
          <p:nvPr/>
        </p:nvSpPr>
        <p:spPr>
          <a:xfrm>
            <a:off x="8216000" y="5850000"/>
            <a:ext cx="75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Inter" pitchFamily="34" charset="0"/>
              </a:rPr>
              <a:t>Reid</a:t>
            </a:r>
            <a:endParaRPr lang="en-US" dirty="0"/>
          </a:p>
        </p:txBody>
      </p:sp>
      <p:sp>
        <p:nvSpPr>
          <p:cNvPr id="762" name="Text"/>
          <p:cNvSpPr/>
          <p:nvPr/>
        </p:nvSpPr>
        <p:spPr>
          <a:xfrm>
            <a:off x="9016000" y="5850000"/>
            <a:ext cx="1500000" cy="23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/>
            <a:r>
              <a:rPr lang="en-US" sz="1000" b="1" dirty="0">
                <a:solidFill>
                  <a:srgbClr val="00C47D"/>
                </a:solidFill>
                <a:latin typeface="Inter" pitchFamily="34" charset="0"/>
              </a:rPr>
              <a:t>22% · $135M</a:t>
            </a:r>
            <a:endParaRPr lang="en-US" dirty="0"/>
          </a:p>
        </p:txBody>
      </p:sp>
      <p:cxnSp>
        <p:nvCxnSpPr>
          <p:cNvPr id="763" name="Connector"/>
          <p:cNvCxnSpPr/>
          <p:nvPr/>
        </p:nvCxnSpPr>
        <p:spPr>
          <a:xfrm>
            <a:off x="7539600" y="5500000"/>
            <a:ext cx="526400" cy="465000"/>
          </a:xfrm>
          <a:prstGeom prst="line">
            <a:avLst/>
          </a:prstGeom>
          <a:ln w="19050">
            <a:solidFill>
              <a:srgbClr val="00C47D"/>
            </a:solidFill>
            <a:tailEnd type="triangle" w="med" len="med"/>
          </a:ln>
        </p:spPr>
      </p:cxnSp>
      <p:sp>
        <p:nvSpPr>
          <p:cNvPr id="764" name="Card"/>
          <p:cNvSpPr/>
          <p:nvPr/>
        </p:nvSpPr>
        <p:spPr>
          <a:xfrm>
            <a:off x="609600" y="6300000"/>
            <a:ext cx="10972800" cy="48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>
                <a:alpha val="10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65" name="Text"/>
          <p:cNvSpPr/>
          <p:nvPr/>
        </p:nvSpPr>
        <p:spPr>
          <a:xfrm>
            <a:off x="809600" y="6300000"/>
            <a:ext cx="10372800" cy="4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300" b="1" dirty="0">
                <a:solidFill>
                  <a:srgbClr val="FFFFFF"/>
                </a:solidFill>
                <a:latin typeface="Inter" pitchFamily="34" charset="0"/>
              </a:rPr>
              <a:t>One consistent record per advisor, direct or allocated.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Ready: Semantic Layer and MCP Server</a:t>
            </a:r>
            <a:endParaRPr lang="en-US" dirty="0"/>
          </a:p>
        </p:txBody>
      </p:sp>
      <p:sp>
        <p:nvSpPr>
          <p:cNvPr id="167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documented semantic layer and governed MCP server make the unified data immediately usable by any compliant AI tool.</a:t>
            </a:r>
            <a:endParaRPr lang="en-US" dirty="0"/>
          </a:p>
        </p:txBody>
      </p:sp>
      <p:sp>
        <p:nvSpPr>
          <p:cNvPr id="168" name="Card"/>
          <p:cNvSpPr/>
          <p:nvPr/>
        </p:nvSpPr>
        <p:spPr>
          <a:xfrm>
            <a:off x="609600" y="1750000"/>
            <a:ext cx="6781800" cy="106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"/>
          <p:cNvSpPr/>
          <p:nvPr/>
        </p:nvSpPr>
        <p:spPr>
          <a:xfrm>
            <a:off x="859600" y="1900000"/>
            <a:ext cx="62818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Documented field catalog</a:t>
            </a:r>
            <a:endParaRPr lang="en-US" dirty="0"/>
          </a:p>
        </p:txBody>
      </p:sp>
      <p:sp>
        <p:nvSpPr>
          <p:cNvPr id="170" name="Text"/>
          <p:cNvSpPr/>
          <p:nvPr/>
        </p:nvSpPr>
        <p:spPr>
          <a:xfrm>
            <a:off x="859600" y="2310000"/>
            <a:ext cx="6281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data element defined per pack, with valid values, joins, lineage, and source of record notes.</a:t>
            </a:r>
            <a:endParaRPr lang="en-US" dirty="0"/>
          </a:p>
        </p:txBody>
      </p:sp>
      <p:sp>
        <p:nvSpPr>
          <p:cNvPr id="171" name="Card"/>
          <p:cNvSpPr/>
          <p:nvPr/>
        </p:nvSpPr>
        <p:spPr>
          <a:xfrm>
            <a:off x="609600" y="2930000"/>
            <a:ext cx="6781800" cy="106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2" name="Text"/>
          <p:cNvSpPr/>
          <p:nvPr/>
        </p:nvSpPr>
        <p:spPr>
          <a:xfrm>
            <a:off x="859600" y="3080000"/>
            <a:ext cx="62818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Shared vocabulary</a:t>
            </a:r>
            <a:endParaRPr lang="en-US" dirty="0"/>
          </a:p>
        </p:txBody>
      </p:sp>
      <p:sp>
        <p:nvSpPr>
          <p:cNvPr id="173" name="Text"/>
          <p:cNvSpPr/>
          <p:nvPr/>
        </p:nvSpPr>
        <p:spPr>
          <a:xfrm>
            <a:off x="859600" y="3490000"/>
            <a:ext cx="6281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Metrics, hierarchies, and identifiers mean the same thing to every tool, every agent, and every analyst.</a:t>
            </a:r>
            <a:endParaRPr lang="en-US" dirty="0"/>
          </a:p>
        </p:txBody>
      </p:sp>
      <p:sp>
        <p:nvSpPr>
          <p:cNvPr id="174" name="Card"/>
          <p:cNvSpPr/>
          <p:nvPr/>
        </p:nvSpPr>
        <p:spPr>
          <a:xfrm>
            <a:off x="609600" y="4110000"/>
            <a:ext cx="6781800" cy="106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5" name="Text"/>
          <p:cNvSpPr/>
          <p:nvPr/>
        </p:nvSpPr>
        <p:spPr>
          <a:xfrm>
            <a:off x="859600" y="4260000"/>
            <a:ext cx="62818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Governed MCP access</a:t>
            </a:r>
            <a:endParaRPr lang="en-US" dirty="0"/>
          </a:p>
        </p:txBody>
      </p:sp>
      <p:sp>
        <p:nvSpPr>
          <p:cNvPr id="176" name="Text"/>
          <p:cNvSpPr/>
          <p:nvPr/>
        </p:nvSpPr>
        <p:spPr>
          <a:xfrm>
            <a:off x="859600" y="4670000"/>
            <a:ext cx="6281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Scoped, audited, AI ready access so copilots and agents query the data with full context.</a:t>
            </a:r>
            <a:endParaRPr lang="en-US" dirty="0"/>
          </a:p>
        </p:txBody>
      </p:sp>
      <p:sp>
        <p:nvSpPr>
          <p:cNvPr id="177" name="Card"/>
          <p:cNvSpPr/>
          <p:nvPr/>
        </p:nvSpPr>
        <p:spPr>
          <a:xfrm>
            <a:off x="609600" y="5290000"/>
            <a:ext cx="6781800" cy="106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8" name="Text"/>
          <p:cNvSpPr/>
          <p:nvPr/>
        </p:nvSpPr>
        <p:spPr>
          <a:xfrm>
            <a:off x="859600" y="5440000"/>
            <a:ext cx="62818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into your AI workflows</a:t>
            </a:r>
            <a:endParaRPr lang="en-US" dirty="0"/>
          </a:p>
        </p:txBody>
      </p:sp>
      <p:sp>
        <p:nvSpPr>
          <p:cNvPr id="179" name="Text"/>
          <p:cNvSpPr/>
          <p:nvPr/>
        </p:nvSpPr>
        <p:spPr>
          <a:xfrm>
            <a:off x="859600" y="5850000"/>
            <a:ext cx="6281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Plug the MCP server into internal copilots, agent frameworks, and analytics assistants from day one.</a:t>
            </a:r>
            <a:endParaRPr lang="en-US" dirty="0"/>
          </a:p>
        </p:txBody>
      </p:sp>
      <p:sp>
        <p:nvSpPr>
          <p:cNvPr id="180" name="Card"/>
          <p:cNvSpPr/>
          <p:nvPr/>
        </p:nvSpPr>
        <p:spPr>
          <a:xfrm>
            <a:off x="7581600" y="1750000"/>
            <a:ext cx="4000800" cy="449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81" name="Text"/>
          <p:cNvSpPr/>
          <p:nvPr/>
        </p:nvSpPr>
        <p:spPr>
          <a:xfrm>
            <a:off x="7831600" y="2050000"/>
            <a:ext cx="3500800" cy="3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TO VALUE</a:t>
            </a:r>
            <a:endParaRPr lang="en-US" dirty="0"/>
          </a:p>
        </p:txBody>
      </p:sp>
      <p:sp>
        <p:nvSpPr>
          <p:cNvPr id="182" name="Text"/>
          <p:cNvSpPr/>
          <p:nvPr/>
        </p:nvSpPr>
        <p:spPr>
          <a:xfrm>
            <a:off x="7831600" y="2500000"/>
            <a:ext cx="3500800" cy="10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5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to 18</a:t>
            </a:r>
            <a:endParaRPr lang="en-US" dirty="0"/>
          </a:p>
        </p:txBody>
      </p:sp>
      <p:sp>
        <p:nvSpPr>
          <p:cNvPr id="183" name="Text"/>
          <p:cNvSpPr/>
          <p:nvPr/>
        </p:nvSpPr>
        <p:spPr>
          <a:xfrm>
            <a:off x="7831600" y="3550000"/>
            <a:ext cx="3500800" cy="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months of internal data work eliminated</a:t>
            </a:r>
            <a:endParaRPr lang="en-US" dirty="0"/>
          </a:p>
        </p:txBody>
      </p:sp>
      <p:sp>
        <p:nvSpPr>
          <p:cNvPr id="184" name="Text"/>
          <p:cNvSpPr/>
          <p:nvPr/>
        </p:nvSpPr>
        <p:spPr>
          <a:xfrm>
            <a:off x="7831600" y="4350000"/>
            <a:ext cx="3500800" cy="16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is what it typically takes a domain expert team to make distribution data AI ready in house. Field delivers it as a durable asset that compounds in value as packs and models are added.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Clean Data Does For Sales Leaders</a:t>
            </a:r>
            <a:endParaRPr lang="en-US" dirty="0"/>
          </a:p>
        </p:txBody>
      </p:sp>
      <p:sp>
        <p:nvSpPr>
          <p:cNvPr id="102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sales leadership gains once the data is unified.</a:t>
            </a:r>
            <a:endParaRPr lang="en-US" dirty="0"/>
          </a:p>
        </p:txBody>
      </p:sp>
      <p:sp>
        <p:nvSpPr>
          <p:cNvPr id="200" name="Card"/>
          <p:cNvSpPr/>
          <p:nvPr/>
        </p:nvSpPr>
        <p:spPr>
          <a:xfrm>
            <a:off x="609600" y="165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1" name="Chip"/>
          <p:cNvSpPr/>
          <p:nvPr/>
        </p:nvSpPr>
        <p:spPr>
          <a:xfrm>
            <a:off x="829600" y="182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</a:t>
            </a:r>
            <a:endParaRPr lang="en-US" dirty="0"/>
          </a:p>
        </p:txBody>
      </p:sp>
      <p:sp>
        <p:nvSpPr>
          <p:cNvPr id="202" name="Text"/>
          <p:cNvSpPr/>
          <p:nvPr/>
        </p:nvSpPr>
        <p:spPr>
          <a:xfrm>
            <a:off x="1369600" y="180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territory view</a:t>
            </a:r>
            <a:endParaRPr lang="en-US" dirty="0"/>
          </a:p>
        </p:txBody>
      </p:sp>
      <p:sp>
        <p:nvSpPr>
          <p:cNvPr id="203" name="Text"/>
          <p:cNvSpPr/>
          <p:nvPr/>
        </p:nvSpPr>
        <p:spPr>
          <a:xfrm>
            <a:off x="1369600" y="221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opportunity across the territory in one place, not scattered spreadsheets or acting on intuition, so reps spend their time on the best opportunity instead of finding it.</a:t>
            </a:r>
            <a:endParaRPr lang="en-US" dirty="0"/>
          </a:p>
        </p:txBody>
      </p:sp>
      <p:sp>
        <p:nvSpPr>
          <p:cNvPr id="210" name="Card"/>
          <p:cNvSpPr/>
          <p:nvPr/>
        </p:nvSpPr>
        <p:spPr>
          <a:xfrm>
            <a:off x="6242400" y="165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11" name="Chip"/>
          <p:cNvSpPr/>
          <p:nvPr/>
        </p:nvSpPr>
        <p:spPr>
          <a:xfrm>
            <a:off x="6462400" y="182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dirty="0"/>
          </a:p>
        </p:txBody>
      </p:sp>
      <p:sp>
        <p:nvSpPr>
          <p:cNvPr id="212" name="Text"/>
          <p:cNvSpPr/>
          <p:nvPr/>
        </p:nvSpPr>
        <p:spPr>
          <a:xfrm>
            <a:off x="7002400" y="180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leadership can act on</a:t>
            </a:r>
            <a:endParaRPr lang="en-US" dirty="0"/>
          </a:p>
        </p:txBody>
      </p:sp>
      <p:sp>
        <p:nvSpPr>
          <p:cNvPr id="213" name="Text"/>
          <p:cNvSpPr/>
          <p:nvPr/>
        </p:nvSpPr>
        <p:spPr>
          <a:xfrm>
            <a:off x="7002400" y="221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sees opportunity versus coverage, not just their own sales and activity counts, and can allocate resources accordingly.</a:t>
            </a:r>
            <a:endParaRPr lang="en-US" dirty="0"/>
          </a:p>
        </p:txBody>
      </p:sp>
      <p:sp>
        <p:nvSpPr>
          <p:cNvPr id="220" name="Card"/>
          <p:cNvSpPr/>
          <p:nvPr/>
        </p:nvSpPr>
        <p:spPr>
          <a:xfrm>
            <a:off x="609600" y="294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21" name="Chip"/>
          <p:cNvSpPr/>
          <p:nvPr/>
        </p:nvSpPr>
        <p:spPr>
          <a:xfrm>
            <a:off x="829600" y="311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</a:t>
            </a:r>
            <a:endParaRPr lang="en-US" dirty="0"/>
          </a:p>
        </p:txBody>
      </p:sp>
      <p:sp>
        <p:nvSpPr>
          <p:cNvPr id="222" name="Text"/>
          <p:cNvSpPr/>
          <p:nvPr/>
        </p:nvSpPr>
        <p:spPr>
          <a:xfrm>
            <a:off x="1369600" y="309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competitive signal</a:t>
            </a:r>
            <a:endParaRPr lang="en-US" dirty="0"/>
          </a:p>
        </p:txBody>
      </p:sp>
      <p:sp>
        <p:nvSpPr>
          <p:cNvPr id="223" name="Text"/>
          <p:cNvSpPr/>
          <p:nvPr/>
        </p:nvSpPr>
        <p:spPr>
          <a:xfrm>
            <a:off x="1369600" y="350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Track money in motion and spot the opportunity to gain market share while there’s still time to act, not months after the flows already happened.</a:t>
            </a:r>
            <a:endParaRPr lang="en-US" dirty="0"/>
          </a:p>
        </p:txBody>
      </p:sp>
      <p:sp>
        <p:nvSpPr>
          <p:cNvPr id="230" name="Card"/>
          <p:cNvSpPr/>
          <p:nvPr/>
        </p:nvSpPr>
        <p:spPr>
          <a:xfrm>
            <a:off x="6242400" y="294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1" name="Chip"/>
          <p:cNvSpPr/>
          <p:nvPr/>
        </p:nvSpPr>
        <p:spPr>
          <a:xfrm>
            <a:off x="6462400" y="311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dirty="0"/>
          </a:p>
        </p:txBody>
      </p:sp>
      <p:sp>
        <p:nvSpPr>
          <p:cNvPr id="232" name="Text"/>
          <p:cNvSpPr/>
          <p:nvPr/>
        </p:nvSpPr>
        <p:spPr>
          <a:xfrm>
            <a:off x="7002400" y="309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Faster wholesaler ramp</a:t>
            </a:r>
            <a:endParaRPr lang="en-US" dirty="0"/>
          </a:p>
        </p:txBody>
      </p:sp>
      <p:sp>
        <p:nvSpPr>
          <p:cNvPr id="233" name="Text"/>
          <p:cNvSpPr/>
          <p:nvPr/>
        </p:nvSpPr>
        <p:spPr>
          <a:xfrm>
            <a:off x="7002400" y="350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hires inherit territory intelligence on day one, instead of combing through old CRM notes or relying on memory.</a:t>
            </a:r>
            <a:endParaRPr lang="en-US" dirty="0"/>
          </a:p>
        </p:txBody>
      </p:sp>
      <p:sp>
        <p:nvSpPr>
          <p:cNvPr id="240" name="Card"/>
          <p:cNvSpPr/>
          <p:nvPr/>
        </p:nvSpPr>
        <p:spPr>
          <a:xfrm>
            <a:off x="609600" y="423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1" name="Chip"/>
          <p:cNvSpPr/>
          <p:nvPr/>
        </p:nvSpPr>
        <p:spPr>
          <a:xfrm>
            <a:off x="829600" y="440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dirty="0"/>
          </a:p>
        </p:txBody>
      </p:sp>
      <p:sp>
        <p:nvSpPr>
          <p:cNvPr id="242" name="Text"/>
          <p:cNvSpPr/>
          <p:nvPr/>
        </p:nvSpPr>
        <p:spPr>
          <a:xfrm>
            <a:off x="1369600" y="438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</a:t>
            </a:r>
            <a:endParaRPr lang="en-US" dirty="0"/>
          </a:p>
        </p:txBody>
      </p:sp>
      <p:sp>
        <p:nvSpPr>
          <p:cNvPr id="243" name="Text"/>
          <p:cNvSpPr/>
          <p:nvPr/>
        </p:nvSpPr>
        <p:spPr>
          <a:xfrm>
            <a:off x="1369600" y="479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Performance and fee advantage attributed to advisors and teams.</a:t>
            </a:r>
            <a:endParaRPr lang="en-US" dirty="0"/>
          </a:p>
        </p:txBody>
      </p:sp>
      <p:sp>
        <p:nvSpPr>
          <p:cNvPr id="250" name="Card"/>
          <p:cNvSpPr/>
          <p:nvPr/>
        </p:nvSpPr>
        <p:spPr>
          <a:xfrm>
            <a:off x="6242400" y="423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1" name="Chip"/>
          <p:cNvSpPr/>
          <p:nvPr/>
        </p:nvSpPr>
        <p:spPr>
          <a:xfrm>
            <a:off x="6462400" y="440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06</a:t>
            </a:r>
            <a:endParaRPr lang="en-US" dirty="0"/>
          </a:p>
        </p:txBody>
      </p:sp>
      <p:sp>
        <p:nvSpPr>
          <p:cNvPr id="252" name="Text"/>
          <p:cNvSpPr/>
          <p:nvPr/>
        </p:nvSpPr>
        <p:spPr>
          <a:xfrm>
            <a:off x="7002400" y="438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 level for every role</a:t>
            </a:r>
            <a:endParaRPr lang="en-US" dirty="0"/>
          </a:p>
        </p:txBody>
      </p:sp>
      <p:sp>
        <p:nvSpPr>
          <p:cNvPr id="253" name="Text"/>
          <p:cNvSpPr/>
          <p:nvPr/>
        </p:nvSpPr>
        <p:spPr>
          <a:xfrm>
            <a:off x="7002400" y="479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Management, strategic accounts, wholesalers, and marketing each get insights at the level they need.</a:t>
            </a:r>
            <a:endParaRPr lang="en-US" dirty="0"/>
          </a:p>
        </p:txBody>
      </p:sp>
      <p:sp>
        <p:nvSpPr>
          <p:cNvPr id="260" name="Card"/>
          <p:cNvSpPr/>
          <p:nvPr/>
        </p:nvSpPr>
        <p:spPr>
          <a:xfrm>
            <a:off x="609600" y="552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1" name="Chip"/>
          <p:cNvSpPr/>
          <p:nvPr/>
        </p:nvSpPr>
        <p:spPr>
          <a:xfrm>
            <a:off x="829600" y="569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dirty="0"/>
          </a:p>
        </p:txBody>
      </p:sp>
      <p:sp>
        <p:nvSpPr>
          <p:cNvPr id="262" name="Text"/>
          <p:cNvSpPr/>
          <p:nvPr/>
        </p:nvSpPr>
        <p:spPr>
          <a:xfrm>
            <a:off x="1369600" y="567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compounding sales asset</a:t>
            </a:r>
            <a:endParaRPr lang="en-US" dirty="0"/>
          </a:p>
        </p:txBody>
      </p:sp>
      <p:sp>
        <p:nvSpPr>
          <p:cNvPr id="263" name="Text"/>
          <p:cNvSpPr/>
          <p:nvPr/>
        </p:nvSpPr>
        <p:spPr>
          <a:xfrm>
            <a:off x="1369600" y="608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same foundation gets sharper as CRM data, propensity scores, and new packs are added.</a:t>
            </a:r>
            <a:endParaRPr lang="en-US" dirty="0"/>
          </a:p>
        </p:txBody>
      </p:sp>
      <p:sp>
        <p:nvSpPr>
          <p:cNvPr id="270" name="Card"/>
          <p:cNvSpPr/>
          <p:nvPr/>
        </p:nvSpPr>
        <p:spPr>
          <a:xfrm>
            <a:off x="6242400" y="5520000"/>
            <a:ext cx="5340000" cy="112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71" name="Chip"/>
          <p:cNvSpPr/>
          <p:nvPr/>
        </p:nvSpPr>
        <p:spPr>
          <a:xfrm>
            <a:off x="6462400" y="5690000"/>
            <a:ext cx="380000" cy="380000"/>
          </a:xfrm>
          <a:prstGeom prst="rect">
            <a:avLst/>
          </a:prstGeom>
          <a:solidFill>
            <a:srgbClr val="00C47D">
              <a:alpha val="9000"/>
            </a:srgbClr>
          </a:solidFill>
          <a:ln w="12700">
            <a:solidFill>
              <a:srgbClr val="00C47D">
                <a:alpha val="22000"/>
              </a:srgbClr>
            </a:solidFill>
            <a:prstDash val="solid"/>
          </a:ln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08</a:t>
            </a:r>
            <a:endParaRPr lang="en-US" dirty="0"/>
          </a:p>
        </p:txBody>
      </p:sp>
      <p:sp>
        <p:nvSpPr>
          <p:cNvPr id="272" name="Text"/>
          <p:cNvSpPr/>
          <p:nvPr/>
        </p:nvSpPr>
        <p:spPr>
          <a:xfrm>
            <a:off x="7002400" y="5670000"/>
            <a:ext cx="4360000" cy="38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optimization</a:t>
            </a:r>
            <a:endParaRPr lang="en-US" dirty="0"/>
          </a:p>
        </p:txBody>
      </p:sp>
      <p:sp>
        <p:nvSpPr>
          <p:cNvPr id="273" name="Text"/>
          <p:cNvSpPr/>
          <p:nvPr/>
        </p:nvSpPr>
        <p:spPr>
          <a:xfrm>
            <a:off x="7002400" y="6080000"/>
            <a:ext cx="4360000" cy="5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Rebalance coverage around real opportunity while keeping disruption to existing relationships to a minimum.</a:t>
            </a: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a Question. Get a Client Ready Answer.</a:t>
            </a:r>
            <a:endParaRPr lang="en-US" dirty="0"/>
          </a:p>
        </p:txBody>
      </p:sp>
      <p:sp>
        <p:nvSpPr>
          <p:cNvPr id="216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English questions over every pack, with results that drill straight into advisor detail.</a:t>
            </a:r>
            <a:endParaRPr lang="en-US" dirty="0"/>
          </a:p>
        </p:txBody>
      </p:sp>
      <p:pic>
        <p:nvPicPr>
          <p:cNvPr id="217" name="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2000000"/>
            <a:ext cx="3681982" cy="2043500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pic>
        <p:nvPicPr>
          <p:cNvPr id="218" name="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67871" y="3350000"/>
            <a:ext cx="3681982" cy="2054706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pic>
        <p:nvPicPr>
          <p:cNvPr id="219" name="Dashboard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3718" y="1075765"/>
            <a:ext cx="3128682" cy="5254235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sp>
        <p:nvSpPr>
          <p:cNvPr id="220" name="Text"/>
          <p:cNvSpPr/>
          <p:nvPr/>
        </p:nvSpPr>
        <p:spPr>
          <a:xfrm>
            <a:off x="5435948" y="2050000"/>
            <a:ext cx="2640000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Ask Field. </a:t>
            </a:r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interactive AI agent with suggested prompts, or simply ask in plain English.</a:t>
            </a:r>
            <a:endParaRPr lang="en-US" dirty="0"/>
          </a:p>
        </p:txBody>
      </p:sp>
      <p:sp>
        <p:nvSpPr>
          <p:cNvPr id="221" name="Text"/>
          <p:cNvSpPr/>
          <p:nvPr/>
        </p:nvSpPr>
        <p:spPr>
          <a:xfrm>
            <a:off x="5435948" y="3450000"/>
            <a:ext cx="2640000" cy="13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Results. </a:t>
            </a:r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Ranked answers with key insights, ready to drill into the client detail page.</a:t>
            </a:r>
            <a:endParaRPr lang="en-US" dirty="0"/>
          </a:p>
        </p:txBody>
      </p:sp>
      <p:sp>
        <p:nvSpPr>
          <p:cNvPr id="222" name="Text"/>
          <p:cNvSpPr/>
          <p:nvPr/>
        </p:nvSpPr>
        <p:spPr>
          <a:xfrm>
            <a:off x="5435948" y="4850000"/>
            <a:ext cx="2640000" cy="17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 detail. </a:t>
            </a:r>
            <a:r>
              <a:rPr lang="en-US" sz="1133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single view of the advisor or team: allocation, your competitive advantage, and money in motion versus prior periods.</a:t>
            </a: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Leadership</a:t>
            </a:r>
            <a:endParaRPr lang="en-US" dirty="0"/>
          </a:p>
        </p:txBody>
      </p:sp>
      <p:sp>
        <p:nvSpPr>
          <p:cNvPr id="210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opportunity across all packs, your portion, and market share by AUM, inflows, and net flows. Fully interactive, filter any way you need.</a:t>
            </a:r>
            <a:endParaRPr lang="en-US" dirty="0"/>
          </a:p>
        </p:txBody>
      </p:sp>
      <p:pic>
        <p:nvPicPr>
          <p:cNvPr id="211" name="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900000"/>
            <a:ext cx="6200000" cy="3479000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pic>
        <p:nvPicPr>
          <p:cNvPr id="212" name="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9600" y="1900000"/>
            <a:ext cx="4200000" cy="3423000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sp>
        <p:nvSpPr>
          <p:cNvPr id="213" name="Text"/>
          <p:cNvSpPr/>
          <p:nvPr/>
        </p:nvSpPr>
        <p:spPr>
          <a:xfrm>
            <a:off x="609600" y="5600000"/>
            <a:ext cx="6200000" cy="1100000"/>
          </a:xfrm>
          <a:prstGeom prst="rect">
            <a:avLst/>
          </a:prstGeom>
          <a:noFill/>
          <a:ln/>
        </p:spPr>
        <p:txBody>
          <a:bodyPr wrap="square" lIns="0" rIns="0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Management view.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unified view across the entire sales team. Stack rank the team, or isolate a salesperson, firm, vehicle, or asset class for deeper insight.</a:t>
            </a:r>
            <a:endParaRPr lang="en-US" dirty="0"/>
          </a:p>
        </p:txBody>
      </p:sp>
      <p:sp>
        <p:nvSpPr>
          <p:cNvPr id="214" name="Text"/>
          <p:cNvSpPr/>
          <p:nvPr/>
        </p:nvSpPr>
        <p:spPr>
          <a:xfrm>
            <a:off x="7359600" y="5600000"/>
            <a:ext cx="4200000" cy="1100000"/>
          </a:xfrm>
          <a:prstGeom prst="rect">
            <a:avLst/>
          </a:prstGeom>
          <a:noFill/>
          <a:ln/>
        </p:spPr>
        <p:txBody>
          <a:bodyPr wrap="square" lIns="0" rIns="0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 view.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Any firm in depth, broken down by platform, vehicle, and asset class.</a:t>
            </a:r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for Wholesalers</a:t>
            </a:r>
            <a:endParaRPr lang="en-US" dirty="0"/>
          </a:p>
        </p:txBody>
      </p:sp>
      <p:sp>
        <p:nvSpPr>
          <p:cNvPr id="224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Territory depth without the spreadsheet work. The best opportunities across every subscribed pack.</a:t>
            </a:r>
            <a:endParaRPr lang="en-US" dirty="0"/>
          </a:p>
        </p:txBody>
      </p:sp>
      <p:pic>
        <p:nvPicPr>
          <p:cNvPr id="225" name="Dashboard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800000"/>
            <a:ext cx="5350000" cy="2981000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pic>
        <p:nvPicPr>
          <p:cNvPr id="226" name="Dash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9600" y="1800000"/>
            <a:ext cx="5350000" cy="2933000"/>
          </a:xfrm>
          <a:prstGeom prst="rect">
            <a:avLst/>
          </a:prstGeom>
          <a:ln w="12700">
            <a:solidFill>
              <a:srgbClr val="374151"/>
            </a:solidFill>
          </a:ln>
        </p:spPr>
      </p:pic>
      <p:sp>
        <p:nvSpPr>
          <p:cNvPr id="227" name="Text"/>
          <p:cNvSpPr/>
          <p:nvPr/>
        </p:nvSpPr>
        <p:spPr>
          <a:xfrm>
            <a:off x="609600" y="5050000"/>
            <a:ext cx="5350000" cy="1500000"/>
          </a:xfrm>
          <a:prstGeom prst="rect">
            <a:avLst/>
          </a:prstGeom>
          <a:noFill/>
          <a:ln/>
        </p:spPr>
        <p:txBody>
          <a:bodyPr wrap="square" lIns="0" rIns="0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Opportunity dashboard.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Unified data at the FA level, fully interactive. The heat map shows opportunity and market share across the territory. The tree chart shows focus products and availability.</a:t>
            </a:r>
            <a:endParaRPr lang="en-US" dirty="0"/>
          </a:p>
        </p:txBody>
      </p:sp>
      <p:sp>
        <p:nvSpPr>
          <p:cNvPr id="228" name="Text"/>
          <p:cNvSpPr/>
          <p:nvPr/>
        </p:nvSpPr>
        <p:spPr>
          <a:xfrm>
            <a:off x="6209600" y="5050000"/>
            <a:ext cx="5350000" cy="1500000"/>
          </a:xfrm>
          <a:prstGeom prst="rect">
            <a:avLst/>
          </a:prstGeom>
          <a:noFill/>
          <a:ln/>
        </p:spPr>
        <p:txBody>
          <a:bodyPr wrap="square" lIns="0" rIns="0" rtlCol="0" anchor="t"/>
          <a:lstStyle/>
          <a:p>
            <a:pPr algn="l"/>
            <a:r>
              <a:rPr lang="en-US" sz="13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Competitive advantage.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win on performance or fees versus what the advisor holds today. Isolate a client or category for breakdowns by vehicle, advantage variance, and rank.</a:t>
            </a:r>
            <a:endParaRPr lang="en-US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Foundation Compounds</a:t>
            </a:r>
            <a:endParaRPr lang="en-US" dirty="0"/>
          </a:p>
        </p:txBody>
      </p:sp>
      <p:sp>
        <p:nvSpPr>
          <p:cNvPr id="254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Additional levels extend the same unified data set, semantic layer, and MCP server. Nothing gets rebuilt.</a:t>
            </a:r>
            <a:endParaRPr lang="en-US" dirty="0"/>
          </a:p>
        </p:txBody>
      </p:sp>
      <p:sp>
        <p:nvSpPr>
          <p:cNvPr id="255" name="Card"/>
          <p:cNvSpPr/>
          <p:nvPr/>
        </p:nvSpPr>
        <p:spPr>
          <a:xfrm>
            <a:off x="609600" y="1800000"/>
            <a:ext cx="5340000" cy="37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6" name="Text"/>
          <p:cNvSpPr/>
          <p:nvPr/>
        </p:nvSpPr>
        <p:spPr>
          <a:xfrm>
            <a:off x="889600" y="2050000"/>
            <a:ext cx="478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2</a:t>
            </a:r>
            <a:endParaRPr lang="en-US" dirty="0"/>
          </a:p>
        </p:txBody>
      </p:sp>
      <p:sp>
        <p:nvSpPr>
          <p:cNvPr id="257" name="Text"/>
          <p:cNvSpPr/>
          <p:nvPr/>
        </p:nvSpPr>
        <p:spPr>
          <a:xfrm>
            <a:off x="889600" y="2400000"/>
            <a:ext cx="478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Advisor and Team Intelligence</a:t>
            </a:r>
            <a:endParaRPr lang="en-US" dirty="0"/>
          </a:p>
        </p:txBody>
      </p:sp>
      <p:sp>
        <p:nvSpPr>
          <p:cNvPr id="258" name="Text"/>
          <p:cNvSpPr/>
          <p:nvPr/>
        </p:nvSpPr>
        <p:spPr>
          <a:xfrm>
            <a:off x="889600" y="29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Commercial data blended.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sales, AUM, and CRM activity joined with the market view for timely sales attribution.</a:t>
            </a:r>
            <a:endParaRPr lang="en-US" dirty="0"/>
          </a:p>
        </p:txBody>
      </p:sp>
      <p:sp>
        <p:nvSpPr>
          <p:cNvPr id="259" name="Text"/>
          <p:cNvSpPr/>
          <p:nvPr/>
        </p:nvSpPr>
        <p:spPr>
          <a:xfrm>
            <a:off x="889600" y="37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Closed loop tracking.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Distribution effectiveness measured from opportunity identified to action executed.</a:t>
            </a:r>
            <a:endParaRPr lang="en-US" dirty="0"/>
          </a:p>
        </p:txBody>
      </p:sp>
      <p:sp>
        <p:nvSpPr>
          <p:cNvPr id="260" name="Text"/>
          <p:cNvSpPr/>
          <p:nvPr/>
        </p:nvSpPr>
        <p:spPr>
          <a:xfrm>
            <a:off x="889600" y="45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CRM writeback.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and insights delivered into existing workflows via API. No new UI required.</a:t>
            </a:r>
            <a:endParaRPr lang="en-US" dirty="0"/>
          </a:p>
        </p:txBody>
      </p:sp>
      <p:sp>
        <p:nvSpPr>
          <p:cNvPr id="261" name="Card"/>
          <p:cNvSpPr/>
          <p:nvPr/>
        </p:nvSpPr>
        <p:spPr>
          <a:xfrm>
            <a:off x="6242400" y="1800000"/>
            <a:ext cx="5340000" cy="370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2" name="Text"/>
          <p:cNvSpPr/>
          <p:nvPr/>
        </p:nvSpPr>
        <p:spPr>
          <a:xfrm>
            <a:off x="6522400" y="2050000"/>
            <a:ext cx="478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LEVEL 3</a:t>
            </a:r>
            <a:endParaRPr lang="en-US" dirty="0"/>
          </a:p>
        </p:txBody>
      </p:sp>
      <p:sp>
        <p:nvSpPr>
          <p:cNvPr id="263" name="Text"/>
          <p:cNvSpPr/>
          <p:nvPr/>
        </p:nvSpPr>
        <p:spPr>
          <a:xfrm>
            <a:off x="6522400" y="2400000"/>
            <a:ext cx="478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Propensity and Targeting</a:t>
            </a:r>
            <a:endParaRPr lang="en-US" dirty="0"/>
          </a:p>
        </p:txBody>
      </p:sp>
      <p:sp>
        <p:nvSpPr>
          <p:cNvPr id="264" name="Text"/>
          <p:cNvSpPr/>
          <p:nvPr/>
        </p:nvSpPr>
        <p:spPr>
          <a:xfrm>
            <a:off x="6522400" y="29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Deeper segmentation.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 attribute scoring designed with your analytics group, beyond a simple top decile cut.</a:t>
            </a:r>
            <a:endParaRPr lang="en-US" dirty="0"/>
          </a:p>
        </p:txBody>
      </p:sp>
      <p:sp>
        <p:nvSpPr>
          <p:cNvPr id="265" name="Text"/>
          <p:cNvSpPr/>
          <p:nvPr/>
        </p:nvSpPr>
        <p:spPr>
          <a:xfrm>
            <a:off x="6522400" y="37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Propensity models.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Propensity, market basket, and regression models tuned by Field data science.</a:t>
            </a:r>
            <a:endParaRPr lang="en-US" dirty="0"/>
          </a:p>
        </p:txBody>
      </p:sp>
      <p:sp>
        <p:nvSpPr>
          <p:cNvPr id="266" name="Text"/>
          <p:cNvSpPr/>
          <p:nvPr/>
        </p:nvSpPr>
        <p:spPr>
          <a:xfrm>
            <a:off x="6522400" y="4580000"/>
            <a:ext cx="4780000" cy="74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2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Prescriptive targeting. </a:t>
            </a:r>
            <a:r>
              <a:rPr lang="en-US" sz="12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right opportunity surfaced at the right time, for the products you care about most.</a:t>
            </a:r>
            <a:endParaRPr lang="en-US" dirty="0"/>
          </a:p>
        </p:txBody>
      </p:sp>
      <p:sp>
        <p:nvSpPr>
          <p:cNvPr id="267" name="Card"/>
          <p:cNvSpPr/>
          <p:nvPr/>
        </p:nvSpPr>
        <p:spPr>
          <a:xfrm>
            <a:off x="609600" y="5750000"/>
            <a:ext cx="10972800" cy="62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68" name="Text"/>
          <p:cNvSpPr/>
          <p:nvPr/>
        </p:nvSpPr>
        <p:spPr>
          <a:xfrm>
            <a:off x="809600" y="5750000"/>
            <a:ext cx="10572800" cy="62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durable asset that compounds in value </a:t>
            </a:r>
            <a:r>
              <a:rPr lang="en-US" sz="1400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packs, commercial data, and models are added.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5A7E61-004E-9C74-5317-F611E105F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ard 26">
            <a:extLst>
              <a:ext uri="{FF2B5EF4-FFF2-40B4-BE49-F238E27FC236}">
                <a16:creationId xmlns:a16="http://schemas.microsoft.com/office/drawing/2014/main" id="{219A1D52-F382-E855-3576-2603C6664725}"/>
              </a:ext>
            </a:extLst>
          </p:cNvPr>
          <p:cNvSpPr/>
          <p:nvPr/>
        </p:nvSpPr>
        <p:spPr>
          <a:xfrm>
            <a:off x="6174696" y="4210509"/>
            <a:ext cx="4493842" cy="1227649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8" name="Card 26">
            <a:extLst>
              <a:ext uri="{FF2B5EF4-FFF2-40B4-BE49-F238E27FC236}">
                <a16:creationId xmlns:a16="http://schemas.microsoft.com/office/drawing/2014/main" id="{02E59B2C-E643-6AB1-1703-27FDFBEB754D}"/>
              </a:ext>
            </a:extLst>
          </p:cNvPr>
          <p:cNvSpPr/>
          <p:nvPr/>
        </p:nvSpPr>
        <p:spPr>
          <a:xfrm>
            <a:off x="1568425" y="4210509"/>
            <a:ext cx="4493842" cy="1227649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3" name="Card 26">
            <a:extLst>
              <a:ext uri="{FF2B5EF4-FFF2-40B4-BE49-F238E27FC236}">
                <a16:creationId xmlns:a16="http://schemas.microsoft.com/office/drawing/2014/main" id="{EF763047-0C02-2C36-9E77-4497EE0E73F3}"/>
              </a:ext>
            </a:extLst>
          </p:cNvPr>
          <p:cNvSpPr/>
          <p:nvPr/>
        </p:nvSpPr>
        <p:spPr>
          <a:xfrm>
            <a:off x="4307020" y="2416160"/>
            <a:ext cx="3577961" cy="1682172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4" name="Card 26">
            <a:extLst>
              <a:ext uri="{FF2B5EF4-FFF2-40B4-BE49-F238E27FC236}">
                <a16:creationId xmlns:a16="http://schemas.microsoft.com/office/drawing/2014/main" id="{15E04F1F-19F2-F708-AC8C-7B9CAE56D596}"/>
              </a:ext>
            </a:extLst>
          </p:cNvPr>
          <p:cNvSpPr/>
          <p:nvPr/>
        </p:nvSpPr>
        <p:spPr>
          <a:xfrm>
            <a:off x="7959468" y="2416160"/>
            <a:ext cx="3577961" cy="1682172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Card 26">
            <a:extLst>
              <a:ext uri="{FF2B5EF4-FFF2-40B4-BE49-F238E27FC236}">
                <a16:creationId xmlns:a16="http://schemas.microsoft.com/office/drawing/2014/main" id="{89418FD4-2CB2-53B2-3B5A-C2F4A22652D3}"/>
              </a:ext>
            </a:extLst>
          </p:cNvPr>
          <p:cNvSpPr/>
          <p:nvPr/>
        </p:nvSpPr>
        <p:spPr>
          <a:xfrm>
            <a:off x="654572" y="2416160"/>
            <a:ext cx="3577961" cy="1682172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" name="Title">
            <a:extLst>
              <a:ext uri="{FF2B5EF4-FFF2-40B4-BE49-F238E27FC236}">
                <a16:creationId xmlns:a16="http://schemas.microsoft.com/office/drawing/2014/main" id="{ED44DBF3-4F16-4BB6-8330-AEDB483F57A8}"/>
              </a:ext>
            </a:extLst>
          </p:cNvPr>
          <p:cNvSpPr/>
          <p:nvPr/>
        </p:nvSpPr>
        <p:spPr>
          <a:xfrm>
            <a:off x="609600" y="560833"/>
            <a:ext cx="10972800" cy="805122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pPr>
              <a:lnSpc>
                <a:spcPct val="110000"/>
              </a:lnSpc>
            </a:pPr>
            <a:r>
              <a:rPr lang="en-US" sz="3200" b="1" dirty="0">
                <a:solidFill>
                  <a:srgbClr val="FFFFFF"/>
                </a:solidFill>
                <a:latin typeface="Inter"/>
              </a:rPr>
              <a:t>Why Field</a:t>
            </a:r>
          </a:p>
        </p:txBody>
      </p:sp>
      <p:sp>
        <p:nvSpPr>
          <p:cNvPr id="14" name="Stat2Num">
            <a:extLst>
              <a:ext uri="{FF2B5EF4-FFF2-40B4-BE49-F238E27FC236}">
                <a16:creationId xmlns:a16="http://schemas.microsoft.com/office/drawing/2014/main" id="{A2A906A4-7390-5C57-D73D-4B46476F1C40}"/>
              </a:ext>
            </a:extLst>
          </p:cNvPr>
          <p:cNvSpPr/>
          <p:nvPr/>
        </p:nvSpPr>
        <p:spPr>
          <a:xfrm>
            <a:off x="887650" y="2473935"/>
            <a:ext cx="2330323" cy="826667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3200" b="1" dirty="0">
                <a:solidFill>
                  <a:srgbClr val="00C47D"/>
                </a:solidFill>
                <a:latin typeface="Inter"/>
              </a:rPr>
              <a:t>30 years</a:t>
            </a:r>
            <a:endParaRPr lang="en-US" sz="3200" b="1" dirty="0">
              <a:solidFill>
                <a:srgbClr val="00C47D"/>
              </a:solidFill>
              <a:latin typeface="Inter" pitchFamily="34" charset="0"/>
            </a:endParaRPr>
          </a:p>
        </p:txBody>
      </p:sp>
      <p:sp>
        <p:nvSpPr>
          <p:cNvPr id="15" name="Stat2Label">
            <a:extLst>
              <a:ext uri="{FF2B5EF4-FFF2-40B4-BE49-F238E27FC236}">
                <a16:creationId xmlns:a16="http://schemas.microsoft.com/office/drawing/2014/main" id="{0F85BD15-A46B-921C-D8D8-0AFD5F28D033}"/>
              </a:ext>
            </a:extLst>
          </p:cNvPr>
          <p:cNvSpPr/>
          <p:nvPr/>
        </p:nvSpPr>
        <p:spPr>
          <a:xfrm>
            <a:off x="887650" y="3373015"/>
            <a:ext cx="2904849" cy="322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 pitchFamily="34" charset="0"/>
              </a:rPr>
              <a:t>Distribution domain expertise</a:t>
            </a:r>
          </a:p>
        </p:txBody>
      </p:sp>
      <p:sp>
        <p:nvSpPr>
          <p:cNvPr id="7" name="Stat1Num">
            <a:extLst>
              <a:ext uri="{FF2B5EF4-FFF2-40B4-BE49-F238E27FC236}">
                <a16:creationId xmlns:a16="http://schemas.microsoft.com/office/drawing/2014/main" id="{4AADEE38-C921-062A-8C58-ACA571B1CAD0}"/>
              </a:ext>
            </a:extLst>
          </p:cNvPr>
          <p:cNvSpPr/>
          <p:nvPr/>
        </p:nvSpPr>
        <p:spPr>
          <a:xfrm>
            <a:off x="4472746" y="2471425"/>
            <a:ext cx="3087224" cy="826667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3200" b="1" dirty="0">
                <a:solidFill>
                  <a:srgbClr val="00C47D"/>
                </a:solidFill>
                <a:latin typeface="Inter"/>
              </a:rPr>
              <a:t>4.5x Sales Lift</a:t>
            </a:r>
            <a:endParaRPr lang="en-US" sz="3200" b="1" dirty="0">
              <a:solidFill>
                <a:srgbClr val="00C47D"/>
              </a:solidFill>
              <a:latin typeface="Inter" pitchFamily="34" charset="0"/>
            </a:endParaRPr>
          </a:p>
        </p:txBody>
      </p:sp>
      <p:sp>
        <p:nvSpPr>
          <p:cNvPr id="8" name="Stat1Label">
            <a:extLst>
              <a:ext uri="{FF2B5EF4-FFF2-40B4-BE49-F238E27FC236}">
                <a16:creationId xmlns:a16="http://schemas.microsoft.com/office/drawing/2014/main" id="{E858AFAD-64D0-455A-9D25-DD62BE6AF4EE}"/>
              </a:ext>
            </a:extLst>
          </p:cNvPr>
          <p:cNvSpPr/>
          <p:nvPr/>
        </p:nvSpPr>
        <p:spPr>
          <a:xfrm>
            <a:off x="4472745" y="3436280"/>
            <a:ext cx="2915683" cy="497113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/>
              </a:rPr>
              <a:t>Per activity on segmented advisors</a:t>
            </a:r>
            <a:endParaRPr lang="en-US" sz="1467" b="1" dirty="0">
              <a:solidFill>
                <a:srgbClr val="FFFFFF"/>
              </a:solidFill>
              <a:latin typeface="Inter" pitchFamily="34" charset="0"/>
            </a:endParaRPr>
          </a:p>
        </p:txBody>
      </p:sp>
      <p:sp>
        <p:nvSpPr>
          <p:cNvPr id="9" name="Stat2Num">
            <a:extLst>
              <a:ext uri="{FF2B5EF4-FFF2-40B4-BE49-F238E27FC236}">
                <a16:creationId xmlns:a16="http://schemas.microsoft.com/office/drawing/2014/main" id="{D2A34E48-18A4-0C26-851B-7CB8A8EC1EB1}"/>
              </a:ext>
            </a:extLst>
          </p:cNvPr>
          <p:cNvSpPr/>
          <p:nvPr/>
        </p:nvSpPr>
        <p:spPr>
          <a:xfrm>
            <a:off x="8011423" y="2495767"/>
            <a:ext cx="3570977" cy="826667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3200" b="1" dirty="0">
                <a:solidFill>
                  <a:srgbClr val="00C47D"/>
                </a:solidFill>
                <a:latin typeface="Inter"/>
              </a:rPr>
              <a:t>89% Conversion</a:t>
            </a:r>
            <a:endParaRPr lang="en-US" sz="3200" b="1" dirty="0">
              <a:solidFill>
                <a:srgbClr val="00C47D"/>
              </a:solidFill>
              <a:latin typeface="Inter" pitchFamily="34" charset="0"/>
            </a:endParaRPr>
          </a:p>
        </p:txBody>
      </p:sp>
      <p:sp>
        <p:nvSpPr>
          <p:cNvPr id="18" name="Stat2Label">
            <a:extLst>
              <a:ext uri="{FF2B5EF4-FFF2-40B4-BE49-F238E27FC236}">
                <a16:creationId xmlns:a16="http://schemas.microsoft.com/office/drawing/2014/main" id="{9AF3B6AE-C5C4-BAAE-A558-4E1CFCCACA90}"/>
              </a:ext>
            </a:extLst>
          </p:cNvPr>
          <p:cNvSpPr/>
          <p:nvPr/>
        </p:nvSpPr>
        <p:spPr>
          <a:xfrm>
            <a:off x="8011424" y="3489671"/>
            <a:ext cx="3375270" cy="268224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/>
              </a:rPr>
              <a:t>Up from 59% using ML algos</a:t>
            </a:r>
            <a:endParaRPr lang="en-US" sz="2400" dirty="0"/>
          </a:p>
        </p:txBody>
      </p:sp>
      <p:sp>
        <p:nvSpPr>
          <p:cNvPr id="19" name="Stat2Num">
            <a:extLst>
              <a:ext uri="{FF2B5EF4-FFF2-40B4-BE49-F238E27FC236}">
                <a16:creationId xmlns:a16="http://schemas.microsoft.com/office/drawing/2014/main" id="{23A1B5AC-DD78-0708-72B6-89F6E45F1865}"/>
              </a:ext>
            </a:extLst>
          </p:cNvPr>
          <p:cNvSpPr/>
          <p:nvPr/>
        </p:nvSpPr>
        <p:spPr>
          <a:xfrm>
            <a:off x="6284029" y="4250165"/>
            <a:ext cx="4384510" cy="826667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3200" b="1" dirty="0">
                <a:solidFill>
                  <a:srgbClr val="00C47D"/>
                </a:solidFill>
                <a:latin typeface="Inter"/>
              </a:rPr>
              <a:t>Engineering</a:t>
            </a:r>
            <a:endParaRPr lang="en-US" sz="1400" dirty="0"/>
          </a:p>
        </p:txBody>
      </p:sp>
      <p:sp>
        <p:nvSpPr>
          <p:cNvPr id="25" name="Stat2Label">
            <a:extLst>
              <a:ext uri="{FF2B5EF4-FFF2-40B4-BE49-F238E27FC236}">
                <a16:creationId xmlns:a16="http://schemas.microsoft.com/office/drawing/2014/main" id="{08E333B6-DD66-2E34-EDE3-B297EBDDEF90}"/>
              </a:ext>
            </a:extLst>
          </p:cNvPr>
          <p:cNvSpPr/>
          <p:nvPr/>
        </p:nvSpPr>
        <p:spPr>
          <a:xfrm>
            <a:off x="6284028" y="5037176"/>
            <a:ext cx="4384510" cy="268224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/>
              </a:rPr>
              <a:t>Remains focused on your strategic priorities</a:t>
            </a:r>
          </a:p>
        </p:txBody>
      </p:sp>
      <p:sp>
        <p:nvSpPr>
          <p:cNvPr id="26" name="Stat2Num">
            <a:extLst>
              <a:ext uri="{FF2B5EF4-FFF2-40B4-BE49-F238E27FC236}">
                <a16:creationId xmlns:a16="http://schemas.microsoft.com/office/drawing/2014/main" id="{3CCA531A-4874-3F60-F79D-722086458EE4}"/>
              </a:ext>
            </a:extLst>
          </p:cNvPr>
          <p:cNvSpPr/>
          <p:nvPr/>
        </p:nvSpPr>
        <p:spPr>
          <a:xfrm>
            <a:off x="1596596" y="4210509"/>
            <a:ext cx="3873020" cy="826667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3200" b="1" dirty="0">
                <a:solidFill>
                  <a:srgbClr val="00C47D"/>
                </a:solidFill>
                <a:latin typeface="Inter"/>
              </a:rPr>
              <a:t>AI Ready Data</a:t>
            </a:r>
            <a:endParaRPr lang="en-US" sz="3200" b="1" dirty="0">
              <a:solidFill>
                <a:srgbClr val="00C47D"/>
              </a:solidFill>
              <a:latin typeface="Inter" pitchFamily="34" charset="0"/>
            </a:endParaRPr>
          </a:p>
        </p:txBody>
      </p:sp>
      <p:sp>
        <p:nvSpPr>
          <p:cNvPr id="27" name="Stat2Label">
            <a:extLst>
              <a:ext uri="{FF2B5EF4-FFF2-40B4-BE49-F238E27FC236}">
                <a16:creationId xmlns:a16="http://schemas.microsoft.com/office/drawing/2014/main" id="{3E301379-FE11-BD13-A369-5325D80D38E3}"/>
              </a:ext>
            </a:extLst>
          </p:cNvPr>
          <p:cNvSpPr/>
          <p:nvPr/>
        </p:nvSpPr>
        <p:spPr>
          <a:xfrm>
            <a:off x="1655868" y="4950481"/>
            <a:ext cx="4128541" cy="388539"/>
          </a:xfrm>
          <a:prstGeom prst="rect">
            <a:avLst/>
          </a:prstGeom>
          <a:noFill/>
          <a:ln/>
        </p:spPr>
        <p:txBody>
          <a:bodyPr wrap="square" lIns="121920" tIns="60960" rIns="121920" bIns="60960" rtlCol="0" anchor="ctr"/>
          <a:lstStyle/>
          <a:p>
            <a:r>
              <a:rPr lang="en-US" sz="1467" b="1" dirty="0">
                <a:solidFill>
                  <a:srgbClr val="FFFFFF"/>
                </a:solidFill>
                <a:latin typeface="Inter"/>
              </a:rPr>
              <a:t>Foundation delivered</a:t>
            </a:r>
            <a:endParaRPr lang="en-US" sz="1467" b="1" dirty="0">
              <a:solidFill>
                <a:srgbClr val="FFFFFF"/>
              </a:solidFill>
              <a:latin typeface="Inter" pitchFamily="34" charset="0"/>
            </a:endParaRPr>
          </a:p>
        </p:txBody>
      </p:sp>
      <p:sp>
        <p:nvSpPr>
          <p:cNvPr id="21" name="Text 2">
            <a:extLst>
              <a:ext uri="{FF2B5EF4-FFF2-40B4-BE49-F238E27FC236}">
                <a16:creationId xmlns:a16="http://schemas.microsoft.com/office/drawing/2014/main" id="{4167F45B-3274-F0D4-0A2B-56BE6F6BE163}"/>
              </a:ext>
            </a:extLst>
          </p:cNvPr>
          <p:cNvSpPr/>
          <p:nvPr/>
        </p:nvSpPr>
        <p:spPr>
          <a:xfrm>
            <a:off x="685800" y="1299922"/>
            <a:ext cx="11094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9CA3AF"/>
                </a:solidFill>
                <a:latin typeface="Inter" panose="020B0603020202020204" pitchFamily="34" charset="0"/>
                <a:ea typeface="Inter" panose="020B0603020202020204" pitchFamily="34" charset="-122"/>
                <a:cs typeface="Inter" panose="020B0603020202020204" pitchFamily="34" charset="-120"/>
              </a:rPr>
              <a:t>Three decades of distribution data expertise, activating your existing investment in a foundation built to compound</a:t>
            </a:r>
          </a:p>
        </p:txBody>
      </p:sp>
    </p:spTree>
    <p:extLst>
      <p:ext uri="{BB962C8B-B14F-4D97-AF65-F5344CB8AC3E}">
        <p14:creationId xmlns:p14="http://schemas.microsoft.com/office/powerpoint/2010/main" val="283618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Live in About 90 Days</a:t>
            </a:r>
            <a:endParaRPr lang="en-US" dirty="0"/>
          </a:p>
        </p:txBody>
      </p:sp>
      <p:sp>
        <p:nvSpPr>
          <p:cNvPr id="230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Milestones and durations, not a science project. The semantic layer and MCP server build in parallel with the pipelines.</a:t>
            </a:r>
            <a:endParaRPr lang="en-US" dirty="0"/>
          </a:p>
        </p:txBody>
      </p:sp>
      <p:sp>
        <p:nvSpPr>
          <p:cNvPr id="231" name="Text"/>
          <p:cNvSpPr/>
          <p:nvPr/>
        </p:nvSpPr>
        <p:spPr>
          <a:xfrm>
            <a:off x="609600" y="2050000"/>
            <a:ext cx="20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CONNECT</a:t>
            </a:r>
            <a:endParaRPr lang="en-US" dirty="0"/>
          </a:p>
        </p:txBody>
      </p:sp>
      <p:sp>
        <p:nvSpPr>
          <p:cNvPr id="232" name="Text"/>
          <p:cNvSpPr/>
          <p:nvPr/>
        </p:nvSpPr>
        <p:spPr>
          <a:xfrm>
            <a:off x="609600" y="2430000"/>
            <a:ext cx="205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 share</a:t>
            </a:r>
            <a:endParaRPr lang="en-US" dirty="0"/>
          </a:p>
        </p:txBody>
      </p:sp>
      <p:sp>
        <p:nvSpPr>
          <p:cNvPr id="233" name="Text"/>
          <p:cNvSpPr/>
          <p:nvPr/>
        </p:nvSpPr>
        <p:spPr>
          <a:xfrm>
            <a:off x="609600" y="3300000"/>
            <a:ext cx="205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week</a:t>
            </a:r>
            <a:endParaRPr lang="en-US" dirty="0"/>
          </a:p>
        </p:txBody>
      </p:sp>
      <p:sp>
        <p:nvSpPr>
          <p:cNvPr id="234" name="Text"/>
          <p:cNvSpPr/>
          <p:nvPr/>
        </p:nvSpPr>
        <p:spPr>
          <a:xfrm>
            <a:off x="609600" y="3850000"/>
            <a:ext cx="205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Snowflake data share stood up or AWS/SFTP drop box established. Packs and team mappings flow in.</a:t>
            </a:r>
            <a:endParaRPr lang="en-US" dirty="0"/>
          </a:p>
        </p:txBody>
      </p:sp>
      <p:sp>
        <p:nvSpPr>
          <p:cNvPr id="235" name="Text"/>
          <p:cNvSpPr/>
          <p:nvPr/>
        </p:nvSpPr>
        <p:spPr>
          <a:xfrm>
            <a:off x="2840300" y="2050000"/>
            <a:ext cx="20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</a:t>
            </a:r>
            <a:endParaRPr lang="en-US" dirty="0"/>
          </a:p>
        </p:txBody>
      </p:sp>
      <p:sp>
        <p:nvSpPr>
          <p:cNvPr id="236" name="Text"/>
          <p:cNvSpPr/>
          <p:nvPr/>
        </p:nvSpPr>
        <p:spPr>
          <a:xfrm>
            <a:off x="2840300" y="2430000"/>
            <a:ext cx="205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 profiling</a:t>
            </a:r>
            <a:endParaRPr lang="en-US" dirty="0"/>
          </a:p>
        </p:txBody>
      </p:sp>
      <p:sp>
        <p:nvSpPr>
          <p:cNvPr id="237" name="Text"/>
          <p:cNvSpPr/>
          <p:nvPr/>
        </p:nvSpPr>
        <p:spPr>
          <a:xfrm>
            <a:off x="2840300" y="3300000"/>
            <a:ext cx="205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 weeks</a:t>
            </a:r>
            <a:endParaRPr lang="en-US" dirty="0"/>
          </a:p>
        </p:txBody>
      </p:sp>
      <p:sp>
        <p:nvSpPr>
          <p:cNvPr id="238" name="Text"/>
          <p:cNvSpPr/>
          <p:nvPr/>
        </p:nvSpPr>
        <p:spPr>
          <a:xfrm>
            <a:off x="2840300" y="3850000"/>
            <a:ext cx="205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pack profiled for grain, coverage, and known gaps, with the resolution approach agreed jointly.</a:t>
            </a:r>
            <a:endParaRPr lang="en-US" dirty="0"/>
          </a:p>
        </p:txBody>
      </p:sp>
      <p:sp>
        <p:nvSpPr>
          <p:cNvPr id="239" name="Text"/>
          <p:cNvSpPr/>
          <p:nvPr/>
        </p:nvSpPr>
        <p:spPr>
          <a:xfrm>
            <a:off x="5071000" y="2050000"/>
            <a:ext cx="20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DESIGN</a:t>
            </a:r>
            <a:endParaRPr lang="en-US" dirty="0"/>
          </a:p>
        </p:txBody>
      </p:sp>
      <p:sp>
        <p:nvSpPr>
          <p:cNvPr id="240" name="Text"/>
          <p:cNvSpPr/>
          <p:nvPr/>
        </p:nvSpPr>
        <p:spPr>
          <a:xfrm>
            <a:off x="5071000" y="2430000"/>
            <a:ext cx="205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Blending logic</a:t>
            </a:r>
            <a:endParaRPr lang="en-US" dirty="0"/>
          </a:p>
        </p:txBody>
      </p:sp>
      <p:sp>
        <p:nvSpPr>
          <p:cNvPr id="241" name="Text"/>
          <p:cNvSpPr/>
          <p:nvPr/>
        </p:nvSpPr>
        <p:spPr>
          <a:xfrm>
            <a:off x="5071000" y="3300000"/>
            <a:ext cx="205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weeks</a:t>
            </a:r>
            <a:endParaRPr lang="en-US" dirty="0"/>
          </a:p>
        </p:txBody>
      </p:sp>
      <p:sp>
        <p:nvSpPr>
          <p:cNvPr id="242" name="Text"/>
          <p:cNvSpPr/>
          <p:nvPr/>
        </p:nvSpPr>
        <p:spPr>
          <a:xfrm>
            <a:off x="5071000" y="3850000"/>
            <a:ext cx="205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Entity resolution rules, allocation logic, Best Piece selection, and the unified schema.</a:t>
            </a:r>
            <a:endParaRPr lang="en-US" dirty="0"/>
          </a:p>
        </p:txBody>
      </p:sp>
      <p:sp>
        <p:nvSpPr>
          <p:cNvPr id="243" name="Text"/>
          <p:cNvSpPr/>
          <p:nvPr/>
        </p:nvSpPr>
        <p:spPr>
          <a:xfrm>
            <a:off x="7301700" y="2050000"/>
            <a:ext cx="20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</a:t>
            </a:r>
            <a:endParaRPr lang="en-US" dirty="0"/>
          </a:p>
        </p:txBody>
      </p:sp>
      <p:sp>
        <p:nvSpPr>
          <p:cNvPr id="244" name="Text"/>
          <p:cNvSpPr/>
          <p:nvPr/>
        </p:nvSpPr>
        <p:spPr>
          <a:xfrm>
            <a:off x="7301700" y="2430000"/>
            <a:ext cx="205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Pipelines and MCP</a:t>
            </a:r>
            <a:endParaRPr lang="en-US" dirty="0"/>
          </a:p>
        </p:txBody>
      </p:sp>
      <p:sp>
        <p:nvSpPr>
          <p:cNvPr id="245" name="Text"/>
          <p:cNvSpPr/>
          <p:nvPr/>
        </p:nvSpPr>
        <p:spPr>
          <a:xfrm>
            <a:off x="7301700" y="3300000"/>
            <a:ext cx="205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 weeks</a:t>
            </a:r>
            <a:endParaRPr lang="en-US" dirty="0"/>
          </a:p>
        </p:txBody>
      </p:sp>
      <p:sp>
        <p:nvSpPr>
          <p:cNvPr id="246" name="Text"/>
          <p:cNvSpPr/>
          <p:nvPr/>
        </p:nvSpPr>
        <p:spPr>
          <a:xfrm>
            <a:off x="7301700" y="3850000"/>
            <a:ext cx="205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Normalization pipelines with quality controls. Semantic layer and MCP server built in parallel.</a:t>
            </a:r>
            <a:endParaRPr lang="en-US" dirty="0"/>
          </a:p>
        </p:txBody>
      </p:sp>
      <p:sp>
        <p:nvSpPr>
          <p:cNvPr id="247" name="Text"/>
          <p:cNvSpPr/>
          <p:nvPr/>
        </p:nvSpPr>
        <p:spPr>
          <a:xfrm>
            <a:off x="9532400" y="2050000"/>
            <a:ext cx="205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DELIVER</a:t>
            </a:r>
            <a:endParaRPr lang="en-US" dirty="0"/>
          </a:p>
        </p:txBody>
      </p:sp>
      <p:sp>
        <p:nvSpPr>
          <p:cNvPr id="248" name="Text"/>
          <p:cNvSpPr/>
          <p:nvPr/>
        </p:nvSpPr>
        <p:spPr>
          <a:xfrm>
            <a:off x="9532400" y="2430000"/>
            <a:ext cx="2050000" cy="8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5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Dashboards, handoff</a:t>
            </a:r>
            <a:endParaRPr lang="en-US" dirty="0"/>
          </a:p>
        </p:txBody>
      </p:sp>
      <p:sp>
        <p:nvSpPr>
          <p:cNvPr id="249" name="Text"/>
          <p:cNvSpPr/>
          <p:nvPr/>
        </p:nvSpPr>
        <p:spPr>
          <a:xfrm>
            <a:off x="9532400" y="3300000"/>
            <a:ext cx="2050000" cy="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2400" b="1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 weeks</a:t>
            </a:r>
            <a:endParaRPr lang="en-US" dirty="0"/>
          </a:p>
        </p:txBody>
      </p:sp>
      <p:sp>
        <p:nvSpPr>
          <p:cNvPr id="250" name="Text"/>
          <p:cNvSpPr/>
          <p:nvPr/>
        </p:nvSpPr>
        <p:spPr>
          <a:xfrm>
            <a:off x="9532400" y="3850000"/>
            <a:ext cx="2050000" cy="15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Dashboards and Ask Field configured with your team. Unified data returned via data share.</a:t>
            </a:r>
            <a:endParaRPr lang="en-US" dirty="0"/>
          </a:p>
        </p:txBody>
      </p:sp>
      <p:sp>
        <p:nvSpPr>
          <p:cNvPr id="251" name="Card"/>
          <p:cNvSpPr/>
          <p:nvPr/>
        </p:nvSpPr>
        <p:spPr>
          <a:xfrm>
            <a:off x="609600" y="5550000"/>
            <a:ext cx="10972800" cy="65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52" name="Text"/>
          <p:cNvSpPr/>
          <p:nvPr/>
        </p:nvSpPr>
        <p:spPr>
          <a:xfrm>
            <a:off x="809600" y="5550000"/>
            <a:ext cx="105728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Kickoff to live platform in about 90 days </a:t>
            </a:r>
            <a:r>
              <a:rPr lang="en-US" sz="1400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your actual data packs and your coverage model.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Text"/>
          <p:cNvSpPr/>
          <p:nvPr/>
        </p:nvSpPr>
        <p:spPr>
          <a:xfrm>
            <a:off x="609600" y="480000"/>
            <a:ext cx="10972800" cy="633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/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Stack. Your Team. One Data Layer.</a:t>
            </a:r>
            <a:endParaRPr lang="en-US" dirty="0"/>
          </a:p>
        </p:txBody>
      </p:sp>
      <p:sp>
        <p:nvSpPr>
          <p:cNvPr id="186" name="Text"/>
          <p:cNvSpPr/>
          <p:nvPr/>
        </p:nvSpPr>
        <p:spPr>
          <a:xfrm>
            <a:off x="609600" y="1130000"/>
            <a:ext cx="10972800" cy="40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333" i="1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does not replace your BI tools or your data team. We deliver the unified layer they build on.</a:t>
            </a:r>
            <a:endParaRPr lang="en-US" dirty="0"/>
          </a:p>
        </p:txBody>
      </p:sp>
      <p:sp>
        <p:nvSpPr>
          <p:cNvPr id="187" name="Text"/>
          <p:cNvSpPr/>
          <p:nvPr/>
        </p:nvSpPr>
        <p:spPr>
          <a:xfrm>
            <a:off x="859600" y="1700000"/>
            <a:ext cx="509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00C47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RUNS</a:t>
            </a:r>
            <a:endParaRPr lang="en-US" dirty="0"/>
          </a:p>
        </p:txBody>
      </p:sp>
      <p:sp>
        <p:nvSpPr>
          <p:cNvPr id="188" name="Text"/>
          <p:cNvSpPr/>
          <p:nvPr/>
        </p:nvSpPr>
        <p:spPr>
          <a:xfrm>
            <a:off x="6492400" y="1700000"/>
            <a:ext cx="5090000" cy="32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b="1" kern="0" spc="3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YOURS STAYS YOURS</a:t>
            </a:r>
            <a:endParaRPr lang="en-US" dirty="0"/>
          </a:p>
        </p:txBody>
      </p:sp>
      <p:sp>
        <p:nvSpPr>
          <p:cNvPr id="189" name="Card"/>
          <p:cNvSpPr/>
          <p:nvPr/>
        </p:nvSpPr>
        <p:spPr>
          <a:xfrm>
            <a:off x="609600" y="21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0" name="Text"/>
          <p:cNvSpPr/>
          <p:nvPr/>
        </p:nvSpPr>
        <p:spPr>
          <a:xfrm>
            <a:off x="859600" y="23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Ingestion and normalization</a:t>
            </a:r>
            <a:endParaRPr lang="en-US" dirty="0"/>
          </a:p>
        </p:txBody>
      </p:sp>
      <p:sp>
        <p:nvSpPr>
          <p:cNvPr id="191" name="Text"/>
          <p:cNvSpPr/>
          <p:nvPr/>
        </p:nvSpPr>
        <p:spPr>
          <a:xfrm>
            <a:off x="859600" y="26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Validation, entity resolution, allocation, and blending across every subscribed pack.</a:t>
            </a:r>
            <a:endParaRPr lang="en-US" dirty="0"/>
          </a:p>
        </p:txBody>
      </p:sp>
      <p:sp>
        <p:nvSpPr>
          <p:cNvPr id="192" name="Card"/>
          <p:cNvSpPr/>
          <p:nvPr/>
        </p:nvSpPr>
        <p:spPr>
          <a:xfrm>
            <a:off x="609600" y="33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3" name="Text"/>
          <p:cNvSpPr/>
          <p:nvPr/>
        </p:nvSpPr>
        <p:spPr>
          <a:xfrm>
            <a:off x="859600" y="35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Schema drift and new packs</a:t>
            </a:r>
            <a:endParaRPr lang="en-US" dirty="0"/>
          </a:p>
        </p:txBody>
      </p:sp>
      <p:sp>
        <p:nvSpPr>
          <p:cNvPr id="194" name="Text"/>
          <p:cNvSpPr/>
          <p:nvPr/>
        </p:nvSpPr>
        <p:spPr>
          <a:xfrm>
            <a:off x="859600" y="38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Quarterly version changes absorbed. Emerging packs flagged with pre-mapped integration paths.</a:t>
            </a:r>
            <a:endParaRPr lang="en-US" dirty="0"/>
          </a:p>
        </p:txBody>
      </p:sp>
      <p:sp>
        <p:nvSpPr>
          <p:cNvPr id="195" name="Card"/>
          <p:cNvSpPr/>
          <p:nvPr/>
        </p:nvSpPr>
        <p:spPr>
          <a:xfrm>
            <a:off x="609600" y="45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6" name="Text"/>
          <p:cNvSpPr/>
          <p:nvPr/>
        </p:nvSpPr>
        <p:spPr>
          <a:xfrm>
            <a:off x="859600" y="47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Semantic layer, MCP, dashboards</a:t>
            </a:r>
            <a:endParaRPr lang="en-US" dirty="0"/>
          </a:p>
        </p:txBody>
      </p:sp>
      <p:sp>
        <p:nvSpPr>
          <p:cNvPr id="197" name="Text"/>
          <p:cNvSpPr/>
          <p:nvPr/>
        </p:nvSpPr>
        <p:spPr>
          <a:xfrm>
            <a:off x="859600" y="50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documented data asset plus the surfaces that make it usable on day one.</a:t>
            </a:r>
            <a:endParaRPr lang="en-US" dirty="0"/>
          </a:p>
        </p:txBody>
      </p:sp>
      <p:sp>
        <p:nvSpPr>
          <p:cNvPr id="198" name="Card"/>
          <p:cNvSpPr/>
          <p:nvPr/>
        </p:nvSpPr>
        <p:spPr>
          <a:xfrm>
            <a:off x="6242400" y="21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99" name="Text"/>
          <p:cNvSpPr/>
          <p:nvPr/>
        </p:nvSpPr>
        <p:spPr>
          <a:xfrm>
            <a:off x="6492400" y="23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warehouse</a:t>
            </a:r>
            <a:endParaRPr lang="en-US" dirty="0"/>
          </a:p>
        </p:txBody>
      </p:sp>
      <p:sp>
        <p:nvSpPr>
          <p:cNvPr id="200" name="Text"/>
          <p:cNvSpPr/>
          <p:nvPr/>
        </p:nvSpPr>
        <p:spPr>
          <a:xfrm>
            <a:off x="6492400" y="26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unified, normalized data set returned to your environment via Snowflake data share.</a:t>
            </a:r>
            <a:endParaRPr lang="en-US" dirty="0"/>
          </a:p>
        </p:txBody>
      </p:sp>
      <p:sp>
        <p:nvSpPr>
          <p:cNvPr id="201" name="Card"/>
          <p:cNvSpPr/>
          <p:nvPr/>
        </p:nvSpPr>
        <p:spPr>
          <a:xfrm>
            <a:off x="6242400" y="33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2" name="Text"/>
          <p:cNvSpPr/>
          <p:nvPr/>
        </p:nvSpPr>
        <p:spPr>
          <a:xfrm>
            <a:off x="6492400" y="35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BI tools and in-house AI agents</a:t>
            </a:r>
            <a:endParaRPr lang="en-US" dirty="0"/>
          </a:p>
        </p:txBody>
      </p:sp>
      <p:sp>
        <p:nvSpPr>
          <p:cNvPr id="203" name="Text"/>
          <p:cNvSpPr/>
          <p:nvPr/>
        </p:nvSpPr>
        <p:spPr>
          <a:xfrm>
            <a:off x="6492400" y="38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Feed the reports and dashboards you already run. No forced UI, no rip and replace.</a:t>
            </a:r>
            <a:endParaRPr lang="en-US" dirty="0"/>
          </a:p>
        </p:txBody>
      </p:sp>
      <p:sp>
        <p:nvSpPr>
          <p:cNvPr id="204" name="Card"/>
          <p:cNvSpPr/>
          <p:nvPr/>
        </p:nvSpPr>
        <p:spPr>
          <a:xfrm>
            <a:off x="6242400" y="4550000"/>
            <a:ext cx="5340000" cy="1050000"/>
          </a:xfrm>
          <a:prstGeom prst="roundRect">
            <a:avLst>
              <a:gd name="adj" fmla="val 5000"/>
            </a:avLst>
          </a:prstGeom>
          <a:solidFill>
            <a:srgbClr val="1E2736">
              <a:alpha val="50000"/>
            </a:srgbClr>
          </a:solidFill>
          <a:ln w="6350">
            <a:solidFill>
              <a:srgbClr val="374151">
                <a:alpha val="60000"/>
              </a:srgbClr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5" name="Text"/>
          <p:cNvSpPr/>
          <p:nvPr/>
        </p:nvSpPr>
        <p:spPr>
          <a:xfrm>
            <a:off x="6492400" y="4700000"/>
            <a:ext cx="4840000" cy="38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467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engineers</a:t>
            </a:r>
            <a:endParaRPr lang="en-US" dirty="0"/>
          </a:p>
        </p:txBody>
      </p:sp>
      <p:sp>
        <p:nvSpPr>
          <p:cNvPr id="206" name="Text"/>
          <p:cNvSpPr/>
          <p:nvPr/>
        </p:nvSpPr>
        <p:spPr>
          <a:xfrm>
            <a:off x="6492400" y="5090000"/>
            <a:ext cx="4840000" cy="450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/>
            <a:r>
              <a:rPr lang="en-US" sz="1100" dirty="0">
                <a:solidFill>
                  <a:srgbClr val="8899A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Freed from pack plumbing to focus on strategic priorities and AI initiatives.</a:t>
            </a:r>
            <a:endParaRPr lang="en-US" dirty="0"/>
          </a:p>
        </p:txBody>
      </p:sp>
      <p:sp>
        <p:nvSpPr>
          <p:cNvPr id="207" name="Card"/>
          <p:cNvSpPr/>
          <p:nvPr/>
        </p:nvSpPr>
        <p:spPr>
          <a:xfrm>
            <a:off x="609600" y="5850000"/>
            <a:ext cx="10972800" cy="650000"/>
          </a:xfrm>
          <a:prstGeom prst="roundRect">
            <a:avLst>
              <a:gd name="adj" fmla="val 5000"/>
            </a:avLst>
          </a:prstGeom>
          <a:solidFill>
            <a:srgbClr val="32C58D">
              <a:alpha val="10000"/>
            </a:srgbClr>
          </a:solidFill>
          <a:ln w="6350">
            <a:solidFill>
              <a:srgbClr val="00C47D"/>
            </a:solidFill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8" name="Text"/>
          <p:cNvSpPr/>
          <p:nvPr/>
        </p:nvSpPr>
        <p:spPr>
          <a:xfrm>
            <a:off x="809600" y="5850000"/>
            <a:ext cx="10572800" cy="6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Maximize the data packs you already pay for. </a:t>
            </a:r>
            <a:r>
              <a:rPr lang="en-US" sz="1400" dirty="0">
                <a:solidFill>
                  <a:srgbClr val="32C58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 runs the plumbing. Your team builds on top.</a:t>
            </a:r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5143500"/>
          <a:chOff x="0" y="0"/>
          <a:chExt cx="9144000" cy="5143500"/>
        </a:xfrm>
      </p:grpSpPr>
      <p:sp>
        <p:nvSpPr>
          <p:cNvPr id="3" name="AssertionTitle"/>
          <p:cNvSpPr>
            <a:spLocks noGrp="1"/>
          </p:cNvSpPr>
          <p:nvPr/>
        </p:nvSpPr>
        <p:spPr>
          <a:xfrm>
            <a:off x="609600" y="711200"/>
            <a:ext cx="10972800" cy="496293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3733" b="1" dirty="0">
                <a:solidFill>
                  <a:srgbClr val="FFFFFF"/>
                </a:solidFill>
                <a:latin typeface="Inter" pitchFamily="34" charset="0"/>
              </a:rPr>
              <a:t>Next Steps</a:t>
            </a:r>
          </a:p>
        </p:txBody>
      </p:sp>
      <p:sp>
        <p:nvSpPr>
          <p:cNvPr id="4" name="TopRule"/>
          <p:cNvSpPr>
            <a:spLocks noGrp="1"/>
          </p:cNvSpPr>
          <p:nvPr/>
        </p:nvSpPr>
        <p:spPr>
          <a:xfrm>
            <a:off x="609600" y="1991360"/>
            <a:ext cx="10972800" cy="16933"/>
          </a:xfrm>
          <a:prstGeom prst="rect">
            <a:avLst/>
          </a:prstGeom>
          <a:solidFill>
            <a:srgbClr val="1E2D3E"/>
          </a:solidFill>
        </p:spPr>
        <p:txBody>
          <a:bodyPr/>
          <a:lstStyle/>
          <a:p>
            <a:endParaRPr sz="2400" dirty="0"/>
          </a:p>
        </p:txBody>
      </p:sp>
      <p:sp>
        <p:nvSpPr>
          <p:cNvPr id="5" name="ColHash"/>
          <p:cNvSpPr>
            <a:spLocks noGrp="1"/>
          </p:cNvSpPr>
          <p:nvPr/>
        </p:nvSpPr>
        <p:spPr>
          <a:xfrm>
            <a:off x="609600" y="2025227"/>
            <a:ext cx="533333" cy="24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67" b="1" spc="267" dirty="0">
                <a:solidFill>
                  <a:srgbClr val="4B5E72"/>
                </a:solidFill>
                <a:latin typeface="Inter" pitchFamily="34" charset="0"/>
              </a:rPr>
              <a:t>#</a:t>
            </a:r>
          </a:p>
        </p:txBody>
      </p:sp>
      <p:sp>
        <p:nvSpPr>
          <p:cNvPr id="6" name="ColAction"/>
          <p:cNvSpPr>
            <a:spLocks noGrp="1"/>
          </p:cNvSpPr>
          <p:nvPr/>
        </p:nvSpPr>
        <p:spPr>
          <a:xfrm>
            <a:off x="1333334" y="2025227"/>
            <a:ext cx="5333333" cy="24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67" b="1" spc="267" dirty="0">
                <a:solidFill>
                  <a:srgbClr val="4B5E72"/>
                </a:solidFill>
                <a:latin typeface="Inter" pitchFamily="34" charset="0"/>
              </a:rPr>
              <a:t>ACTION</a:t>
            </a:r>
          </a:p>
        </p:txBody>
      </p:sp>
      <p:sp>
        <p:nvSpPr>
          <p:cNvPr id="8" name="ColWhen"/>
          <p:cNvSpPr>
            <a:spLocks noGrp="1"/>
          </p:cNvSpPr>
          <p:nvPr/>
        </p:nvSpPr>
        <p:spPr>
          <a:xfrm>
            <a:off x="8200427" y="2041227"/>
            <a:ext cx="1715733" cy="24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067" b="1" spc="267" dirty="0">
                <a:solidFill>
                  <a:srgbClr val="4B5E72"/>
                </a:solidFill>
                <a:latin typeface="Inter" pitchFamily="34" charset="0"/>
              </a:rPr>
              <a:t>WHEN</a:t>
            </a:r>
          </a:p>
        </p:txBody>
      </p:sp>
      <p:sp>
        <p:nvSpPr>
          <p:cNvPr id="9" name="Rule0"/>
          <p:cNvSpPr>
            <a:spLocks noGrp="1"/>
          </p:cNvSpPr>
          <p:nvPr/>
        </p:nvSpPr>
        <p:spPr>
          <a:xfrm>
            <a:off x="609600" y="2278827"/>
            <a:ext cx="10972800" cy="16933"/>
          </a:xfrm>
          <a:prstGeom prst="rect">
            <a:avLst/>
          </a:prstGeom>
          <a:solidFill>
            <a:srgbClr val="1E2D3E"/>
          </a:solidFill>
        </p:spPr>
        <p:txBody>
          <a:bodyPr/>
          <a:lstStyle/>
          <a:p>
            <a:endParaRPr sz="2400" dirty="0"/>
          </a:p>
        </p:txBody>
      </p:sp>
      <p:sp>
        <p:nvSpPr>
          <p:cNvPr id="10" name="R1Num"/>
          <p:cNvSpPr>
            <a:spLocks noGrp="1"/>
          </p:cNvSpPr>
          <p:nvPr/>
        </p:nvSpPr>
        <p:spPr>
          <a:xfrm>
            <a:off x="609600" y="2312160"/>
            <a:ext cx="5333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00C47D"/>
                </a:solidFill>
                <a:latin typeface="Inter" pitchFamily="34" charset="0"/>
              </a:rPr>
              <a:t>1</a:t>
            </a:r>
          </a:p>
        </p:txBody>
      </p:sp>
      <p:sp>
        <p:nvSpPr>
          <p:cNvPr id="11" name="R1Action"/>
          <p:cNvSpPr>
            <a:spLocks noGrp="1"/>
          </p:cNvSpPr>
          <p:nvPr/>
        </p:nvSpPr>
        <p:spPr>
          <a:xfrm>
            <a:off x="1142931" y="2328160"/>
            <a:ext cx="5466667" cy="80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</a:rPr>
              <a:t>Confirm partnership terms</a:t>
            </a:r>
          </a:p>
          <a:p>
            <a:pPr algn="l"/>
            <a:r>
              <a:rPr lang="en-US" sz="1267" dirty="0">
                <a:solidFill>
                  <a:srgbClr val="8899AA"/>
                </a:solidFill>
                <a:latin typeface="Inter" pitchFamily="34" charset="0"/>
              </a:rPr>
              <a:t>Partnership level, NDA, Data access</a:t>
            </a:r>
          </a:p>
        </p:txBody>
      </p:sp>
      <p:sp>
        <p:nvSpPr>
          <p:cNvPr id="13" name="R1When"/>
          <p:cNvSpPr>
            <a:spLocks noGrp="1"/>
          </p:cNvSpPr>
          <p:nvPr/>
        </p:nvSpPr>
        <p:spPr>
          <a:xfrm>
            <a:off x="8200427" y="2328160"/>
            <a:ext cx="17157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</a:rPr>
              <a:t>Today</a:t>
            </a:r>
          </a:p>
        </p:txBody>
      </p:sp>
      <p:sp>
        <p:nvSpPr>
          <p:cNvPr id="14" name="Rule1"/>
          <p:cNvSpPr>
            <a:spLocks noGrp="1"/>
          </p:cNvSpPr>
          <p:nvPr/>
        </p:nvSpPr>
        <p:spPr>
          <a:xfrm>
            <a:off x="609600" y="3128160"/>
            <a:ext cx="10972800" cy="16933"/>
          </a:xfrm>
          <a:prstGeom prst="rect">
            <a:avLst/>
          </a:prstGeom>
          <a:solidFill>
            <a:srgbClr val="1E2D3E"/>
          </a:solidFill>
        </p:spPr>
        <p:txBody>
          <a:bodyPr/>
          <a:lstStyle/>
          <a:p>
            <a:endParaRPr sz="2400" dirty="0"/>
          </a:p>
        </p:txBody>
      </p:sp>
      <p:sp>
        <p:nvSpPr>
          <p:cNvPr id="15" name="R2Num"/>
          <p:cNvSpPr>
            <a:spLocks noGrp="1"/>
          </p:cNvSpPr>
          <p:nvPr/>
        </p:nvSpPr>
        <p:spPr>
          <a:xfrm>
            <a:off x="609600" y="3162827"/>
            <a:ext cx="5333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00C47D"/>
                </a:solidFill>
                <a:latin typeface="Inter" pitchFamily="34" charset="0"/>
              </a:rPr>
              <a:t>2</a:t>
            </a:r>
          </a:p>
        </p:txBody>
      </p:sp>
      <p:sp>
        <p:nvSpPr>
          <p:cNvPr id="16" name="R2Action"/>
          <p:cNvSpPr>
            <a:spLocks noGrp="1"/>
          </p:cNvSpPr>
          <p:nvPr/>
        </p:nvSpPr>
        <p:spPr>
          <a:xfrm>
            <a:off x="1142933" y="3162827"/>
            <a:ext cx="5466667" cy="80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</a:rPr>
              <a:t>Discovery sessions</a:t>
            </a:r>
          </a:p>
          <a:p>
            <a:pPr algn="l"/>
            <a:r>
              <a:rPr lang="en-US" sz="1267" dirty="0">
                <a:solidFill>
                  <a:srgbClr val="8899AA"/>
                </a:solidFill>
                <a:latin typeface="Inter" pitchFamily="34" charset="0"/>
              </a:rPr>
              <a:t>Data structure and process review</a:t>
            </a:r>
          </a:p>
        </p:txBody>
      </p:sp>
      <p:sp>
        <p:nvSpPr>
          <p:cNvPr id="18" name="R2When"/>
          <p:cNvSpPr>
            <a:spLocks noGrp="1"/>
          </p:cNvSpPr>
          <p:nvPr/>
        </p:nvSpPr>
        <p:spPr>
          <a:xfrm>
            <a:off x="8200427" y="3178827"/>
            <a:ext cx="17157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</a:rPr>
              <a:t>Week 1</a:t>
            </a:r>
          </a:p>
        </p:txBody>
      </p:sp>
      <p:sp>
        <p:nvSpPr>
          <p:cNvPr id="19" name="Rule2"/>
          <p:cNvSpPr>
            <a:spLocks noGrp="1"/>
          </p:cNvSpPr>
          <p:nvPr/>
        </p:nvSpPr>
        <p:spPr>
          <a:xfrm>
            <a:off x="609600" y="3978827"/>
            <a:ext cx="10972800" cy="16933"/>
          </a:xfrm>
          <a:prstGeom prst="rect">
            <a:avLst/>
          </a:prstGeom>
          <a:solidFill>
            <a:srgbClr val="1E2D3E"/>
          </a:solidFill>
        </p:spPr>
        <p:txBody>
          <a:bodyPr/>
          <a:lstStyle/>
          <a:p>
            <a:endParaRPr sz="2400" dirty="0"/>
          </a:p>
        </p:txBody>
      </p:sp>
      <p:sp>
        <p:nvSpPr>
          <p:cNvPr id="20" name="R3Num"/>
          <p:cNvSpPr>
            <a:spLocks noGrp="1"/>
          </p:cNvSpPr>
          <p:nvPr/>
        </p:nvSpPr>
        <p:spPr>
          <a:xfrm>
            <a:off x="609600" y="4013493"/>
            <a:ext cx="5333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2400" b="1" dirty="0">
                <a:solidFill>
                  <a:srgbClr val="00C47D"/>
                </a:solidFill>
                <a:latin typeface="Inter" pitchFamily="34" charset="0"/>
              </a:rPr>
              <a:t>3</a:t>
            </a:r>
          </a:p>
        </p:txBody>
      </p:sp>
      <p:sp>
        <p:nvSpPr>
          <p:cNvPr id="21" name="R3Action"/>
          <p:cNvSpPr>
            <a:spLocks noGrp="1"/>
          </p:cNvSpPr>
          <p:nvPr/>
        </p:nvSpPr>
        <p:spPr>
          <a:xfrm>
            <a:off x="1142932" y="4046427"/>
            <a:ext cx="5466667" cy="800000"/>
          </a:xfrm>
          <a:prstGeom prst="rect">
            <a:avLst/>
          </a:prstGeom>
          <a:noFill/>
        </p:spPr>
        <p:txBody>
          <a:bodyPr anchor="ctr"/>
          <a:lstStyle/>
          <a:p>
            <a:pPr>
              <a:lnSpc>
                <a:spcPts val="1867"/>
              </a:lnSpc>
            </a:pPr>
            <a:r>
              <a:rPr lang="en-US" sz="1733" b="1" dirty="0">
                <a:solidFill>
                  <a:srgbClr val="FFFFFF"/>
                </a:solidFill>
                <a:latin typeface="Inter" pitchFamily="34" charset="0"/>
              </a:rPr>
              <a:t>Field delivers project plan</a:t>
            </a:r>
          </a:p>
          <a:p>
            <a:pPr algn="l"/>
            <a:r>
              <a:rPr lang="en-US" sz="1267" dirty="0">
                <a:solidFill>
                  <a:srgbClr val="8899AA"/>
                </a:solidFill>
                <a:latin typeface="Inter" pitchFamily="34" charset="0"/>
              </a:rPr>
              <a:t>Timeline</a:t>
            </a:r>
          </a:p>
        </p:txBody>
      </p:sp>
      <p:sp>
        <p:nvSpPr>
          <p:cNvPr id="23" name="R3When"/>
          <p:cNvSpPr>
            <a:spLocks noGrp="1"/>
          </p:cNvSpPr>
          <p:nvPr/>
        </p:nvSpPr>
        <p:spPr>
          <a:xfrm>
            <a:off x="8200427" y="4029493"/>
            <a:ext cx="1715733" cy="800000"/>
          </a:xfrm>
          <a:prstGeom prst="rect">
            <a:avLst/>
          </a:prstGeom>
          <a:noFill/>
        </p:spPr>
        <p:txBody>
          <a:bodyPr anchor="ctr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Inter" pitchFamily="34" charset="0"/>
              </a:rPr>
              <a:t>Week 2</a:t>
            </a:r>
          </a:p>
        </p:txBody>
      </p:sp>
      <p:sp>
        <p:nvSpPr>
          <p:cNvPr id="24" name="Rule3"/>
          <p:cNvSpPr>
            <a:spLocks noGrp="1"/>
          </p:cNvSpPr>
          <p:nvPr/>
        </p:nvSpPr>
        <p:spPr>
          <a:xfrm>
            <a:off x="609600" y="4829494"/>
            <a:ext cx="10972800" cy="16933"/>
          </a:xfrm>
          <a:prstGeom prst="rect">
            <a:avLst/>
          </a:prstGeom>
          <a:solidFill>
            <a:srgbClr val="1E2D3E"/>
          </a:solidFill>
        </p:spPr>
        <p:txBody>
          <a:bodyPr/>
          <a:lstStyle/>
          <a:p>
            <a:endParaRPr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1ef800e-70e9-4b16-8040-622f487824c4" xsi:nil="true"/>
    <lcf76f155ced4ddcb4097134ff3c332f xmlns="656fa211-1bb6-4223-b434-ceee676f9b01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84C82E7C6B8A84890BFA6E9F7684B59" ma:contentTypeVersion="11" ma:contentTypeDescription="Create a new document." ma:contentTypeScope="" ma:versionID="19a796ea76208058763919d3ff832536">
  <xsd:schema xmlns:xsd="http://www.w3.org/2001/XMLSchema" xmlns:xs="http://www.w3.org/2001/XMLSchema" xmlns:p="http://schemas.microsoft.com/office/2006/metadata/properties" xmlns:ns2="656fa211-1bb6-4223-b434-ceee676f9b01" xmlns:ns3="91ef800e-70e9-4b16-8040-622f487824c4" targetNamespace="http://schemas.microsoft.com/office/2006/metadata/properties" ma:root="true" ma:fieldsID="50695ed16ce2f0385f863c038493fc29" ns2:_="" ns3:_="">
    <xsd:import namespace="656fa211-1bb6-4223-b434-ceee676f9b01"/>
    <xsd:import namespace="91ef800e-70e9-4b16-8040-622f487824c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56fa211-1bb6-4223-b434-ceee676f9b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dedd125e-53b4-44b8-9166-ed3820ef25d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ef800e-70e9-4b16-8040-622f487824c4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dd73185f-94de-42dc-9f19-4237dca778aa}" ma:internalName="TaxCatchAll" ma:showField="CatchAllData" ma:web="91ef800e-70e9-4b16-8040-622f487824c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AC93C42-45DF-4ADF-839A-38EEC3D40A64}">
  <ds:schemaRefs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dcmitype/"/>
    <ds:schemaRef ds:uri="http://schemas.openxmlformats.org/package/2006/metadata/core-properties"/>
    <ds:schemaRef ds:uri="656fa211-1bb6-4223-b434-ceee676f9b01"/>
    <ds:schemaRef ds:uri="91ef800e-70e9-4b16-8040-622f487824c4"/>
  </ds:schemaRefs>
</ds:datastoreItem>
</file>

<file path=customXml/itemProps2.xml><?xml version="1.0" encoding="utf-8"?>
<ds:datastoreItem xmlns:ds="http://schemas.openxmlformats.org/officeDocument/2006/customXml" ds:itemID="{CEAFBCC7-5CF5-4ADE-AB9E-1218EEAC06E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59894D1-D032-4EAE-A864-DF5D7EF323E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56fa211-1bb6-4223-b434-ceee676f9b01"/>
    <ds:schemaRef ds:uri="91ef800e-70e9-4b16-8040-622f487824c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6010</TotalTime>
  <Words>2230</Words>
  <Application>Microsoft Office PowerPoint</Application>
  <PresentationFormat>Widescreen</PresentationFormat>
  <Paragraphs>284</Paragraphs>
  <Slides>19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Arial</vt:lpstr>
      <vt:lpstr>Calibri</vt:lpstr>
      <vt:lpstr>Inter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Dan  McKeefrey</dc:creator>
  <cp:keywords/>
  <dc:description>generated using python-pptx</dc:description>
  <cp:lastModifiedBy>Joe Fischer</cp:lastModifiedBy>
  <cp:revision>10</cp:revision>
  <dcterms:created xsi:type="dcterms:W3CDTF">2013-01-27T09:14:16Z</dcterms:created>
  <dcterms:modified xsi:type="dcterms:W3CDTF">2026-09-09T15:12:57Z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0x010100784C82E7C6B8A84890BFA6E9F7684B59</vt:lpwstr>
  </property>
  <property fmtid="{D5CDD505-2E9C-101B-9397-08002B2CF9AE}" pid="3" name="MediaServiceImageTags">
    <vt:lpwstr/>
  </property>
</Properties>
</file>