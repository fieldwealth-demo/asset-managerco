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O'Connor" userId="5cbbaa93-0376-4fcb-87a3-7b8e02e2f993" providerId="ADAL" clId="{7F17EF93-C0B4-4E1A-965C-48301B74B3C7}"/>
    <pc:docChg chg="modSld sldOrd">
      <pc:chgData name="Chris O'Connor" userId="5cbbaa93-0376-4fcb-87a3-7b8e02e2f993" providerId="ADAL" clId="{7F17EF93-C0B4-4E1A-965C-48301B74B3C7}" dt="2026-08-20T17:01:14.987" v="3"/>
      <pc:docMkLst>
        <pc:docMk/>
      </pc:docMkLst>
      <pc:sldChg chg="ord">
        <pc:chgData name="Chris O'Connor" userId="5cbbaa93-0376-4fcb-87a3-7b8e02e2f993" providerId="ADAL" clId="{7F17EF93-C0B4-4E1A-965C-48301B74B3C7}" dt="2026-08-20T17:01:14.987" v="3"/>
        <pc:sldMkLst>
          <pc:docMk/>
          <pc:sldMk cId="0" sldId="2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7063C3-B688-49A2-98FF-95F58A25D7C9}"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50FC9F-2F4A-4A08-9224-DE72B97C6B1E}" type="slidenum">
              <a:rPr lang="en-US" smtClean="0"/>
              <a:t>‹#›</a:t>
            </a:fld>
            <a:endParaRPr lang="en-US"/>
          </a:p>
        </p:txBody>
      </p:sp>
    </p:spTree>
    <p:extLst>
      <p:ext uri="{BB962C8B-B14F-4D97-AF65-F5344CB8AC3E}">
        <p14:creationId xmlns:p14="http://schemas.microsoft.com/office/powerpoint/2010/main" val="1743702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C50FC9F-2F4A-4A08-9224-DE72B97C6B1E}" type="slidenum">
              <a:rPr lang="en-US" smtClean="0"/>
              <a:t>2</a:t>
            </a:fld>
            <a:endParaRPr lang="en-US"/>
          </a:p>
        </p:txBody>
      </p:sp>
    </p:spTree>
    <p:extLst>
      <p:ext uri="{BB962C8B-B14F-4D97-AF65-F5344CB8AC3E}">
        <p14:creationId xmlns:p14="http://schemas.microsoft.com/office/powerpoint/2010/main" val="4282128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144"/>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331720"/>
            <a:ext cx="10515600" cy="1737360"/>
          </a:xfrm>
          <a:prstGeom prst="rect">
            <a:avLst/>
          </a:prstGeom>
          <a:noFill/>
        </p:spPr>
        <p:txBody>
          <a:bodyPr wrap="square" lIns="0" tIns="0" rIns="0" bIns="0" anchor="t"/>
          <a:lstStyle/>
          <a:p>
            <a:pPr algn="l"/>
            <a:r>
              <a:rPr sz="4800" b="1" i="0" dirty="0">
                <a:solidFill>
                  <a:srgbClr val="FFFFFF"/>
                </a:solidFill>
                <a:latin typeface="Inter"/>
              </a:rPr>
              <a:t>Distribution</a:t>
            </a:r>
            <a:r>
              <a:rPr lang="en-US" sz="4800" b="1" i="0" dirty="0">
                <a:solidFill>
                  <a:srgbClr val="FFFFFF"/>
                </a:solidFill>
                <a:latin typeface="Inter"/>
              </a:rPr>
              <a:t> </a:t>
            </a:r>
            <a:r>
              <a:rPr sz="4800" b="1" i="0" dirty="0">
                <a:solidFill>
                  <a:schemeClr val="bg1"/>
                </a:solidFill>
                <a:latin typeface="Inter"/>
              </a:rPr>
              <a:t>Intelligence</a:t>
            </a:r>
            <a:endParaRPr lang="en-US" sz="4800" b="1" i="0" dirty="0">
              <a:solidFill>
                <a:schemeClr val="bg1"/>
              </a:solidFill>
              <a:latin typeface="Inter"/>
            </a:endParaRPr>
          </a:p>
          <a:p>
            <a:pPr algn="l"/>
            <a:r>
              <a:rPr lang="en-US" sz="4800" b="1" dirty="0">
                <a:solidFill>
                  <a:srgbClr val="31C48D"/>
                </a:solidFill>
                <a:latin typeface="Inter"/>
              </a:rPr>
              <a:t>Technical Process Overview</a:t>
            </a:r>
            <a:endParaRPr sz="4800" b="1" i="0" dirty="0">
              <a:solidFill>
                <a:srgbClr val="31C48D"/>
              </a:solidFill>
              <a:latin typeface="Inter"/>
            </a:endParaRPr>
          </a:p>
        </p:txBody>
      </p:sp>
      <p:sp>
        <p:nvSpPr>
          <p:cNvPr id="6" name="TextBox 5"/>
          <p:cNvSpPr txBox="1"/>
          <p:nvPr/>
        </p:nvSpPr>
        <p:spPr>
          <a:xfrm>
            <a:off x="566928" y="4224528"/>
            <a:ext cx="9601200" cy="731520"/>
          </a:xfrm>
          <a:prstGeom prst="rect">
            <a:avLst/>
          </a:prstGeom>
          <a:noFill/>
        </p:spPr>
        <p:txBody>
          <a:bodyPr wrap="square" lIns="0" tIns="0" rIns="0" bIns="0" anchor="t"/>
          <a:lstStyle/>
          <a:p>
            <a:pPr algn="l">
              <a:lnSpc>
                <a:spcPct val="130000"/>
              </a:lnSpc>
            </a:pPr>
            <a:r>
              <a:rPr sz="1350" b="0" i="0">
                <a:solidFill>
                  <a:srgbClr val="9CA3AF"/>
                </a:solidFill>
                <a:latin typeface="Inter"/>
              </a:rPr>
              <a:t>Every data pack you subscribe to, every public source, and your own commercial data, unified into one buying-unit view your sales teams and AI tools can act on.</a:t>
            </a:r>
          </a:p>
        </p:txBody>
      </p:sp>
      <p:sp>
        <p:nvSpPr>
          <p:cNvPr id="7" name="Rounded Rectangle 6"/>
          <p:cNvSpPr/>
          <p:nvPr/>
        </p:nvSpPr>
        <p:spPr>
          <a:xfrm>
            <a:off x="566928" y="5349240"/>
            <a:ext cx="1623060" cy="365760"/>
          </a:xfrm>
          <a:prstGeom prst="roundRect">
            <a:avLst>
              <a:gd name="adj" fmla="val 50000"/>
            </a:avLst>
          </a:prstGeom>
          <a:solidFill>
            <a:srgbClr val="11262F"/>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31C48D"/>
                </a:solidFill>
                <a:latin typeface="Inter"/>
              </a:rPr>
              <a:t>Ingestion</a:t>
            </a:r>
          </a:p>
        </p:txBody>
      </p:sp>
      <p:sp>
        <p:nvSpPr>
          <p:cNvPr id="8" name="TextBox 7"/>
          <p:cNvSpPr txBox="1"/>
          <p:nvPr/>
        </p:nvSpPr>
        <p:spPr>
          <a:xfrm>
            <a:off x="2235708" y="5394960"/>
            <a:ext cx="274320" cy="274320"/>
          </a:xfrm>
          <a:prstGeom prst="rect">
            <a:avLst/>
          </a:prstGeom>
          <a:noFill/>
        </p:spPr>
        <p:txBody>
          <a:bodyPr wrap="square" lIns="0" tIns="0" rIns="0" bIns="0" anchor="t"/>
          <a:lstStyle/>
          <a:p>
            <a:pPr algn="ctr"/>
            <a:r>
              <a:rPr sz="1100" b="0" i="0">
                <a:solidFill>
                  <a:srgbClr val="6B7280"/>
                </a:solidFill>
                <a:latin typeface="Inter"/>
              </a:rPr>
              <a:t>→</a:t>
            </a:r>
          </a:p>
        </p:txBody>
      </p:sp>
      <p:sp>
        <p:nvSpPr>
          <p:cNvPr id="9" name="Rounded Rectangle 8"/>
          <p:cNvSpPr/>
          <p:nvPr/>
        </p:nvSpPr>
        <p:spPr>
          <a:xfrm>
            <a:off x="2574036" y="5349240"/>
            <a:ext cx="1623060" cy="365760"/>
          </a:xfrm>
          <a:prstGeom prst="roundRect">
            <a:avLst>
              <a:gd name="adj" fmla="val 50000"/>
            </a:avLst>
          </a:prstGeom>
          <a:solidFill>
            <a:srgbClr val="11262F"/>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31C48D"/>
                </a:solidFill>
                <a:latin typeface="Inter"/>
              </a:rPr>
              <a:t>Normalize</a:t>
            </a:r>
          </a:p>
        </p:txBody>
      </p:sp>
      <p:sp>
        <p:nvSpPr>
          <p:cNvPr id="10" name="TextBox 9"/>
          <p:cNvSpPr txBox="1"/>
          <p:nvPr/>
        </p:nvSpPr>
        <p:spPr>
          <a:xfrm>
            <a:off x="4242816" y="5394960"/>
            <a:ext cx="274320" cy="274320"/>
          </a:xfrm>
          <a:prstGeom prst="rect">
            <a:avLst/>
          </a:prstGeom>
          <a:noFill/>
        </p:spPr>
        <p:txBody>
          <a:bodyPr wrap="square" lIns="0" tIns="0" rIns="0" bIns="0" anchor="t"/>
          <a:lstStyle/>
          <a:p>
            <a:pPr algn="ctr"/>
            <a:r>
              <a:rPr sz="1100" b="0" i="0">
                <a:solidFill>
                  <a:srgbClr val="6B7280"/>
                </a:solidFill>
                <a:latin typeface="Inter"/>
              </a:rPr>
              <a:t>→</a:t>
            </a:r>
          </a:p>
        </p:txBody>
      </p:sp>
      <p:sp>
        <p:nvSpPr>
          <p:cNvPr id="11" name="Rounded Rectangle 10"/>
          <p:cNvSpPr/>
          <p:nvPr/>
        </p:nvSpPr>
        <p:spPr>
          <a:xfrm>
            <a:off x="4581144" y="5349240"/>
            <a:ext cx="1673352" cy="365760"/>
          </a:xfrm>
          <a:prstGeom prst="roundRect">
            <a:avLst>
              <a:gd name="adj" fmla="val 50000"/>
            </a:avLst>
          </a:prstGeom>
          <a:solidFill>
            <a:srgbClr val="11262F"/>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31C48D"/>
                </a:solidFill>
                <a:latin typeface="Inter"/>
              </a:rPr>
              <a:t>Synthesize</a:t>
            </a:r>
          </a:p>
        </p:txBody>
      </p:sp>
      <p:sp>
        <p:nvSpPr>
          <p:cNvPr id="12" name="TextBox 11"/>
          <p:cNvSpPr txBox="1"/>
          <p:nvPr/>
        </p:nvSpPr>
        <p:spPr>
          <a:xfrm>
            <a:off x="6300216" y="5394960"/>
            <a:ext cx="274320" cy="274320"/>
          </a:xfrm>
          <a:prstGeom prst="rect">
            <a:avLst/>
          </a:prstGeom>
          <a:noFill/>
        </p:spPr>
        <p:txBody>
          <a:bodyPr wrap="square" lIns="0" tIns="0" rIns="0" bIns="0" anchor="t"/>
          <a:lstStyle/>
          <a:p>
            <a:pPr algn="ctr"/>
            <a:r>
              <a:rPr sz="1100" b="0" i="0">
                <a:solidFill>
                  <a:srgbClr val="6B7280"/>
                </a:solidFill>
                <a:latin typeface="Inter"/>
              </a:rPr>
              <a:t>→</a:t>
            </a:r>
          </a:p>
        </p:txBody>
      </p:sp>
      <p:sp>
        <p:nvSpPr>
          <p:cNvPr id="13" name="Rounded Rectangle 12"/>
          <p:cNvSpPr/>
          <p:nvPr/>
        </p:nvSpPr>
        <p:spPr>
          <a:xfrm>
            <a:off x="6638544" y="5349240"/>
            <a:ext cx="1623060" cy="365760"/>
          </a:xfrm>
          <a:prstGeom prst="roundRect">
            <a:avLst>
              <a:gd name="adj" fmla="val 50000"/>
            </a:avLst>
          </a:prstGeom>
          <a:solidFill>
            <a:srgbClr val="11262F"/>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31C48D"/>
                </a:solidFill>
                <a:latin typeface="Inter"/>
              </a:rPr>
              <a:t>Attribute</a:t>
            </a:r>
          </a:p>
        </p:txBody>
      </p:sp>
      <p:sp>
        <p:nvSpPr>
          <p:cNvPr id="14" name="TextBox 13"/>
          <p:cNvSpPr txBox="1"/>
          <p:nvPr/>
        </p:nvSpPr>
        <p:spPr>
          <a:xfrm>
            <a:off x="8307324" y="5394960"/>
            <a:ext cx="274320" cy="274320"/>
          </a:xfrm>
          <a:prstGeom prst="rect">
            <a:avLst/>
          </a:prstGeom>
          <a:noFill/>
        </p:spPr>
        <p:txBody>
          <a:bodyPr wrap="square" lIns="0" tIns="0" rIns="0" bIns="0" anchor="t"/>
          <a:lstStyle/>
          <a:p>
            <a:pPr algn="ctr"/>
            <a:r>
              <a:rPr sz="1100" b="0" i="0">
                <a:solidFill>
                  <a:srgbClr val="6B7280"/>
                </a:solidFill>
                <a:latin typeface="Inter"/>
              </a:rPr>
              <a:t>→</a:t>
            </a:r>
          </a:p>
        </p:txBody>
      </p:sp>
      <p:sp>
        <p:nvSpPr>
          <p:cNvPr id="15" name="Rounded Rectangle 14"/>
          <p:cNvSpPr/>
          <p:nvPr/>
        </p:nvSpPr>
        <p:spPr>
          <a:xfrm>
            <a:off x="8645652" y="5349240"/>
            <a:ext cx="1522476" cy="365760"/>
          </a:xfrm>
          <a:prstGeom prst="roundRect">
            <a:avLst>
              <a:gd name="adj" fmla="val 50000"/>
            </a:avLst>
          </a:prstGeom>
          <a:solidFill>
            <a:srgbClr val="11262F"/>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50" b="1">
                <a:solidFill>
                  <a:srgbClr val="31C48D"/>
                </a:solidFill>
                <a:latin typeface="Inter"/>
              </a:rPr>
              <a:t>Deliver</a:t>
            </a:r>
          </a:p>
        </p:txBody>
      </p:sp>
      <p:sp>
        <p:nvSpPr>
          <p:cNvPr id="16" name="TextBox 15"/>
          <p:cNvSpPr txBox="1"/>
          <p:nvPr/>
        </p:nvSpPr>
        <p:spPr>
          <a:xfrm>
            <a:off x="566928" y="6263640"/>
            <a:ext cx="7315200" cy="274320"/>
          </a:xfrm>
          <a:prstGeom prst="rect">
            <a:avLst/>
          </a:prstGeom>
          <a:noFill/>
        </p:spPr>
        <p:txBody>
          <a:bodyPr wrap="square" lIns="0" tIns="0" rIns="0" bIns="0" anchor="t"/>
          <a:lstStyle/>
          <a:p>
            <a:pPr algn="l"/>
            <a:r>
              <a:rPr sz="1000" b="0" i="0">
                <a:solidFill>
                  <a:srgbClr val="6B7280"/>
                </a:solidFill>
                <a:latin typeface="Inter"/>
              </a:rPr>
              <a:t>Technology overview  ·  July 2026</a:t>
            </a:r>
          </a:p>
        </p:txBody>
      </p:sp>
      <p:pic>
        <p:nvPicPr>
          <p:cNvPr id="17" name="Picture 16" descr="image.png"/>
          <p:cNvPicPr>
            <a:picLocks noChangeAspect="1"/>
          </p:cNvPicPr>
          <p:nvPr/>
        </p:nvPicPr>
        <p:blipFill>
          <a:blip r:embed="rId2"/>
          <a:stretch>
            <a:fillRect/>
          </a:stretch>
        </p:blipFill>
        <p:spPr>
          <a:xfrm>
            <a:off x="548640" y="457200"/>
            <a:ext cx="2337370" cy="94183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THE PIPELINE</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Seven stages, one durable asset</a:t>
            </a:r>
          </a:p>
        </p:txBody>
      </p:sp>
      <p:sp>
        <p:nvSpPr>
          <p:cNvPr id="5" name="TextBox 4"/>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6" name="TextBox 5"/>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2</a:t>
            </a:r>
          </a:p>
        </p:txBody>
      </p:sp>
      <p:sp>
        <p:nvSpPr>
          <p:cNvPr id="7" name="Rounded Rectangle 6"/>
          <p:cNvSpPr/>
          <p:nvPr/>
        </p:nvSpPr>
        <p:spPr>
          <a:xfrm>
            <a:off x="548640" y="1389888"/>
            <a:ext cx="11091672" cy="54864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 y="1389888"/>
            <a:ext cx="868680" cy="548640"/>
          </a:xfrm>
          <a:prstGeom prst="rect">
            <a:avLst/>
          </a:prstGeom>
          <a:noFill/>
        </p:spPr>
        <p:txBody>
          <a:bodyPr wrap="none" lIns="0" tIns="0" rIns="0" bIns="0" anchor="ctr"/>
          <a:lstStyle/>
          <a:p>
            <a:pPr algn="ctr"/>
            <a:r>
              <a:rPr sz="1000" b="1" i="0" spc="40" dirty="0">
                <a:solidFill>
                  <a:srgbClr val="31C48D"/>
                </a:solidFill>
                <a:latin typeface="Inter"/>
              </a:rPr>
              <a:t>OVERVIEW</a:t>
            </a:r>
            <a:endParaRPr sz="900" b="1" i="0" spc="40" dirty="0">
              <a:solidFill>
                <a:srgbClr val="31C48D"/>
              </a:solidFill>
              <a:latin typeface="Inter"/>
            </a:endParaRPr>
          </a:p>
        </p:txBody>
      </p:sp>
      <p:sp>
        <p:nvSpPr>
          <p:cNvPr id="9" name="TextBox 8"/>
          <p:cNvSpPr txBox="1"/>
          <p:nvPr/>
        </p:nvSpPr>
        <p:spPr>
          <a:xfrm>
            <a:off x="1874519" y="1389888"/>
            <a:ext cx="2514600" cy="548640"/>
          </a:xfrm>
          <a:prstGeom prst="rect">
            <a:avLst/>
          </a:prstGeom>
          <a:noFill/>
        </p:spPr>
        <p:txBody>
          <a:bodyPr wrap="square" lIns="0" tIns="0" rIns="0" bIns="0" anchor="ctr"/>
          <a:lstStyle/>
          <a:p>
            <a:pPr algn="l"/>
            <a:r>
              <a:rPr sz="1250" b="1" i="0" dirty="0">
                <a:solidFill>
                  <a:srgbClr val="FFFFFF"/>
                </a:solidFill>
                <a:latin typeface="Inter"/>
              </a:rPr>
              <a:t>Intelligence Layer</a:t>
            </a:r>
          </a:p>
        </p:txBody>
      </p:sp>
      <p:sp>
        <p:nvSpPr>
          <p:cNvPr id="10" name="TextBox 9"/>
          <p:cNvSpPr txBox="1"/>
          <p:nvPr/>
        </p:nvSpPr>
        <p:spPr>
          <a:xfrm>
            <a:off x="4526280" y="1389888"/>
            <a:ext cx="6903720" cy="548640"/>
          </a:xfrm>
          <a:prstGeom prst="rect">
            <a:avLst/>
          </a:prstGeom>
          <a:noFill/>
        </p:spPr>
        <p:txBody>
          <a:bodyPr wrap="square" lIns="0" tIns="0" rIns="0" bIns="0" anchor="ctr"/>
          <a:lstStyle/>
          <a:p>
            <a:pPr algn="l">
              <a:lnSpc>
                <a:spcPct val="115000"/>
              </a:lnSpc>
            </a:pPr>
            <a:r>
              <a:rPr sz="1000" b="0" i="0" dirty="0">
                <a:solidFill>
                  <a:srgbClr val="9CA3AF"/>
                </a:solidFill>
                <a:latin typeface="Inter"/>
              </a:rPr>
              <a:t>Every pack, every public source, one unified buying-unit view exposed through a semantic layer and a governed MCP server.</a:t>
            </a:r>
          </a:p>
        </p:txBody>
      </p:sp>
      <p:sp>
        <p:nvSpPr>
          <p:cNvPr id="11" name="Rounded Rectangle 10"/>
          <p:cNvSpPr/>
          <p:nvPr/>
        </p:nvSpPr>
        <p:spPr>
          <a:xfrm>
            <a:off x="548640" y="2020824"/>
            <a:ext cx="11091672" cy="54864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6384" y="2020824"/>
            <a:ext cx="868680" cy="548640"/>
          </a:xfrm>
          <a:prstGeom prst="rect">
            <a:avLst/>
          </a:prstGeom>
          <a:noFill/>
        </p:spPr>
        <p:txBody>
          <a:bodyPr wrap="none" lIns="0" tIns="0" rIns="0" bIns="0" anchor="ctr"/>
          <a:lstStyle/>
          <a:p>
            <a:pPr algn="ctr"/>
            <a:r>
              <a:rPr sz="1000" b="1" i="0" spc="80" dirty="0">
                <a:solidFill>
                  <a:srgbClr val="9CA3AF"/>
                </a:solidFill>
                <a:latin typeface="Inter"/>
              </a:rPr>
              <a:t>STAGE </a:t>
            </a:r>
            <a:r>
              <a:rPr b="1" i="0" dirty="0">
                <a:solidFill>
                  <a:srgbClr val="31C48D"/>
                </a:solidFill>
                <a:latin typeface="Inter"/>
              </a:rPr>
              <a:t>1</a:t>
            </a:r>
          </a:p>
        </p:txBody>
      </p:sp>
      <p:sp>
        <p:nvSpPr>
          <p:cNvPr id="13" name="TextBox 12"/>
          <p:cNvSpPr txBox="1"/>
          <p:nvPr/>
        </p:nvSpPr>
        <p:spPr>
          <a:xfrm>
            <a:off x="1874519" y="2020824"/>
            <a:ext cx="2514600" cy="548640"/>
          </a:xfrm>
          <a:prstGeom prst="rect">
            <a:avLst/>
          </a:prstGeom>
          <a:noFill/>
        </p:spPr>
        <p:txBody>
          <a:bodyPr wrap="square" lIns="0" tIns="0" rIns="0" bIns="0" anchor="ctr"/>
          <a:lstStyle/>
          <a:p>
            <a:pPr algn="l"/>
            <a:r>
              <a:rPr sz="1250" b="1" i="0">
                <a:solidFill>
                  <a:srgbClr val="FFFFFF"/>
                </a:solidFill>
                <a:latin typeface="Inter"/>
              </a:rPr>
              <a:t>Ingestion</a:t>
            </a:r>
          </a:p>
        </p:txBody>
      </p:sp>
      <p:sp>
        <p:nvSpPr>
          <p:cNvPr id="14" name="TextBox 13"/>
          <p:cNvSpPr txBox="1"/>
          <p:nvPr/>
        </p:nvSpPr>
        <p:spPr>
          <a:xfrm>
            <a:off x="4526280" y="2020824"/>
            <a:ext cx="6903720" cy="548640"/>
          </a:xfrm>
          <a:prstGeom prst="rect">
            <a:avLst/>
          </a:prstGeom>
          <a:noFill/>
        </p:spPr>
        <p:txBody>
          <a:bodyPr wrap="square" lIns="0" tIns="0" rIns="0" bIns="0" anchor="ctr"/>
          <a:lstStyle/>
          <a:p>
            <a:pPr algn="l">
              <a:lnSpc>
                <a:spcPct val="115000"/>
              </a:lnSpc>
            </a:pPr>
            <a:r>
              <a:rPr sz="1000" b="0" i="0">
                <a:solidFill>
                  <a:srgbClr val="9CA3AF"/>
                </a:solidFill>
                <a:latin typeface="Inter"/>
              </a:rPr>
              <a:t>Client packs and public data land in your isolated tenant, native grain, native cadence, native schema preserved bit for bit.</a:t>
            </a:r>
          </a:p>
        </p:txBody>
      </p:sp>
      <p:sp>
        <p:nvSpPr>
          <p:cNvPr id="15" name="Rounded Rectangle 14"/>
          <p:cNvSpPr/>
          <p:nvPr/>
        </p:nvSpPr>
        <p:spPr>
          <a:xfrm>
            <a:off x="548640" y="2651760"/>
            <a:ext cx="11091672" cy="54864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86384" y="2651760"/>
            <a:ext cx="868680" cy="548640"/>
          </a:xfrm>
          <a:prstGeom prst="rect">
            <a:avLst/>
          </a:prstGeom>
          <a:noFill/>
        </p:spPr>
        <p:txBody>
          <a:bodyPr wrap="none" lIns="0" tIns="0" rIns="0" bIns="0" anchor="ctr"/>
          <a:lstStyle/>
          <a:p>
            <a:pPr algn="ctr"/>
            <a:r>
              <a:rPr sz="1000" b="1" i="0" spc="80" dirty="0">
                <a:solidFill>
                  <a:srgbClr val="9CA3AF"/>
                </a:solidFill>
                <a:latin typeface="Inter"/>
              </a:rPr>
              <a:t>STAGE </a:t>
            </a:r>
            <a:r>
              <a:rPr b="1" i="0" dirty="0">
                <a:solidFill>
                  <a:srgbClr val="31C48D"/>
                </a:solidFill>
                <a:latin typeface="Inter"/>
              </a:rPr>
              <a:t>2</a:t>
            </a:r>
          </a:p>
        </p:txBody>
      </p:sp>
      <p:sp>
        <p:nvSpPr>
          <p:cNvPr id="17" name="TextBox 16"/>
          <p:cNvSpPr txBox="1"/>
          <p:nvPr/>
        </p:nvSpPr>
        <p:spPr>
          <a:xfrm>
            <a:off x="1874519" y="2651760"/>
            <a:ext cx="2514600" cy="548640"/>
          </a:xfrm>
          <a:prstGeom prst="rect">
            <a:avLst/>
          </a:prstGeom>
          <a:noFill/>
        </p:spPr>
        <p:txBody>
          <a:bodyPr wrap="square" lIns="0" tIns="0" rIns="0" bIns="0" anchor="ctr"/>
          <a:lstStyle/>
          <a:p>
            <a:pPr algn="l"/>
            <a:r>
              <a:rPr sz="1250" b="1" i="0">
                <a:solidFill>
                  <a:srgbClr val="FFFFFF"/>
                </a:solidFill>
                <a:latin typeface="Inter"/>
              </a:rPr>
              <a:t>Normalization</a:t>
            </a:r>
          </a:p>
        </p:txBody>
      </p:sp>
      <p:sp>
        <p:nvSpPr>
          <p:cNvPr id="18" name="TextBox 17"/>
          <p:cNvSpPr txBox="1"/>
          <p:nvPr/>
        </p:nvSpPr>
        <p:spPr>
          <a:xfrm>
            <a:off x="4526280" y="2651760"/>
            <a:ext cx="6903720" cy="548640"/>
          </a:xfrm>
          <a:prstGeom prst="rect">
            <a:avLst/>
          </a:prstGeom>
          <a:noFill/>
        </p:spPr>
        <p:txBody>
          <a:bodyPr wrap="square" lIns="0" tIns="0" rIns="0" bIns="0" anchor="ctr"/>
          <a:lstStyle/>
          <a:p>
            <a:pPr algn="l">
              <a:lnSpc>
                <a:spcPct val="115000"/>
              </a:lnSpc>
            </a:pPr>
            <a:r>
              <a:rPr sz="1000" b="0" i="0">
                <a:solidFill>
                  <a:srgbClr val="9CA3AF"/>
                </a:solidFill>
                <a:latin typeface="Inter"/>
              </a:rPr>
              <a:t>One vocabulary across every pack. Every row resolved to a unified firm, office, team, and advisor hierarchy.</a:t>
            </a:r>
          </a:p>
        </p:txBody>
      </p:sp>
      <p:sp>
        <p:nvSpPr>
          <p:cNvPr id="19" name="Rounded Rectangle 18"/>
          <p:cNvSpPr/>
          <p:nvPr/>
        </p:nvSpPr>
        <p:spPr>
          <a:xfrm>
            <a:off x="548640" y="3282696"/>
            <a:ext cx="11091672" cy="54864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6384" y="3282696"/>
            <a:ext cx="868680" cy="548640"/>
          </a:xfrm>
          <a:prstGeom prst="rect">
            <a:avLst/>
          </a:prstGeom>
          <a:noFill/>
        </p:spPr>
        <p:txBody>
          <a:bodyPr wrap="none" lIns="0" tIns="0" rIns="0" bIns="0" anchor="ctr"/>
          <a:lstStyle/>
          <a:p>
            <a:pPr algn="ctr"/>
            <a:r>
              <a:rPr sz="1000" b="1" i="0" spc="80">
                <a:solidFill>
                  <a:srgbClr val="9CA3AF"/>
                </a:solidFill>
                <a:latin typeface="Inter"/>
              </a:rPr>
              <a:t>STAGE </a:t>
            </a:r>
            <a:r>
              <a:rPr b="1" i="0">
                <a:solidFill>
                  <a:srgbClr val="31C48D"/>
                </a:solidFill>
                <a:latin typeface="Inter"/>
              </a:rPr>
              <a:t>3</a:t>
            </a:r>
          </a:p>
        </p:txBody>
      </p:sp>
      <p:sp>
        <p:nvSpPr>
          <p:cNvPr id="21" name="TextBox 20"/>
          <p:cNvSpPr txBox="1"/>
          <p:nvPr/>
        </p:nvSpPr>
        <p:spPr>
          <a:xfrm>
            <a:off x="1874519" y="3282696"/>
            <a:ext cx="2514600" cy="548640"/>
          </a:xfrm>
          <a:prstGeom prst="rect">
            <a:avLst/>
          </a:prstGeom>
          <a:noFill/>
        </p:spPr>
        <p:txBody>
          <a:bodyPr wrap="square" lIns="0" tIns="0" rIns="0" bIns="0" anchor="ctr"/>
          <a:lstStyle/>
          <a:p>
            <a:pPr algn="l"/>
            <a:r>
              <a:rPr sz="1250" b="1" i="0">
                <a:solidFill>
                  <a:srgbClr val="FFFFFF"/>
                </a:solidFill>
                <a:latin typeface="Inter"/>
              </a:rPr>
              <a:t>Synthesize</a:t>
            </a:r>
          </a:p>
        </p:txBody>
      </p:sp>
      <p:sp>
        <p:nvSpPr>
          <p:cNvPr id="22" name="TextBox 21"/>
          <p:cNvSpPr txBox="1"/>
          <p:nvPr/>
        </p:nvSpPr>
        <p:spPr>
          <a:xfrm>
            <a:off x="4526280" y="3282696"/>
            <a:ext cx="6903720" cy="548640"/>
          </a:xfrm>
          <a:prstGeom prst="rect">
            <a:avLst/>
          </a:prstGeom>
          <a:noFill/>
        </p:spPr>
        <p:txBody>
          <a:bodyPr wrap="square" lIns="0" tIns="0" rIns="0" bIns="0" anchor="ctr"/>
          <a:lstStyle/>
          <a:p>
            <a:pPr algn="l">
              <a:lnSpc>
                <a:spcPct val="115000"/>
              </a:lnSpc>
            </a:pPr>
            <a:r>
              <a:rPr sz="1000" b="0" i="0">
                <a:solidFill>
                  <a:srgbClr val="9CA3AF"/>
                </a:solidFill>
                <a:latin typeface="Inter"/>
              </a:rPr>
              <a:t>Best Piece logic. Overlapping and complementary packs become one authoritative row per advisor per period, with lineage preserved.</a:t>
            </a:r>
          </a:p>
        </p:txBody>
      </p:sp>
      <p:sp>
        <p:nvSpPr>
          <p:cNvPr id="23" name="Rounded Rectangle 22"/>
          <p:cNvSpPr/>
          <p:nvPr/>
        </p:nvSpPr>
        <p:spPr>
          <a:xfrm>
            <a:off x="548640" y="3913631"/>
            <a:ext cx="11091672" cy="54864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6384" y="3913631"/>
            <a:ext cx="868680" cy="548640"/>
          </a:xfrm>
          <a:prstGeom prst="rect">
            <a:avLst/>
          </a:prstGeom>
          <a:noFill/>
        </p:spPr>
        <p:txBody>
          <a:bodyPr wrap="none" lIns="0" tIns="0" rIns="0" bIns="0" anchor="ctr"/>
          <a:lstStyle/>
          <a:p>
            <a:pPr algn="ctr"/>
            <a:r>
              <a:rPr sz="1000" b="1" i="0" spc="80">
                <a:solidFill>
                  <a:srgbClr val="9CA3AF"/>
                </a:solidFill>
                <a:latin typeface="Inter"/>
              </a:rPr>
              <a:t>STAGE </a:t>
            </a:r>
            <a:r>
              <a:rPr b="1" i="0">
                <a:solidFill>
                  <a:srgbClr val="31C48D"/>
                </a:solidFill>
                <a:latin typeface="Inter"/>
              </a:rPr>
              <a:t>4</a:t>
            </a:r>
          </a:p>
        </p:txBody>
      </p:sp>
      <p:sp>
        <p:nvSpPr>
          <p:cNvPr id="25" name="TextBox 24"/>
          <p:cNvSpPr txBox="1"/>
          <p:nvPr/>
        </p:nvSpPr>
        <p:spPr>
          <a:xfrm>
            <a:off x="1874519" y="3913631"/>
            <a:ext cx="2514600" cy="548640"/>
          </a:xfrm>
          <a:prstGeom prst="rect">
            <a:avLst/>
          </a:prstGeom>
          <a:noFill/>
        </p:spPr>
        <p:txBody>
          <a:bodyPr wrap="square" lIns="0" tIns="0" rIns="0" bIns="0" anchor="ctr"/>
          <a:lstStyle/>
          <a:p>
            <a:pPr algn="l"/>
            <a:r>
              <a:rPr sz="1250" b="1" i="0">
                <a:solidFill>
                  <a:srgbClr val="FFFFFF"/>
                </a:solidFill>
                <a:latin typeface="Inter"/>
              </a:rPr>
              <a:t>Attribution &amp; Crosswalks</a:t>
            </a:r>
          </a:p>
        </p:txBody>
      </p:sp>
      <p:sp>
        <p:nvSpPr>
          <p:cNvPr id="26" name="TextBox 25"/>
          <p:cNvSpPr txBox="1"/>
          <p:nvPr/>
        </p:nvSpPr>
        <p:spPr>
          <a:xfrm>
            <a:off x="4526280" y="3913631"/>
            <a:ext cx="6903720" cy="548640"/>
          </a:xfrm>
          <a:prstGeom prst="rect">
            <a:avLst/>
          </a:prstGeom>
          <a:noFill/>
        </p:spPr>
        <p:txBody>
          <a:bodyPr wrap="square" lIns="0" tIns="0" rIns="0" bIns="0" anchor="ctr"/>
          <a:lstStyle/>
          <a:p>
            <a:pPr algn="l">
              <a:lnSpc>
                <a:spcPct val="115000"/>
              </a:lnSpc>
            </a:pPr>
            <a:r>
              <a:rPr sz="1000" b="0" i="0">
                <a:solidFill>
                  <a:srgbClr val="9CA3AF"/>
                </a:solidFill>
                <a:latin typeface="Inter"/>
              </a:rPr>
              <a:t>Office and team totals allocated down to individual advisors. Every pack's categories mapped to one taxonomy.</a:t>
            </a:r>
          </a:p>
        </p:txBody>
      </p:sp>
      <p:sp>
        <p:nvSpPr>
          <p:cNvPr id="27" name="Rounded Rectangle 26"/>
          <p:cNvSpPr/>
          <p:nvPr/>
        </p:nvSpPr>
        <p:spPr>
          <a:xfrm>
            <a:off x="548640" y="4544567"/>
            <a:ext cx="11091672" cy="54864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86384" y="4544567"/>
            <a:ext cx="868680" cy="548640"/>
          </a:xfrm>
          <a:prstGeom prst="rect">
            <a:avLst/>
          </a:prstGeom>
          <a:noFill/>
        </p:spPr>
        <p:txBody>
          <a:bodyPr wrap="none" lIns="0" tIns="0" rIns="0" bIns="0" anchor="ctr"/>
          <a:lstStyle/>
          <a:p>
            <a:pPr algn="ctr"/>
            <a:r>
              <a:rPr sz="1000" b="1" i="0" spc="80">
                <a:solidFill>
                  <a:srgbClr val="9CA3AF"/>
                </a:solidFill>
                <a:latin typeface="Inter"/>
              </a:rPr>
              <a:t>STAGE </a:t>
            </a:r>
            <a:r>
              <a:rPr b="1" i="0">
                <a:solidFill>
                  <a:srgbClr val="31C48D"/>
                </a:solidFill>
                <a:latin typeface="Inter"/>
              </a:rPr>
              <a:t>5</a:t>
            </a:r>
          </a:p>
        </p:txBody>
      </p:sp>
      <p:sp>
        <p:nvSpPr>
          <p:cNvPr id="29" name="TextBox 28"/>
          <p:cNvSpPr txBox="1"/>
          <p:nvPr/>
        </p:nvSpPr>
        <p:spPr>
          <a:xfrm>
            <a:off x="1874519" y="4544567"/>
            <a:ext cx="2514600" cy="548640"/>
          </a:xfrm>
          <a:prstGeom prst="rect">
            <a:avLst/>
          </a:prstGeom>
          <a:noFill/>
        </p:spPr>
        <p:txBody>
          <a:bodyPr wrap="square" lIns="0" tIns="0" rIns="0" bIns="0" anchor="ctr"/>
          <a:lstStyle/>
          <a:p>
            <a:pPr algn="l"/>
            <a:r>
              <a:rPr sz="1250" b="1" i="0">
                <a:solidFill>
                  <a:srgbClr val="FFFFFF"/>
                </a:solidFill>
                <a:latin typeface="Inter"/>
              </a:rPr>
              <a:t>Delivery</a:t>
            </a:r>
          </a:p>
        </p:txBody>
      </p:sp>
      <p:sp>
        <p:nvSpPr>
          <p:cNvPr id="30" name="TextBox 29"/>
          <p:cNvSpPr txBox="1"/>
          <p:nvPr/>
        </p:nvSpPr>
        <p:spPr>
          <a:xfrm>
            <a:off x="4526280" y="4544567"/>
            <a:ext cx="6903720" cy="548640"/>
          </a:xfrm>
          <a:prstGeom prst="rect">
            <a:avLst/>
          </a:prstGeom>
          <a:noFill/>
        </p:spPr>
        <p:txBody>
          <a:bodyPr wrap="square" lIns="0" tIns="0" rIns="0" bIns="0" anchor="ctr"/>
          <a:lstStyle/>
          <a:p>
            <a:pPr algn="l">
              <a:lnSpc>
                <a:spcPct val="115000"/>
              </a:lnSpc>
            </a:pPr>
            <a:r>
              <a:rPr sz="1000" b="0" i="0">
                <a:solidFill>
                  <a:srgbClr val="9CA3AF"/>
                </a:solidFill>
                <a:latin typeface="Inter"/>
              </a:rPr>
              <a:t>Dashboards, Ask Field, MCP, and data share. The same intelligence, the same vocabulary, on every surface.</a:t>
            </a:r>
          </a:p>
        </p:txBody>
      </p:sp>
      <p:sp>
        <p:nvSpPr>
          <p:cNvPr id="31" name="Rounded Rectangle 30"/>
          <p:cNvSpPr/>
          <p:nvPr/>
        </p:nvSpPr>
        <p:spPr>
          <a:xfrm>
            <a:off x="548640" y="5175503"/>
            <a:ext cx="11091672" cy="54864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6384" y="5175503"/>
            <a:ext cx="868680" cy="548640"/>
          </a:xfrm>
          <a:prstGeom prst="rect">
            <a:avLst/>
          </a:prstGeom>
          <a:noFill/>
        </p:spPr>
        <p:txBody>
          <a:bodyPr wrap="none" lIns="0" tIns="0" rIns="0" bIns="0" anchor="ctr"/>
          <a:lstStyle/>
          <a:p>
            <a:pPr algn="ctr"/>
            <a:r>
              <a:rPr sz="1000" b="1" i="0" spc="80">
                <a:solidFill>
                  <a:srgbClr val="9CA3AF"/>
                </a:solidFill>
                <a:latin typeface="Inter"/>
              </a:rPr>
              <a:t>STAGE </a:t>
            </a:r>
            <a:r>
              <a:rPr b="1" i="0">
                <a:solidFill>
                  <a:srgbClr val="31C48D"/>
                </a:solidFill>
                <a:latin typeface="Inter"/>
              </a:rPr>
              <a:t>6</a:t>
            </a:r>
          </a:p>
        </p:txBody>
      </p:sp>
      <p:sp>
        <p:nvSpPr>
          <p:cNvPr id="33" name="TextBox 32"/>
          <p:cNvSpPr txBox="1"/>
          <p:nvPr/>
        </p:nvSpPr>
        <p:spPr>
          <a:xfrm>
            <a:off x="1874519" y="5175503"/>
            <a:ext cx="2514600" cy="548640"/>
          </a:xfrm>
          <a:prstGeom prst="rect">
            <a:avLst/>
          </a:prstGeom>
          <a:noFill/>
        </p:spPr>
        <p:txBody>
          <a:bodyPr wrap="square" lIns="0" tIns="0" rIns="0" bIns="0" anchor="ctr"/>
          <a:lstStyle/>
          <a:p>
            <a:pPr algn="l"/>
            <a:r>
              <a:rPr sz="1250" b="1" i="0">
                <a:solidFill>
                  <a:srgbClr val="FFFFFF"/>
                </a:solidFill>
                <a:latin typeface="Inter"/>
              </a:rPr>
              <a:t>Foundation Compounds</a:t>
            </a:r>
          </a:p>
        </p:txBody>
      </p:sp>
      <p:sp>
        <p:nvSpPr>
          <p:cNvPr id="34" name="TextBox 33"/>
          <p:cNvSpPr txBox="1"/>
          <p:nvPr/>
        </p:nvSpPr>
        <p:spPr>
          <a:xfrm>
            <a:off x="4526280" y="5175503"/>
            <a:ext cx="6903720" cy="548640"/>
          </a:xfrm>
          <a:prstGeom prst="rect">
            <a:avLst/>
          </a:prstGeom>
          <a:noFill/>
        </p:spPr>
        <p:txBody>
          <a:bodyPr wrap="square" lIns="0" tIns="0" rIns="0" bIns="0" anchor="ctr"/>
          <a:lstStyle/>
          <a:p>
            <a:pPr algn="l">
              <a:lnSpc>
                <a:spcPct val="115000"/>
              </a:lnSpc>
            </a:pPr>
            <a:r>
              <a:rPr sz="1000" b="0" i="0">
                <a:solidFill>
                  <a:srgbClr val="9CA3AF"/>
                </a:solidFill>
                <a:latin typeface="Inter"/>
              </a:rPr>
              <a:t>Level 2 and Level 3 extend the same unified data set, semantic layer, and MCP server. Nothing gets rebuilt.</a:t>
            </a:r>
          </a:p>
        </p:txBody>
      </p:sp>
      <p:sp>
        <p:nvSpPr>
          <p:cNvPr id="35" name="Rounded Rectangle 34"/>
          <p:cNvSpPr/>
          <p:nvPr/>
        </p:nvSpPr>
        <p:spPr>
          <a:xfrm>
            <a:off x="548640" y="5806439"/>
            <a:ext cx="11091672" cy="54864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86384" y="5806439"/>
            <a:ext cx="868680" cy="548640"/>
          </a:xfrm>
          <a:prstGeom prst="rect">
            <a:avLst/>
          </a:prstGeom>
          <a:noFill/>
        </p:spPr>
        <p:txBody>
          <a:bodyPr wrap="none" lIns="0" tIns="0" rIns="0" bIns="0" anchor="ctr"/>
          <a:lstStyle/>
          <a:p>
            <a:pPr algn="ctr"/>
            <a:r>
              <a:rPr sz="1000" b="1" i="0" spc="80">
                <a:solidFill>
                  <a:srgbClr val="9CA3AF"/>
                </a:solidFill>
                <a:latin typeface="Inter"/>
              </a:rPr>
              <a:t>STAGE </a:t>
            </a:r>
            <a:r>
              <a:rPr b="1" i="0">
                <a:solidFill>
                  <a:srgbClr val="31C48D"/>
                </a:solidFill>
                <a:latin typeface="Inter"/>
              </a:rPr>
              <a:t>7</a:t>
            </a:r>
          </a:p>
        </p:txBody>
      </p:sp>
      <p:sp>
        <p:nvSpPr>
          <p:cNvPr id="37" name="TextBox 36"/>
          <p:cNvSpPr txBox="1"/>
          <p:nvPr/>
        </p:nvSpPr>
        <p:spPr>
          <a:xfrm>
            <a:off x="1874519" y="5806439"/>
            <a:ext cx="2514600" cy="548640"/>
          </a:xfrm>
          <a:prstGeom prst="rect">
            <a:avLst/>
          </a:prstGeom>
          <a:noFill/>
        </p:spPr>
        <p:txBody>
          <a:bodyPr wrap="square" lIns="0" tIns="0" rIns="0" bIns="0" anchor="ctr"/>
          <a:lstStyle/>
          <a:p>
            <a:pPr algn="l"/>
            <a:r>
              <a:rPr sz="1250" b="1" i="0">
                <a:solidFill>
                  <a:srgbClr val="FFFFFF"/>
                </a:solidFill>
                <a:latin typeface="Inter"/>
              </a:rPr>
              <a:t>Architecture &amp; Security</a:t>
            </a:r>
          </a:p>
        </p:txBody>
      </p:sp>
      <p:sp>
        <p:nvSpPr>
          <p:cNvPr id="38" name="TextBox 37"/>
          <p:cNvSpPr txBox="1"/>
          <p:nvPr/>
        </p:nvSpPr>
        <p:spPr>
          <a:xfrm>
            <a:off x="4526280" y="5806439"/>
            <a:ext cx="6903720" cy="548640"/>
          </a:xfrm>
          <a:prstGeom prst="rect">
            <a:avLst/>
          </a:prstGeom>
          <a:noFill/>
        </p:spPr>
        <p:txBody>
          <a:bodyPr wrap="square" lIns="0" tIns="0" rIns="0" bIns="0" anchor="ctr"/>
          <a:lstStyle/>
          <a:p>
            <a:pPr algn="l">
              <a:lnSpc>
                <a:spcPct val="115000"/>
              </a:lnSpc>
            </a:pPr>
            <a:r>
              <a:rPr sz="1000" b="0" i="0">
                <a:solidFill>
                  <a:srgbClr val="9CA3AF"/>
                </a:solidFill>
                <a:latin typeface="Inter"/>
              </a:rPr>
              <a:t>Database-per-tenant isolation, defense in depth, and audit logging on every access path, including MCP.</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OVERVIEW</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The Intelligence Layer</a:t>
            </a:r>
          </a:p>
        </p:txBody>
      </p:sp>
      <p:sp>
        <p:nvSpPr>
          <p:cNvPr id="5" name="TextBox 4"/>
          <p:cNvSpPr txBox="1"/>
          <p:nvPr/>
        </p:nvSpPr>
        <p:spPr>
          <a:xfrm>
            <a:off x="548640" y="1261872"/>
            <a:ext cx="11064240" cy="731520"/>
          </a:xfrm>
          <a:prstGeom prst="rect">
            <a:avLst/>
          </a:prstGeom>
          <a:noFill/>
        </p:spPr>
        <p:txBody>
          <a:bodyPr wrap="square" lIns="0" tIns="0" rIns="0" bIns="0" anchor="t"/>
          <a:lstStyle/>
          <a:p>
            <a:pPr algn="l">
              <a:lnSpc>
                <a:spcPct val="125000"/>
              </a:lnSpc>
            </a:pPr>
            <a:r>
              <a:rPr sz="1150" b="0" i="0">
                <a:solidFill>
                  <a:srgbClr val="9CA3AF"/>
                </a:solidFill>
                <a:latin typeface="Inter"/>
              </a:rPr>
              <a:t>Field consolidates every distribution data pack an asset manager subscribes to, plus public regulatory data (ADV, 13F, FINRA, BrokerCheck), plus the manager's own commercial data into </a:t>
            </a:r>
            <a:r>
              <a:rPr sz="1150" b="1" i="0">
                <a:solidFill>
                  <a:srgbClr val="FFFFFF"/>
                </a:solidFill>
                <a:latin typeface="Inter"/>
              </a:rPr>
              <a:t>one unified, buying-unit view</a:t>
            </a:r>
            <a:r>
              <a:rPr sz="1150" b="0" i="0">
                <a:solidFill>
                  <a:srgbClr val="9CA3AF"/>
                </a:solidFill>
                <a:latin typeface="Inter"/>
              </a:rPr>
              <a:t>. Any AI tool, dashboard, or downstream system queries the same intelligence with the same vocabulary.</a:t>
            </a:r>
          </a:p>
        </p:txBody>
      </p:sp>
      <p:sp>
        <p:nvSpPr>
          <p:cNvPr id="6" name="TextBox 5"/>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7" name="TextBox 6"/>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3</a:t>
            </a:r>
          </a:p>
        </p:txBody>
      </p:sp>
      <p:pic>
        <p:nvPicPr>
          <p:cNvPr id="8" name="Picture 7" descr="intel_layer.png"/>
          <p:cNvPicPr>
            <a:picLocks noChangeAspect="1"/>
          </p:cNvPicPr>
          <p:nvPr/>
        </p:nvPicPr>
        <p:blipFill>
          <a:blip r:embed="rId2"/>
          <a:stretch>
            <a:fillRect/>
          </a:stretch>
        </p:blipFill>
        <p:spPr>
          <a:xfrm>
            <a:off x="906627" y="1938528"/>
            <a:ext cx="10378440" cy="45753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OVERVIEW</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You've already made the investment</a:t>
            </a:r>
          </a:p>
        </p:txBody>
      </p:sp>
      <p:sp>
        <p:nvSpPr>
          <p:cNvPr id="5" name="TextBox 4"/>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6" name="TextBox 5"/>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4</a:t>
            </a:r>
          </a:p>
        </p:txBody>
      </p:sp>
      <p:sp>
        <p:nvSpPr>
          <p:cNvPr id="7" name="Rounded Rectangle 6"/>
          <p:cNvSpPr/>
          <p:nvPr/>
        </p:nvSpPr>
        <p:spPr>
          <a:xfrm>
            <a:off x="548640" y="1417320"/>
            <a:ext cx="3611880" cy="1691640"/>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4672" y="1645920"/>
            <a:ext cx="3108960" cy="1325880"/>
          </a:xfrm>
          <a:prstGeom prst="rect">
            <a:avLst/>
          </a:prstGeom>
          <a:noFill/>
        </p:spPr>
        <p:txBody>
          <a:bodyPr wrap="square" lIns="0" tIns="0" rIns="0" bIns="0" anchor="t"/>
          <a:lstStyle/>
          <a:p>
            <a:pPr algn="l">
              <a:spcAft>
                <a:spcPts val="400"/>
              </a:spcAft>
            </a:pPr>
            <a:r>
              <a:rPr sz="2700" b="1" i="0">
                <a:solidFill>
                  <a:srgbClr val="31C48D"/>
                </a:solidFill>
                <a:latin typeface="Inter"/>
              </a:rPr>
              <a:t>12 to 18 mo</a:t>
            </a:r>
          </a:p>
          <a:p>
            <a:pPr algn="l">
              <a:spcAft>
                <a:spcPts val="400"/>
              </a:spcAft>
            </a:pPr>
            <a:r>
              <a:rPr sz="900" b="1" i="0" spc="150">
                <a:solidFill>
                  <a:srgbClr val="9CA3AF"/>
                </a:solidFill>
                <a:latin typeface="Inter"/>
              </a:rPr>
              <a:t>TIME ELIMINATED</a:t>
            </a:r>
          </a:p>
          <a:p>
            <a:pPr algn="l">
              <a:lnSpc>
                <a:spcPct val="115000"/>
              </a:lnSpc>
            </a:pPr>
            <a:r>
              <a:rPr sz="1000" b="0" i="0">
                <a:solidFill>
                  <a:srgbClr val="FFFFFF"/>
                </a:solidFill>
                <a:latin typeface="Inter"/>
              </a:rPr>
              <a:t>of internal domain-expert work typically required to make distribution data AI-ready.</a:t>
            </a:r>
          </a:p>
        </p:txBody>
      </p:sp>
      <p:sp>
        <p:nvSpPr>
          <p:cNvPr id="9" name="Rounded Rectangle 8"/>
          <p:cNvSpPr/>
          <p:nvPr/>
        </p:nvSpPr>
        <p:spPr>
          <a:xfrm>
            <a:off x="4370831" y="1417320"/>
            <a:ext cx="3611880" cy="1691640"/>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26864" y="1645920"/>
            <a:ext cx="3108960" cy="1325880"/>
          </a:xfrm>
          <a:prstGeom prst="rect">
            <a:avLst/>
          </a:prstGeom>
          <a:noFill/>
        </p:spPr>
        <p:txBody>
          <a:bodyPr wrap="square" lIns="0" tIns="0" rIns="0" bIns="0" anchor="t"/>
          <a:lstStyle/>
          <a:p>
            <a:pPr algn="l">
              <a:spcAft>
                <a:spcPts val="400"/>
              </a:spcAft>
            </a:pPr>
            <a:r>
              <a:rPr sz="2700" b="1" i="0">
                <a:solidFill>
                  <a:srgbClr val="31C48D"/>
                </a:solidFill>
                <a:latin typeface="Inter"/>
              </a:rPr>
              <a:t>~90 days</a:t>
            </a:r>
          </a:p>
          <a:p>
            <a:pPr algn="l">
              <a:spcAft>
                <a:spcPts val="400"/>
              </a:spcAft>
            </a:pPr>
            <a:r>
              <a:rPr sz="900" b="1" i="0" spc="150">
                <a:solidFill>
                  <a:srgbClr val="9CA3AF"/>
                </a:solidFill>
                <a:latin typeface="Inter"/>
              </a:rPr>
              <a:t>KICKOFF TO LIVE</a:t>
            </a:r>
          </a:p>
          <a:p>
            <a:pPr algn="l">
              <a:lnSpc>
                <a:spcPct val="115000"/>
              </a:lnSpc>
            </a:pPr>
            <a:r>
              <a:rPr sz="1000" b="0" i="0">
                <a:solidFill>
                  <a:srgbClr val="FFFFFF"/>
                </a:solidFill>
                <a:latin typeface="Inter"/>
              </a:rPr>
              <a:t>from NDA to a live platform running on your actual data packs and coverage model.</a:t>
            </a:r>
          </a:p>
        </p:txBody>
      </p:sp>
      <p:sp>
        <p:nvSpPr>
          <p:cNvPr id="11" name="Rounded Rectangle 10"/>
          <p:cNvSpPr/>
          <p:nvPr/>
        </p:nvSpPr>
        <p:spPr>
          <a:xfrm>
            <a:off x="8193023" y="1417320"/>
            <a:ext cx="3611880" cy="1691640"/>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49055" y="1645920"/>
            <a:ext cx="3108960" cy="1325880"/>
          </a:xfrm>
          <a:prstGeom prst="rect">
            <a:avLst/>
          </a:prstGeom>
          <a:noFill/>
        </p:spPr>
        <p:txBody>
          <a:bodyPr wrap="square" lIns="0" tIns="0" rIns="0" bIns="0" anchor="t"/>
          <a:lstStyle/>
          <a:p>
            <a:pPr algn="l">
              <a:spcAft>
                <a:spcPts val="400"/>
              </a:spcAft>
            </a:pPr>
            <a:r>
              <a:rPr sz="2700" b="1" i="0">
                <a:solidFill>
                  <a:srgbClr val="31C48D"/>
                </a:solidFill>
                <a:latin typeface="Inter"/>
              </a:rPr>
              <a:t>Every pack</a:t>
            </a:r>
          </a:p>
          <a:p>
            <a:pPr algn="l">
              <a:spcAft>
                <a:spcPts val="400"/>
              </a:spcAft>
            </a:pPr>
            <a:r>
              <a:rPr sz="900" b="1" i="0" spc="150">
                <a:solidFill>
                  <a:srgbClr val="9CA3AF"/>
                </a:solidFill>
                <a:latin typeface="Inter"/>
              </a:rPr>
              <a:t>EVERY GRAIN, ONE SCHEMA</a:t>
            </a:r>
          </a:p>
          <a:p>
            <a:pPr algn="l">
              <a:lnSpc>
                <a:spcPct val="115000"/>
              </a:lnSpc>
            </a:pPr>
            <a:r>
              <a:rPr sz="1000" b="0" i="0">
                <a:solidFill>
                  <a:srgbClr val="FFFFFF"/>
                </a:solidFill>
                <a:latin typeface="Inter"/>
              </a:rPr>
              <a:t>FA, team, office, firm. Mapped to your coverage model with lineage preserved end to end.</a:t>
            </a:r>
          </a:p>
        </p:txBody>
      </p:sp>
      <p:sp>
        <p:nvSpPr>
          <p:cNvPr id="13" name="Rounded Rectangle 12"/>
          <p:cNvSpPr/>
          <p:nvPr/>
        </p:nvSpPr>
        <p:spPr>
          <a:xfrm>
            <a:off x="548640" y="3520440"/>
            <a:ext cx="11091672" cy="2697480"/>
          </a:xfrm>
          <a:prstGeom prst="roundRect">
            <a:avLst>
              <a:gd name="adj" fmla="val 4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3794760"/>
            <a:ext cx="10469880" cy="2286000"/>
          </a:xfrm>
          <a:prstGeom prst="rect">
            <a:avLst/>
          </a:prstGeom>
          <a:noFill/>
        </p:spPr>
        <p:txBody>
          <a:bodyPr wrap="square" lIns="0" tIns="0" rIns="0" bIns="0" anchor="t"/>
          <a:lstStyle/>
          <a:p>
            <a:pPr algn="l">
              <a:lnSpc>
                <a:spcPct val="130000"/>
              </a:lnSpc>
              <a:spcAft>
                <a:spcPts val="1000"/>
              </a:spcAft>
            </a:pPr>
            <a:r>
              <a:rPr sz="1150" b="0" i="0">
                <a:solidFill>
                  <a:srgbClr val="9CA3AF"/>
                </a:solidFill>
                <a:latin typeface="Inter"/>
              </a:rPr>
              <a:t>The typical asset manager subscribes to </a:t>
            </a:r>
            <a:r>
              <a:rPr sz="1150" b="1" i="0">
                <a:solidFill>
                  <a:srgbClr val="FFFFFF"/>
                </a:solidFill>
                <a:latin typeface="Inter"/>
              </a:rPr>
              <a:t>6+ data packs</a:t>
            </a:r>
            <a:r>
              <a:rPr sz="1150" b="0" i="0">
                <a:solidFill>
                  <a:srgbClr val="9CA3AF"/>
                </a:solidFill>
                <a:latin typeface="Inter"/>
              </a:rPr>
              <a:t> at a cost of </a:t>
            </a:r>
            <a:r>
              <a:rPr sz="1150" b="1" i="0">
                <a:solidFill>
                  <a:srgbClr val="FFFFFF"/>
                </a:solidFill>
                <a:latin typeface="Inter"/>
              </a:rPr>
              <a:t>$1M+ annually</a:t>
            </a:r>
            <a:r>
              <a:rPr sz="1150" b="0" i="0">
                <a:solidFill>
                  <a:srgbClr val="9CA3AF"/>
                </a:solidFill>
                <a:latin typeface="Inter"/>
              </a:rPr>
              <a:t>. That is before internal engineers, analysts, and infrastructure. Industry data reveals a hard truth: 80% of that spend cannot be acted on by the sales teams it was purchased for. It sits in spreadsheets and siloed systems.</a:t>
            </a:r>
          </a:p>
          <a:p>
            <a:pPr algn="l">
              <a:lnSpc>
                <a:spcPct val="130000"/>
              </a:lnSpc>
            </a:pPr>
            <a:r>
              <a:rPr sz="1150" b="0" i="0">
                <a:solidFill>
                  <a:srgbClr val="9CA3AF"/>
                </a:solidFill>
                <a:latin typeface="Inter"/>
              </a:rPr>
              <a:t>The small proportional incremental spend to unify, synthesize, and activate that investment is not optional. It is the difference between your sales teams having intelligence at their fingertips and your competitors having it. As AI puts distribution intelligence at every salesperson's fingertips across the industry, the firms that built the foundation will lead. The firms that did not will play catch-up on someone else's timeline.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9144"/>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1</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Ingestion</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950" b="1" i="0">
                <a:solidFill>
                  <a:srgbClr val="31C48D"/>
                </a:solidFill>
                <a:latin typeface="Inter"/>
              </a:rPr>
              <a:t>Ingestion</a:t>
            </a:r>
            <a:r>
              <a:rPr sz="900" b="0" i="0">
                <a:solidFill>
                  <a:srgbClr val="6B7280"/>
                </a:solidFill>
                <a:latin typeface="Inter"/>
              </a:rPr>
              <a:t>  →  </a:t>
            </a:r>
            <a:r>
              <a:rPr sz="950" b="0" i="0">
                <a:solidFill>
                  <a:srgbClr val="6B7280"/>
                </a:solidFill>
                <a:latin typeface="Inter"/>
              </a:rPr>
              <a:t>Normalize</a:t>
            </a:r>
            <a:r>
              <a:rPr sz="900" b="0" i="0">
                <a:solidFill>
                  <a:srgbClr val="6B7280"/>
                </a:solidFill>
                <a:latin typeface="Inter"/>
              </a:rPr>
              <a:t>  →  </a:t>
            </a:r>
            <a:r>
              <a:rPr sz="950" b="0" i="0">
                <a:solidFill>
                  <a:srgbClr val="6B7280"/>
                </a:solidFill>
                <a:latin typeface="Inter"/>
              </a:rPr>
              <a:t>Synthesize</a:t>
            </a:r>
            <a:r>
              <a:rPr sz="900" b="0" i="0">
                <a:solidFill>
                  <a:srgbClr val="6B7280"/>
                </a:solidFill>
                <a:latin typeface="Inter"/>
              </a:rPr>
              <a:t>  →  </a:t>
            </a:r>
            <a:r>
              <a:rPr sz="950" b="0" i="0">
                <a:solidFill>
                  <a:srgbClr val="6B7280"/>
                </a:solidFill>
                <a:latin typeface="Inter"/>
              </a:rPr>
              <a:t>Attribute</a:t>
            </a:r>
            <a:r>
              <a:rPr sz="900" b="0" i="0">
                <a:solidFill>
                  <a:srgbClr val="6B7280"/>
                </a:solidFill>
                <a:latin typeface="Inter"/>
              </a:rPr>
              <a:t>  →  </a:t>
            </a:r>
            <a:r>
              <a:rPr sz="950" b="0" i="0">
                <a:solidFill>
                  <a:srgbClr val="6B7280"/>
                </a:solidFill>
                <a:latin typeface="Inter"/>
              </a:rPr>
              <a:t>Deliver</a:t>
            </a:r>
          </a:p>
        </p:txBody>
      </p:sp>
      <p:sp>
        <p:nvSpPr>
          <p:cNvPr id="6" name="TextBox 5"/>
          <p:cNvSpPr txBox="1"/>
          <p:nvPr/>
        </p:nvSpPr>
        <p:spPr>
          <a:xfrm>
            <a:off x="548640" y="1261872"/>
            <a:ext cx="11064240" cy="731520"/>
          </a:xfrm>
          <a:prstGeom prst="rect">
            <a:avLst/>
          </a:prstGeom>
          <a:noFill/>
        </p:spPr>
        <p:txBody>
          <a:bodyPr wrap="square" lIns="0" tIns="0" rIns="0" bIns="0" anchor="t"/>
          <a:lstStyle/>
          <a:p>
            <a:pPr algn="l">
              <a:lnSpc>
                <a:spcPct val="125000"/>
              </a:lnSpc>
            </a:pPr>
            <a:r>
              <a:rPr sz="1150" b="0" i="0">
                <a:solidFill>
                  <a:srgbClr val="9CA3AF"/>
                </a:solidFill>
                <a:latin typeface="Inter"/>
              </a:rPr>
              <a:t>Data flows in from two source categories: </a:t>
            </a:r>
            <a:r>
              <a:rPr sz="1150" b="1" i="0">
                <a:solidFill>
                  <a:srgbClr val="FFFFFF"/>
                </a:solidFill>
                <a:latin typeface="Inter"/>
              </a:rPr>
              <a:t>client-purchased data packs</a:t>
            </a:r>
            <a:r>
              <a:rPr sz="1150" b="0" i="0">
                <a:solidFill>
                  <a:srgbClr val="9CA3AF"/>
                </a:solidFill>
                <a:latin typeface="Inter"/>
              </a:rPr>
              <a:t> the manager already subscribes to, and </a:t>
            </a:r>
            <a:r>
              <a:rPr sz="1150" b="1" i="0">
                <a:solidFill>
                  <a:srgbClr val="FFFFFF"/>
                </a:solidFill>
                <a:latin typeface="Inter"/>
              </a:rPr>
              <a:t>public regulatory enrichment data</a:t>
            </a:r>
            <a:r>
              <a:rPr sz="1150" b="0" i="0">
                <a:solidFill>
                  <a:srgbClr val="9CA3AF"/>
                </a:solidFill>
                <a:latin typeface="Inter"/>
              </a:rPr>
              <a:t> Field sources and maintains at no incremental cost. Both land in the client's isolated Snowflake tenant at native grain, on native cadence, with native schema preserved bit for bit.</a:t>
            </a:r>
          </a:p>
        </p:txBody>
      </p:sp>
      <p:sp>
        <p:nvSpPr>
          <p:cNvPr id="7" name="TextBox 6"/>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5</a:t>
            </a:r>
          </a:p>
        </p:txBody>
      </p:sp>
      <p:sp>
        <p:nvSpPr>
          <p:cNvPr id="9" name="TextBox 8"/>
          <p:cNvSpPr txBox="1"/>
          <p:nvPr/>
        </p:nvSpPr>
        <p:spPr>
          <a:xfrm>
            <a:off x="548640" y="1975104"/>
            <a:ext cx="7315200" cy="237744"/>
          </a:xfrm>
          <a:prstGeom prst="rect">
            <a:avLst/>
          </a:prstGeom>
          <a:noFill/>
        </p:spPr>
        <p:txBody>
          <a:bodyPr wrap="square" lIns="0" tIns="0" rIns="0" bIns="0" anchor="t"/>
          <a:lstStyle/>
          <a:p>
            <a:pPr algn="l"/>
            <a:r>
              <a:rPr sz="900" b="1" i="0" spc="200">
                <a:solidFill>
                  <a:srgbClr val="31C48D"/>
                </a:solidFill>
                <a:latin typeface="Inter"/>
              </a:rPr>
              <a:t>DELIVERY MECHANISMS · HOW PACKS ARRIVE</a:t>
            </a:r>
          </a:p>
        </p:txBody>
      </p:sp>
      <p:sp>
        <p:nvSpPr>
          <p:cNvPr id="10" name="Rounded Rectangle 9"/>
          <p:cNvSpPr/>
          <p:nvPr/>
        </p:nvSpPr>
        <p:spPr>
          <a:xfrm>
            <a:off x="548640" y="2249424"/>
            <a:ext cx="3611880" cy="969264"/>
          </a:xfrm>
          <a:prstGeom prst="roundRect">
            <a:avLst>
              <a:gd name="adj" fmla="val 5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 y="2368296"/>
            <a:ext cx="3200400" cy="768096"/>
          </a:xfrm>
          <a:prstGeom prst="rect">
            <a:avLst/>
          </a:prstGeom>
          <a:noFill/>
        </p:spPr>
        <p:txBody>
          <a:bodyPr wrap="square" lIns="0" tIns="0" rIns="0" bIns="0" anchor="t"/>
          <a:lstStyle/>
          <a:p>
            <a:pPr algn="l">
              <a:spcAft>
                <a:spcPts val="200"/>
              </a:spcAft>
            </a:pPr>
            <a:r>
              <a:rPr sz="1100" b="1" i="0">
                <a:solidFill>
                  <a:srgbClr val="FFFFFF"/>
                </a:solidFill>
                <a:latin typeface="Inter"/>
              </a:rPr>
              <a:t>Snowflake data share (default)</a:t>
            </a:r>
          </a:p>
          <a:p>
            <a:pPr algn="l">
              <a:lnSpc>
                <a:spcPct val="112000"/>
              </a:lnSpc>
            </a:pPr>
            <a:r>
              <a:rPr sz="900" b="0" i="0">
                <a:solidFill>
                  <a:srgbClr val="9CA3AF"/>
                </a:solidFill>
                <a:latin typeface="Inter"/>
              </a:rPr>
              <a:t>Zero-copy secure share from the pack provider into the client's Field tenant. No file movement, no format conversion.</a:t>
            </a:r>
          </a:p>
        </p:txBody>
      </p:sp>
      <p:sp>
        <p:nvSpPr>
          <p:cNvPr id="12" name="Rounded Rectangle 11"/>
          <p:cNvSpPr/>
          <p:nvPr/>
        </p:nvSpPr>
        <p:spPr>
          <a:xfrm>
            <a:off x="4370831" y="2249424"/>
            <a:ext cx="3611880" cy="969264"/>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90288" y="2368296"/>
            <a:ext cx="3200400" cy="768096"/>
          </a:xfrm>
          <a:prstGeom prst="rect">
            <a:avLst/>
          </a:prstGeom>
          <a:noFill/>
        </p:spPr>
        <p:txBody>
          <a:bodyPr wrap="square" lIns="0" tIns="0" rIns="0" bIns="0" anchor="t"/>
          <a:lstStyle/>
          <a:p>
            <a:pPr algn="l">
              <a:spcAft>
                <a:spcPts val="200"/>
              </a:spcAft>
            </a:pPr>
            <a:r>
              <a:rPr sz="1100" b="1" i="0">
                <a:solidFill>
                  <a:srgbClr val="FFFFFF"/>
                </a:solidFill>
                <a:latin typeface="Inter"/>
              </a:rPr>
              <a:t>SFTP / signed upload</a:t>
            </a:r>
          </a:p>
          <a:p>
            <a:pPr algn="l">
              <a:lnSpc>
                <a:spcPct val="112000"/>
              </a:lnSpc>
            </a:pPr>
            <a:r>
              <a:rPr sz="900" b="0" i="0">
                <a:solidFill>
                  <a:srgbClr val="9CA3AF"/>
                </a:solidFill>
                <a:latin typeface="Inter"/>
              </a:rPr>
              <a:t>Per-tenant AWS S3 landing zone for any pack where Snowflake share is not offered. Files auto-route to Snowflake staging tables.</a:t>
            </a:r>
          </a:p>
        </p:txBody>
      </p:sp>
      <p:sp>
        <p:nvSpPr>
          <p:cNvPr id="14" name="Rounded Rectangle 13"/>
          <p:cNvSpPr/>
          <p:nvPr/>
        </p:nvSpPr>
        <p:spPr>
          <a:xfrm>
            <a:off x="8193023" y="2249424"/>
            <a:ext cx="3611880" cy="969264"/>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0" y="2368296"/>
            <a:ext cx="3200400" cy="768096"/>
          </a:xfrm>
          <a:prstGeom prst="rect">
            <a:avLst/>
          </a:prstGeom>
          <a:noFill/>
        </p:spPr>
        <p:txBody>
          <a:bodyPr wrap="square" lIns="0" tIns="0" rIns="0" bIns="0" anchor="t"/>
          <a:lstStyle/>
          <a:p>
            <a:pPr algn="l">
              <a:spcAft>
                <a:spcPts val="200"/>
              </a:spcAft>
            </a:pPr>
            <a:r>
              <a:rPr sz="1100" b="1" i="0">
                <a:solidFill>
                  <a:srgbClr val="FFFFFF"/>
                </a:solidFill>
                <a:latin typeface="Inter"/>
              </a:rPr>
              <a:t>Other automation paths</a:t>
            </a:r>
          </a:p>
          <a:p>
            <a:pPr algn="l">
              <a:lnSpc>
                <a:spcPct val="112000"/>
              </a:lnSpc>
            </a:pPr>
            <a:r>
              <a:rPr sz="900" b="0" i="0">
                <a:solidFill>
                  <a:srgbClr val="9CA3AF"/>
                </a:solidFill>
                <a:latin typeface="Inter"/>
              </a:rPr>
              <a:t>S3 cross-account, SharePoint, Box, SFTP push. Same downstream pipeline, one-time setup per pack, zero ongoing client burden.</a:t>
            </a:r>
          </a:p>
        </p:txBody>
      </p:sp>
      <p:sp>
        <p:nvSpPr>
          <p:cNvPr id="16" name="TextBox 15"/>
          <p:cNvSpPr txBox="1"/>
          <p:nvPr/>
        </p:nvSpPr>
        <p:spPr>
          <a:xfrm>
            <a:off x="548640" y="3401568"/>
            <a:ext cx="7315200" cy="237744"/>
          </a:xfrm>
          <a:prstGeom prst="rect">
            <a:avLst/>
          </a:prstGeom>
          <a:noFill/>
        </p:spPr>
        <p:txBody>
          <a:bodyPr wrap="square" lIns="0" tIns="0" rIns="0" bIns="0" anchor="t"/>
          <a:lstStyle/>
          <a:p>
            <a:pPr algn="l"/>
            <a:r>
              <a:rPr sz="900" b="1" i="0" spc="200">
                <a:solidFill>
                  <a:srgbClr val="6B7280"/>
                </a:solidFill>
                <a:latin typeface="Inter"/>
              </a:rPr>
              <a:t>WHAT FLOWS IN</a:t>
            </a:r>
          </a:p>
        </p:txBody>
      </p:sp>
      <p:sp>
        <p:nvSpPr>
          <p:cNvPr id="17" name="Rounded Rectangle 16"/>
          <p:cNvSpPr/>
          <p:nvPr/>
        </p:nvSpPr>
        <p:spPr>
          <a:xfrm>
            <a:off x="548640" y="3657600"/>
            <a:ext cx="3611880" cy="932688"/>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8096" y="3767328"/>
            <a:ext cx="3200400" cy="731520"/>
          </a:xfrm>
          <a:prstGeom prst="rect">
            <a:avLst/>
          </a:prstGeom>
          <a:noFill/>
        </p:spPr>
        <p:txBody>
          <a:bodyPr wrap="square" lIns="0" tIns="0" rIns="0" bIns="0" anchor="t"/>
          <a:lstStyle/>
          <a:p>
            <a:pPr algn="l">
              <a:spcAft>
                <a:spcPts val="200"/>
              </a:spcAft>
            </a:pPr>
            <a:r>
              <a:rPr sz="1000" b="1" i="0">
                <a:solidFill>
                  <a:srgbClr val="FFFFFF"/>
                </a:solidFill>
                <a:latin typeface="Inter"/>
              </a:rPr>
              <a:t>Client-purchased packs</a:t>
            </a:r>
          </a:p>
          <a:p>
            <a:pPr algn="l">
              <a:lnSpc>
                <a:spcPct val="112000"/>
              </a:lnSpc>
            </a:pPr>
            <a:r>
              <a:rPr sz="850" b="0" i="0">
                <a:solidFill>
                  <a:srgbClr val="9CA3AF"/>
                </a:solidFill>
                <a:latin typeface="Inter"/>
              </a:rPr>
              <a:t>Wirehouse and BD direct packs (MS, UBS, LPL), consortium packs (SS&amp;C, Broadridge ETF). Field activates what you already own.</a:t>
            </a:r>
          </a:p>
        </p:txBody>
      </p:sp>
      <p:sp>
        <p:nvSpPr>
          <p:cNvPr id="19" name="Rounded Rectangle 18"/>
          <p:cNvSpPr/>
          <p:nvPr/>
        </p:nvSpPr>
        <p:spPr>
          <a:xfrm>
            <a:off x="4370831" y="3657600"/>
            <a:ext cx="3611880" cy="932688"/>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590288" y="3767328"/>
            <a:ext cx="3200400" cy="731520"/>
          </a:xfrm>
          <a:prstGeom prst="rect">
            <a:avLst/>
          </a:prstGeom>
          <a:noFill/>
        </p:spPr>
        <p:txBody>
          <a:bodyPr wrap="square" lIns="0" tIns="0" rIns="0" bIns="0" anchor="t"/>
          <a:lstStyle/>
          <a:p>
            <a:pPr algn="l">
              <a:spcAft>
                <a:spcPts val="200"/>
              </a:spcAft>
            </a:pPr>
            <a:r>
              <a:rPr sz="1000" b="1" i="0">
                <a:solidFill>
                  <a:srgbClr val="FFFFFF"/>
                </a:solidFill>
                <a:latin typeface="Inter"/>
              </a:rPr>
              <a:t>Public regulatory enrichment</a:t>
            </a:r>
          </a:p>
          <a:p>
            <a:pPr algn="l">
              <a:lnSpc>
                <a:spcPct val="112000"/>
              </a:lnSpc>
            </a:pPr>
            <a:r>
              <a:rPr sz="850" b="0" i="0">
                <a:solidFill>
                  <a:srgbClr val="9CA3AF"/>
                </a:solidFill>
                <a:latin typeface="Inter"/>
              </a:rPr>
              <a:t>ADV, 13F, FINRA BrokerCheck, rankings, rosters. Sourced and maintained by Field at no incremental cost.</a:t>
            </a:r>
          </a:p>
        </p:txBody>
      </p:sp>
      <p:sp>
        <p:nvSpPr>
          <p:cNvPr id="21" name="Rounded Rectangle 20"/>
          <p:cNvSpPr/>
          <p:nvPr/>
        </p:nvSpPr>
        <p:spPr>
          <a:xfrm>
            <a:off x="8193023" y="3657600"/>
            <a:ext cx="3611880" cy="932688"/>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412480" y="3767328"/>
            <a:ext cx="3200400" cy="731520"/>
          </a:xfrm>
          <a:prstGeom prst="rect">
            <a:avLst/>
          </a:prstGeom>
          <a:noFill/>
        </p:spPr>
        <p:txBody>
          <a:bodyPr wrap="square" lIns="0" tIns="0" rIns="0" bIns="0" anchor="t"/>
          <a:lstStyle/>
          <a:p>
            <a:pPr algn="l">
              <a:spcAft>
                <a:spcPts val="200"/>
              </a:spcAft>
            </a:pPr>
            <a:r>
              <a:rPr sz="1000" b="1" i="0" dirty="0">
                <a:solidFill>
                  <a:srgbClr val="FFFFFF"/>
                </a:solidFill>
                <a:latin typeface="Inter"/>
              </a:rPr>
              <a:t>Client-provided enrichment, optional</a:t>
            </a:r>
          </a:p>
          <a:p>
            <a:pPr algn="l">
              <a:lnSpc>
                <a:spcPct val="112000"/>
              </a:lnSpc>
            </a:pPr>
            <a:r>
              <a:rPr lang="en-US" sz="850" b="0" i="0" dirty="0">
                <a:solidFill>
                  <a:srgbClr val="9CA3AF"/>
                </a:solidFill>
                <a:latin typeface="Inter"/>
              </a:rPr>
              <a:t>Territory mapping, FA/Team mapping, FA/Office mapping. </a:t>
            </a:r>
            <a:r>
              <a:rPr sz="850" b="0" i="0" dirty="0">
                <a:solidFill>
                  <a:srgbClr val="9CA3AF"/>
                </a:solidFill>
                <a:latin typeface="Inter"/>
              </a:rPr>
              <a:t>Home office producer lists</a:t>
            </a:r>
            <a:r>
              <a:rPr lang="en-US" sz="850" b="0" i="0" dirty="0">
                <a:solidFill>
                  <a:srgbClr val="9CA3AF"/>
                </a:solidFill>
                <a:latin typeface="Inter"/>
              </a:rPr>
              <a:t>. </a:t>
            </a:r>
            <a:r>
              <a:rPr sz="850" b="0" i="0" dirty="0">
                <a:solidFill>
                  <a:srgbClr val="9CA3AF"/>
                </a:solidFill>
                <a:latin typeface="Inter"/>
              </a:rPr>
              <a:t>CRM activity (Phase 2)</a:t>
            </a:r>
            <a:r>
              <a:rPr lang="en-US" sz="850" b="0" i="0" dirty="0">
                <a:solidFill>
                  <a:srgbClr val="9CA3AF"/>
                </a:solidFill>
                <a:latin typeface="Inter"/>
              </a:rPr>
              <a:t>, i</a:t>
            </a:r>
            <a:r>
              <a:rPr sz="850" b="0" i="0" dirty="0">
                <a:solidFill>
                  <a:srgbClr val="9CA3AF"/>
                </a:solidFill>
                <a:latin typeface="Inter"/>
              </a:rPr>
              <a:t>mproves FA-level attribution in Stage 4.</a:t>
            </a:r>
          </a:p>
        </p:txBody>
      </p:sp>
      <p:sp>
        <p:nvSpPr>
          <p:cNvPr id="23" name="TextBox 22"/>
          <p:cNvSpPr txBox="1"/>
          <p:nvPr/>
        </p:nvSpPr>
        <p:spPr>
          <a:xfrm>
            <a:off x="548640" y="4773168"/>
            <a:ext cx="7315200" cy="237744"/>
          </a:xfrm>
          <a:prstGeom prst="rect">
            <a:avLst/>
          </a:prstGeom>
          <a:noFill/>
        </p:spPr>
        <p:txBody>
          <a:bodyPr wrap="square" lIns="0" tIns="0" rIns="0" bIns="0" anchor="t"/>
          <a:lstStyle/>
          <a:p>
            <a:pPr algn="l"/>
            <a:r>
              <a:rPr sz="900" b="1" i="0" spc="200">
                <a:solidFill>
                  <a:srgbClr val="31C48D"/>
                </a:solidFill>
                <a:latin typeface="Inter"/>
              </a:rPr>
              <a:t>VALIDATION ON ARRIVAL</a:t>
            </a:r>
          </a:p>
        </p:txBody>
      </p:sp>
      <p:sp>
        <p:nvSpPr>
          <p:cNvPr id="24" name="Rounded Rectangle 23"/>
          <p:cNvSpPr/>
          <p:nvPr/>
        </p:nvSpPr>
        <p:spPr>
          <a:xfrm>
            <a:off x="548640" y="5029200"/>
            <a:ext cx="3611880" cy="969264"/>
          </a:xfrm>
          <a:prstGeom prst="roundRect">
            <a:avLst>
              <a:gd name="adj" fmla="val 5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68096" y="5148072"/>
            <a:ext cx="274320" cy="274320"/>
          </a:xfrm>
          <a:prstGeom prst="rect">
            <a:avLst/>
          </a:prstGeom>
          <a:noFill/>
        </p:spPr>
        <p:txBody>
          <a:bodyPr wrap="square" lIns="0" tIns="0" rIns="0" bIns="0" anchor="t"/>
          <a:lstStyle/>
          <a:p>
            <a:pPr algn="l"/>
            <a:r>
              <a:rPr sz="1300" b="1" i="0">
                <a:solidFill>
                  <a:srgbClr val="31C48D"/>
                </a:solidFill>
                <a:latin typeface="Inter"/>
              </a:rPr>
              <a:t>✓</a:t>
            </a:r>
          </a:p>
        </p:txBody>
      </p:sp>
      <p:sp>
        <p:nvSpPr>
          <p:cNvPr id="26" name="TextBox 25"/>
          <p:cNvSpPr txBox="1"/>
          <p:nvPr/>
        </p:nvSpPr>
        <p:spPr>
          <a:xfrm>
            <a:off x="1078992" y="5148072"/>
            <a:ext cx="2926080" cy="768096"/>
          </a:xfrm>
          <a:prstGeom prst="rect">
            <a:avLst/>
          </a:prstGeom>
          <a:noFill/>
        </p:spPr>
        <p:txBody>
          <a:bodyPr wrap="square" lIns="0" tIns="0" rIns="0" bIns="0" anchor="t"/>
          <a:lstStyle/>
          <a:p>
            <a:pPr algn="l">
              <a:spcAft>
                <a:spcPts val="200"/>
              </a:spcAft>
            </a:pPr>
            <a:r>
              <a:rPr sz="1100" b="1" i="0">
                <a:solidFill>
                  <a:srgbClr val="FFFFFF"/>
                </a:solidFill>
                <a:latin typeface="Inter"/>
              </a:rPr>
              <a:t>Schema check</a:t>
            </a:r>
          </a:p>
          <a:p>
            <a:pPr algn="l">
              <a:lnSpc>
                <a:spcPct val="112000"/>
              </a:lnSpc>
            </a:pPr>
            <a:r>
              <a:rPr sz="900" b="0" i="0">
                <a:solidFill>
                  <a:srgbClr val="9CA3AF"/>
                </a:solidFill>
                <a:latin typeface="Inter"/>
              </a:rPr>
              <a:t>Column count, names, and types compared to the last known-good version. Missing or renamed columns flagged.</a:t>
            </a:r>
          </a:p>
        </p:txBody>
      </p:sp>
      <p:sp>
        <p:nvSpPr>
          <p:cNvPr id="27" name="Rounded Rectangle 26"/>
          <p:cNvSpPr/>
          <p:nvPr/>
        </p:nvSpPr>
        <p:spPr>
          <a:xfrm>
            <a:off x="4370831" y="5029200"/>
            <a:ext cx="3611880" cy="969264"/>
          </a:xfrm>
          <a:prstGeom prst="roundRect">
            <a:avLst>
              <a:gd name="adj" fmla="val 5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590288" y="5148072"/>
            <a:ext cx="274320" cy="274320"/>
          </a:xfrm>
          <a:prstGeom prst="rect">
            <a:avLst/>
          </a:prstGeom>
          <a:noFill/>
        </p:spPr>
        <p:txBody>
          <a:bodyPr wrap="square" lIns="0" tIns="0" rIns="0" bIns="0" anchor="t"/>
          <a:lstStyle/>
          <a:p>
            <a:pPr algn="l"/>
            <a:r>
              <a:rPr sz="1300" b="1" i="0">
                <a:solidFill>
                  <a:srgbClr val="31C48D"/>
                </a:solidFill>
                <a:latin typeface="Inter"/>
              </a:rPr>
              <a:t>✓</a:t>
            </a:r>
          </a:p>
        </p:txBody>
      </p:sp>
      <p:sp>
        <p:nvSpPr>
          <p:cNvPr id="29" name="TextBox 28"/>
          <p:cNvSpPr txBox="1"/>
          <p:nvPr/>
        </p:nvSpPr>
        <p:spPr>
          <a:xfrm>
            <a:off x="4901183" y="5148072"/>
            <a:ext cx="2926080" cy="768096"/>
          </a:xfrm>
          <a:prstGeom prst="rect">
            <a:avLst/>
          </a:prstGeom>
          <a:noFill/>
        </p:spPr>
        <p:txBody>
          <a:bodyPr wrap="square" lIns="0" tIns="0" rIns="0" bIns="0" anchor="t"/>
          <a:lstStyle/>
          <a:p>
            <a:pPr algn="l">
              <a:spcAft>
                <a:spcPts val="200"/>
              </a:spcAft>
            </a:pPr>
            <a:r>
              <a:rPr sz="1100" b="1" i="0">
                <a:solidFill>
                  <a:srgbClr val="FFFFFF"/>
                </a:solidFill>
                <a:latin typeface="Inter"/>
              </a:rPr>
              <a:t>Freshness check</a:t>
            </a:r>
          </a:p>
          <a:p>
            <a:pPr algn="l">
              <a:lnSpc>
                <a:spcPct val="112000"/>
              </a:lnSpc>
            </a:pPr>
            <a:r>
              <a:rPr sz="900" b="0" i="0">
                <a:solidFill>
                  <a:srgbClr val="9CA3AF"/>
                </a:solidFill>
                <a:latin typeface="Inter"/>
              </a:rPr>
              <a:t>Delivery period vs expected cadence. Late arrival alerts. Duplicate delivery deduped.</a:t>
            </a:r>
          </a:p>
        </p:txBody>
      </p:sp>
      <p:sp>
        <p:nvSpPr>
          <p:cNvPr id="30" name="Rounded Rectangle 29"/>
          <p:cNvSpPr/>
          <p:nvPr/>
        </p:nvSpPr>
        <p:spPr>
          <a:xfrm>
            <a:off x="8193023" y="5029200"/>
            <a:ext cx="3611880" cy="969264"/>
          </a:xfrm>
          <a:prstGeom prst="roundRect">
            <a:avLst>
              <a:gd name="adj" fmla="val 5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80" y="5148072"/>
            <a:ext cx="274320" cy="274320"/>
          </a:xfrm>
          <a:prstGeom prst="rect">
            <a:avLst/>
          </a:prstGeom>
          <a:noFill/>
        </p:spPr>
        <p:txBody>
          <a:bodyPr wrap="square" lIns="0" tIns="0" rIns="0" bIns="0" anchor="t"/>
          <a:lstStyle/>
          <a:p>
            <a:pPr algn="l"/>
            <a:r>
              <a:rPr sz="1300" b="1" i="0">
                <a:solidFill>
                  <a:srgbClr val="31C48D"/>
                </a:solidFill>
                <a:latin typeface="Inter"/>
              </a:rPr>
              <a:t>✓</a:t>
            </a:r>
          </a:p>
        </p:txBody>
      </p:sp>
      <p:sp>
        <p:nvSpPr>
          <p:cNvPr id="32" name="TextBox 31"/>
          <p:cNvSpPr txBox="1"/>
          <p:nvPr/>
        </p:nvSpPr>
        <p:spPr>
          <a:xfrm>
            <a:off x="8723376" y="5148072"/>
            <a:ext cx="2926080" cy="768096"/>
          </a:xfrm>
          <a:prstGeom prst="rect">
            <a:avLst/>
          </a:prstGeom>
          <a:noFill/>
        </p:spPr>
        <p:txBody>
          <a:bodyPr wrap="square" lIns="0" tIns="0" rIns="0" bIns="0" anchor="t"/>
          <a:lstStyle/>
          <a:p>
            <a:pPr algn="l">
              <a:spcAft>
                <a:spcPts val="200"/>
              </a:spcAft>
            </a:pPr>
            <a:r>
              <a:rPr sz="1100" b="1" i="0">
                <a:solidFill>
                  <a:srgbClr val="FFFFFF"/>
                </a:solidFill>
                <a:latin typeface="Inter"/>
              </a:rPr>
              <a:t>Volume check</a:t>
            </a:r>
          </a:p>
          <a:p>
            <a:pPr algn="l">
              <a:lnSpc>
                <a:spcPct val="112000"/>
              </a:lnSpc>
            </a:pPr>
            <a:r>
              <a:rPr sz="900" b="0" i="0">
                <a:solidFill>
                  <a:srgbClr val="9CA3AF"/>
                </a:solidFill>
                <a:latin typeface="Inter"/>
              </a:rPr>
              <a:t>Row count vs historical band. Sudden drop or surge flagged for review.</a:t>
            </a:r>
          </a:p>
        </p:txBody>
      </p:sp>
      <p:sp>
        <p:nvSpPr>
          <p:cNvPr id="33" name="Rounded Rectangle 32"/>
          <p:cNvSpPr/>
          <p:nvPr/>
        </p:nvSpPr>
        <p:spPr>
          <a:xfrm>
            <a:off x="548639" y="6126480"/>
            <a:ext cx="11256263" cy="310896"/>
          </a:xfrm>
          <a:prstGeom prst="roundRect">
            <a:avLst>
              <a:gd name="adj" fmla="val 12000"/>
            </a:avLst>
          </a:prstGeom>
          <a:solidFill>
            <a:srgbClr val="112C32"/>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04672" y="6208776"/>
            <a:ext cx="10698480" cy="256032"/>
          </a:xfrm>
          <a:prstGeom prst="rect">
            <a:avLst/>
          </a:prstGeom>
          <a:noFill/>
        </p:spPr>
        <p:txBody>
          <a:bodyPr wrap="square" lIns="0" tIns="0" rIns="0" bIns="0" anchor="t"/>
          <a:lstStyle/>
          <a:p>
            <a:pPr algn="l"/>
            <a:r>
              <a:rPr sz="850" b="1" i="0" spc="120">
                <a:solidFill>
                  <a:srgbClr val="31C48D"/>
                </a:solidFill>
                <a:latin typeface="Inter"/>
              </a:rPr>
              <a:t>VERSION DRIFT IS FIELD'S PROBLEM   </a:t>
            </a:r>
            <a:r>
              <a:rPr sz="950" b="0" i="0">
                <a:solidFill>
                  <a:srgbClr val="FFFFFF"/>
                </a:solidFill>
                <a:latin typeface="Inter"/>
              </a:rPr>
              <a:t>When a provider adds a column or restructures a category, Field absorbs it. Client engineering does not redeploy pipelines.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1</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Data pack onboarding</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1000" b="1" i="0">
                <a:solidFill>
                  <a:srgbClr val="31C48D"/>
                </a:solidFill>
                <a:latin typeface="Inter"/>
              </a:rPr>
              <a:t>Ingestion</a:t>
            </a:r>
            <a:r>
              <a:rPr sz="950" b="0" i="0">
                <a:solidFill>
                  <a:srgbClr val="6B7280"/>
                </a:solidFill>
                <a:latin typeface="Inter"/>
              </a:rPr>
              <a:t>  →  </a:t>
            </a:r>
            <a:r>
              <a:rPr sz="1000" b="0" i="0">
                <a:solidFill>
                  <a:srgbClr val="6B7280"/>
                </a:solidFill>
                <a:latin typeface="Inter"/>
              </a:rPr>
              <a:t>Normalize</a:t>
            </a:r>
            <a:r>
              <a:rPr sz="950" b="0" i="0">
                <a:solidFill>
                  <a:srgbClr val="6B7280"/>
                </a:solidFill>
                <a:latin typeface="Inter"/>
              </a:rPr>
              <a:t>  →  </a:t>
            </a:r>
            <a:r>
              <a:rPr sz="1000" b="0" i="0">
                <a:solidFill>
                  <a:srgbClr val="6B7280"/>
                </a:solidFill>
                <a:latin typeface="Inter"/>
              </a:rPr>
              <a:t>Synthesize</a:t>
            </a:r>
            <a:r>
              <a:rPr sz="950" b="0" i="0">
                <a:solidFill>
                  <a:srgbClr val="6B7280"/>
                </a:solidFill>
                <a:latin typeface="Inter"/>
              </a:rPr>
              <a:t>  →  </a:t>
            </a:r>
            <a:r>
              <a:rPr sz="1000" b="0" i="0">
                <a:solidFill>
                  <a:srgbClr val="6B7280"/>
                </a:solidFill>
                <a:latin typeface="Inter"/>
              </a:rPr>
              <a:t>Attribute</a:t>
            </a:r>
            <a:r>
              <a:rPr sz="950" b="0" i="0">
                <a:solidFill>
                  <a:srgbClr val="6B7280"/>
                </a:solidFill>
                <a:latin typeface="Inter"/>
              </a:rPr>
              <a:t>  →  </a:t>
            </a:r>
            <a:r>
              <a:rPr sz="1000" b="0" i="0">
                <a:solidFill>
                  <a:srgbClr val="6B7280"/>
                </a:solidFill>
                <a:latin typeface="Inter"/>
              </a:rPr>
              <a:t>Deliver</a:t>
            </a:r>
          </a:p>
        </p:txBody>
      </p:sp>
      <p:sp>
        <p:nvSpPr>
          <p:cNvPr id="6" name="TextBox 5"/>
          <p:cNvSpPr txBox="1"/>
          <p:nvPr/>
        </p:nvSpPr>
        <p:spPr>
          <a:xfrm>
            <a:off x="548640" y="1261872"/>
            <a:ext cx="11064240" cy="685800"/>
          </a:xfrm>
          <a:prstGeom prst="rect">
            <a:avLst/>
          </a:prstGeom>
          <a:noFill/>
        </p:spPr>
        <p:txBody>
          <a:bodyPr wrap="square" lIns="0" tIns="0" rIns="0" bIns="0" anchor="t"/>
          <a:lstStyle/>
          <a:p>
            <a:pPr algn="l">
              <a:lnSpc>
                <a:spcPct val="125000"/>
              </a:lnSpc>
            </a:pPr>
            <a:r>
              <a:rPr sz="1150" b="0" i="0">
                <a:solidFill>
                  <a:srgbClr val="9CA3AF"/>
                </a:solidFill>
                <a:latin typeface="Inter"/>
              </a:rPr>
              <a:t>Field's admin console lets our team onboard a new data pack for a client tenant in minutes, and gives the client's asset-manager users a self-serve view of their subscribed packs, delivery status, and a file-upload path for any pack not delivered via Snowflake share.</a:t>
            </a:r>
          </a:p>
        </p:txBody>
      </p:sp>
      <p:sp>
        <p:nvSpPr>
          <p:cNvPr id="7" name="TextBox 6"/>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6</a:t>
            </a:r>
          </a:p>
        </p:txBody>
      </p:sp>
      <p:sp>
        <p:nvSpPr>
          <p:cNvPr id="9" name="Rounded Rectangle 8"/>
          <p:cNvSpPr/>
          <p:nvPr/>
        </p:nvSpPr>
        <p:spPr>
          <a:xfrm>
            <a:off x="512064" y="2340864"/>
            <a:ext cx="2807208" cy="2807208"/>
          </a:xfrm>
          <a:prstGeom prst="roundRect">
            <a:avLst>
              <a:gd name="adj" fmla="val 4000"/>
            </a:avLst>
          </a:prstGeom>
          <a:solidFill>
            <a:srgbClr val="0B101A"/>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z_add_pack.png"/>
          <p:cNvPicPr>
            <a:picLocks noChangeAspect="1"/>
          </p:cNvPicPr>
          <p:nvPr/>
        </p:nvPicPr>
        <p:blipFill>
          <a:blip r:embed="rId2"/>
          <a:stretch>
            <a:fillRect/>
          </a:stretch>
        </p:blipFill>
        <p:spPr>
          <a:xfrm>
            <a:off x="566928" y="2395728"/>
            <a:ext cx="2697480" cy="2697480"/>
          </a:xfrm>
          <a:prstGeom prst="rect">
            <a:avLst/>
          </a:prstGeom>
        </p:spPr>
      </p:pic>
      <p:sp>
        <p:nvSpPr>
          <p:cNvPr id="11" name="TextBox 10"/>
          <p:cNvSpPr txBox="1"/>
          <p:nvPr/>
        </p:nvSpPr>
        <p:spPr>
          <a:xfrm>
            <a:off x="530352" y="5294376"/>
            <a:ext cx="2615184" cy="1097280"/>
          </a:xfrm>
          <a:prstGeom prst="rect">
            <a:avLst/>
          </a:prstGeom>
          <a:noFill/>
        </p:spPr>
        <p:txBody>
          <a:bodyPr wrap="square" lIns="0" tIns="0" rIns="0" bIns="0" anchor="t"/>
          <a:lstStyle/>
          <a:p>
            <a:pPr algn="l">
              <a:spcAft>
                <a:spcPts val="300"/>
              </a:spcAft>
            </a:pPr>
            <a:r>
              <a:rPr sz="1050" b="1" i="0">
                <a:solidFill>
                  <a:srgbClr val="FFFFFF"/>
                </a:solidFill>
                <a:latin typeface="Inter"/>
              </a:rPr>
              <a:t>01 · Add a subscription pack</a:t>
            </a:r>
          </a:p>
          <a:p>
            <a:pPr algn="l">
              <a:lnSpc>
                <a:spcPct val="120000"/>
              </a:lnSpc>
            </a:pPr>
            <a:r>
              <a:rPr sz="950" b="0" i="0">
                <a:solidFill>
                  <a:srgbClr val="9CA3AF"/>
                </a:solidFill>
                <a:latin typeface="Inter"/>
              </a:rPr>
              <a:t>Field admin onboards a new pack: cadence, delivery mechanism, vehicle scope, pack tier.</a:t>
            </a:r>
          </a:p>
        </p:txBody>
      </p:sp>
      <p:sp>
        <p:nvSpPr>
          <p:cNvPr id="12" name="Rounded Rectangle 11"/>
          <p:cNvSpPr/>
          <p:nvPr/>
        </p:nvSpPr>
        <p:spPr>
          <a:xfrm>
            <a:off x="3282696" y="2340864"/>
            <a:ext cx="2807208" cy="2807208"/>
          </a:xfrm>
          <a:prstGeom prst="roundRect">
            <a:avLst>
              <a:gd name="adj" fmla="val 4000"/>
            </a:avLst>
          </a:prstGeom>
          <a:solidFill>
            <a:srgbClr val="0B101A"/>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z_view_packs.png"/>
          <p:cNvPicPr>
            <a:picLocks noChangeAspect="1"/>
          </p:cNvPicPr>
          <p:nvPr/>
        </p:nvPicPr>
        <p:blipFill>
          <a:blip r:embed="rId3"/>
          <a:stretch>
            <a:fillRect/>
          </a:stretch>
        </p:blipFill>
        <p:spPr>
          <a:xfrm>
            <a:off x="3337560" y="2395728"/>
            <a:ext cx="2697480" cy="2697480"/>
          </a:xfrm>
          <a:prstGeom prst="rect">
            <a:avLst/>
          </a:prstGeom>
        </p:spPr>
      </p:pic>
      <p:sp>
        <p:nvSpPr>
          <p:cNvPr id="14" name="TextBox 13"/>
          <p:cNvSpPr txBox="1"/>
          <p:nvPr/>
        </p:nvSpPr>
        <p:spPr>
          <a:xfrm>
            <a:off x="3300984" y="5294376"/>
            <a:ext cx="2615184" cy="1097280"/>
          </a:xfrm>
          <a:prstGeom prst="rect">
            <a:avLst/>
          </a:prstGeom>
          <a:noFill/>
        </p:spPr>
        <p:txBody>
          <a:bodyPr wrap="square" lIns="0" tIns="0" rIns="0" bIns="0" anchor="t"/>
          <a:lstStyle/>
          <a:p>
            <a:pPr algn="l">
              <a:spcAft>
                <a:spcPts val="300"/>
              </a:spcAft>
            </a:pPr>
            <a:r>
              <a:rPr sz="1050" b="1" i="0">
                <a:solidFill>
                  <a:srgbClr val="FFFFFF"/>
                </a:solidFill>
                <a:latin typeface="Inter"/>
              </a:rPr>
              <a:t>02 · View subscribed packs</a:t>
            </a:r>
          </a:p>
          <a:p>
            <a:pPr algn="l">
              <a:lnSpc>
                <a:spcPct val="120000"/>
              </a:lnSpc>
            </a:pPr>
            <a:r>
              <a:rPr sz="950" b="0" i="0">
                <a:solidFill>
                  <a:srgbClr val="9CA3AF"/>
                </a:solidFill>
                <a:latin typeface="Inter"/>
              </a:rPr>
              <a:t>Active subscriptions at a glance: cadence, next delivery, mechanism, status.</a:t>
            </a:r>
          </a:p>
        </p:txBody>
      </p:sp>
      <p:sp>
        <p:nvSpPr>
          <p:cNvPr id="15" name="Rounded Rectangle 14"/>
          <p:cNvSpPr/>
          <p:nvPr/>
        </p:nvSpPr>
        <p:spPr>
          <a:xfrm>
            <a:off x="6053328" y="2340864"/>
            <a:ext cx="2807208" cy="2807208"/>
          </a:xfrm>
          <a:prstGeom prst="roundRect">
            <a:avLst>
              <a:gd name="adj" fmla="val 4000"/>
            </a:avLst>
          </a:prstGeom>
          <a:solidFill>
            <a:srgbClr val="0B101A"/>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z_pack_details.png"/>
          <p:cNvPicPr>
            <a:picLocks noChangeAspect="1"/>
          </p:cNvPicPr>
          <p:nvPr/>
        </p:nvPicPr>
        <p:blipFill>
          <a:blip r:embed="rId4"/>
          <a:stretch>
            <a:fillRect/>
          </a:stretch>
        </p:blipFill>
        <p:spPr>
          <a:xfrm>
            <a:off x="6108192" y="2395728"/>
            <a:ext cx="2697480" cy="2697480"/>
          </a:xfrm>
          <a:prstGeom prst="rect">
            <a:avLst/>
          </a:prstGeom>
        </p:spPr>
      </p:pic>
      <p:sp>
        <p:nvSpPr>
          <p:cNvPr id="17" name="TextBox 16"/>
          <p:cNvSpPr txBox="1"/>
          <p:nvPr/>
        </p:nvSpPr>
        <p:spPr>
          <a:xfrm>
            <a:off x="6071616" y="5294376"/>
            <a:ext cx="2615184" cy="1097280"/>
          </a:xfrm>
          <a:prstGeom prst="rect">
            <a:avLst/>
          </a:prstGeom>
          <a:noFill/>
        </p:spPr>
        <p:txBody>
          <a:bodyPr wrap="square" lIns="0" tIns="0" rIns="0" bIns="0" anchor="t"/>
          <a:lstStyle/>
          <a:p>
            <a:pPr algn="l">
              <a:spcAft>
                <a:spcPts val="300"/>
              </a:spcAft>
            </a:pPr>
            <a:r>
              <a:rPr sz="1050" b="1" i="0">
                <a:solidFill>
                  <a:srgbClr val="FFFFFF"/>
                </a:solidFill>
                <a:latin typeface="Inter"/>
              </a:rPr>
              <a:t>03 · Pack details</a:t>
            </a:r>
          </a:p>
          <a:p>
            <a:pPr algn="l">
              <a:lnSpc>
                <a:spcPct val="120000"/>
              </a:lnSpc>
            </a:pPr>
            <a:r>
              <a:rPr sz="950" b="0" i="0">
                <a:solidFill>
                  <a:srgbClr val="9CA3AF"/>
                </a:solidFill>
                <a:latin typeface="Inter"/>
              </a:rPr>
              <a:t>Field-level schema, delivery history, validation status, and recent runs per pack.</a:t>
            </a:r>
          </a:p>
        </p:txBody>
      </p:sp>
      <p:sp>
        <p:nvSpPr>
          <p:cNvPr id="18" name="Rounded Rectangle 17"/>
          <p:cNvSpPr/>
          <p:nvPr/>
        </p:nvSpPr>
        <p:spPr>
          <a:xfrm>
            <a:off x="8823959" y="2340864"/>
            <a:ext cx="2807208" cy="2807208"/>
          </a:xfrm>
          <a:prstGeom prst="roundRect">
            <a:avLst>
              <a:gd name="adj" fmla="val 4000"/>
            </a:avLst>
          </a:prstGeom>
          <a:solidFill>
            <a:srgbClr val="0B101A"/>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z_upload.png"/>
          <p:cNvPicPr>
            <a:picLocks noChangeAspect="1"/>
          </p:cNvPicPr>
          <p:nvPr/>
        </p:nvPicPr>
        <p:blipFill>
          <a:blip r:embed="rId5"/>
          <a:stretch>
            <a:fillRect/>
          </a:stretch>
        </p:blipFill>
        <p:spPr>
          <a:xfrm>
            <a:off x="8878824" y="2395728"/>
            <a:ext cx="2697480" cy="2697480"/>
          </a:xfrm>
          <a:prstGeom prst="rect">
            <a:avLst/>
          </a:prstGeom>
        </p:spPr>
      </p:pic>
      <p:sp>
        <p:nvSpPr>
          <p:cNvPr id="20" name="TextBox 19"/>
          <p:cNvSpPr txBox="1"/>
          <p:nvPr/>
        </p:nvSpPr>
        <p:spPr>
          <a:xfrm>
            <a:off x="8842248" y="5294376"/>
            <a:ext cx="2615184" cy="1097280"/>
          </a:xfrm>
          <a:prstGeom prst="rect">
            <a:avLst/>
          </a:prstGeom>
          <a:noFill/>
        </p:spPr>
        <p:txBody>
          <a:bodyPr wrap="square" lIns="0" tIns="0" rIns="0" bIns="0" anchor="t"/>
          <a:lstStyle/>
          <a:p>
            <a:pPr algn="l">
              <a:spcAft>
                <a:spcPts val="300"/>
              </a:spcAft>
            </a:pPr>
            <a:r>
              <a:rPr sz="1050" b="1" i="0">
                <a:solidFill>
                  <a:srgbClr val="FFFFFF"/>
                </a:solidFill>
                <a:latin typeface="Inter"/>
              </a:rPr>
              <a:t>04 · Upload a file</a:t>
            </a:r>
          </a:p>
          <a:p>
            <a:pPr algn="l">
              <a:lnSpc>
                <a:spcPct val="120000"/>
              </a:lnSpc>
            </a:pPr>
            <a:r>
              <a:rPr sz="950" b="0" i="0">
                <a:solidFill>
                  <a:srgbClr val="9CA3AF"/>
                </a:solidFill>
                <a:latin typeface="Inter"/>
              </a:rPr>
              <a:t>Drop a file into the tenant landing zone. Validated on arrival, routed to staging.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2</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Normalization</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1000" b="0" i="0">
                <a:solidFill>
                  <a:srgbClr val="6B7280"/>
                </a:solidFill>
                <a:latin typeface="Inter"/>
              </a:rPr>
              <a:t>Ingestion</a:t>
            </a:r>
            <a:r>
              <a:rPr sz="950" b="0" i="0">
                <a:solidFill>
                  <a:srgbClr val="6B7280"/>
                </a:solidFill>
                <a:latin typeface="Inter"/>
              </a:rPr>
              <a:t>  →  </a:t>
            </a:r>
            <a:r>
              <a:rPr sz="1000" b="1" i="0">
                <a:solidFill>
                  <a:srgbClr val="31C48D"/>
                </a:solidFill>
                <a:latin typeface="Inter"/>
              </a:rPr>
              <a:t>Normalize</a:t>
            </a:r>
            <a:r>
              <a:rPr sz="950" b="0" i="0">
                <a:solidFill>
                  <a:srgbClr val="6B7280"/>
                </a:solidFill>
                <a:latin typeface="Inter"/>
              </a:rPr>
              <a:t>  →  </a:t>
            </a:r>
            <a:r>
              <a:rPr sz="1000" b="0" i="0">
                <a:solidFill>
                  <a:srgbClr val="6B7280"/>
                </a:solidFill>
                <a:latin typeface="Inter"/>
              </a:rPr>
              <a:t>Synthesize</a:t>
            </a:r>
            <a:r>
              <a:rPr sz="950" b="0" i="0">
                <a:solidFill>
                  <a:srgbClr val="6B7280"/>
                </a:solidFill>
                <a:latin typeface="Inter"/>
              </a:rPr>
              <a:t>  →  </a:t>
            </a:r>
            <a:r>
              <a:rPr sz="1000" b="0" i="0">
                <a:solidFill>
                  <a:srgbClr val="6B7280"/>
                </a:solidFill>
                <a:latin typeface="Inter"/>
              </a:rPr>
              <a:t>Attribute</a:t>
            </a:r>
            <a:r>
              <a:rPr sz="950" b="0" i="0">
                <a:solidFill>
                  <a:srgbClr val="6B7280"/>
                </a:solidFill>
                <a:latin typeface="Inter"/>
              </a:rPr>
              <a:t>  →  </a:t>
            </a:r>
            <a:r>
              <a:rPr sz="1000" b="0" i="0">
                <a:solidFill>
                  <a:srgbClr val="6B7280"/>
                </a:solidFill>
                <a:latin typeface="Inter"/>
              </a:rPr>
              <a:t>Deliver</a:t>
            </a:r>
          </a:p>
        </p:txBody>
      </p:sp>
      <p:sp>
        <p:nvSpPr>
          <p:cNvPr id="6" name="TextBox 5"/>
          <p:cNvSpPr txBox="1"/>
          <p:nvPr/>
        </p:nvSpPr>
        <p:spPr>
          <a:xfrm>
            <a:off x="548640" y="1261872"/>
            <a:ext cx="11064240" cy="640080"/>
          </a:xfrm>
          <a:prstGeom prst="rect">
            <a:avLst/>
          </a:prstGeom>
          <a:noFill/>
        </p:spPr>
        <p:txBody>
          <a:bodyPr wrap="square" lIns="0" tIns="0" rIns="0" bIns="0" anchor="t"/>
          <a:lstStyle/>
          <a:p>
            <a:pPr algn="l">
              <a:lnSpc>
                <a:spcPct val="125000"/>
              </a:lnSpc>
            </a:pPr>
            <a:r>
              <a:rPr sz="1150" b="0" i="0">
                <a:solidFill>
                  <a:srgbClr val="9CA3AF"/>
                </a:solidFill>
                <a:latin typeface="Inter"/>
              </a:rPr>
              <a:t>Each pack's staging layer translates raw source columns to unified Field vocabulary. Column renames, type coercion, unpivots where needed, and pack lineage tagged on every row. No cross-pack logic yet, that happens in Stage 3.</a:t>
            </a:r>
          </a:p>
        </p:txBody>
      </p:sp>
      <p:sp>
        <p:nvSpPr>
          <p:cNvPr id="7" name="TextBox 6"/>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7</a:t>
            </a:r>
          </a:p>
        </p:txBody>
      </p:sp>
      <p:sp>
        <p:nvSpPr>
          <p:cNvPr id="9" name="Rounded Rectangle 8"/>
          <p:cNvSpPr/>
          <p:nvPr/>
        </p:nvSpPr>
        <p:spPr>
          <a:xfrm>
            <a:off x="548640" y="2103120"/>
            <a:ext cx="11091672" cy="2834640"/>
          </a:xfrm>
          <a:prstGeom prst="roundRect">
            <a:avLst>
              <a:gd name="adj" fmla="val 3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304288"/>
            <a:ext cx="10515600" cy="502920"/>
          </a:xfrm>
          <a:prstGeom prst="rect">
            <a:avLst/>
          </a:prstGeom>
          <a:noFill/>
        </p:spPr>
        <p:txBody>
          <a:bodyPr wrap="square" lIns="0" tIns="0" rIns="0" bIns="0" anchor="t"/>
          <a:lstStyle/>
          <a:p>
            <a:pPr algn="l">
              <a:spcAft>
                <a:spcPts val="300"/>
              </a:spcAft>
            </a:pPr>
            <a:r>
              <a:rPr sz="950" b="1" i="0" spc="180">
                <a:solidFill>
                  <a:srgbClr val="31C48D"/>
                </a:solidFill>
                <a:latin typeface="Inter"/>
              </a:rPr>
              <a:t>WHERE WE'RE GOING: THE FIELD GOLDEN SOURCE OF RECORD</a:t>
            </a:r>
          </a:p>
          <a:p>
            <a:pPr algn="l"/>
            <a:r>
              <a:rPr sz="950" b="0" i="0">
                <a:solidFill>
                  <a:srgbClr val="9CA3AF"/>
                </a:solidFill>
                <a:latin typeface="Inter"/>
              </a:rPr>
              <a:t>Subset of fields shown. One row per (Month × Firm × Office × Team × FA × Vehicle × Asset Class × Platform), with lineage preserved.</a:t>
            </a:r>
          </a:p>
        </p:txBody>
      </p:sp>
      <p:graphicFrame>
        <p:nvGraphicFramePr>
          <p:cNvPr id="11" name="Table 10"/>
          <p:cNvGraphicFramePr>
            <a:graphicFrameLocks noGrp="1"/>
          </p:cNvGraphicFramePr>
          <p:nvPr/>
        </p:nvGraphicFramePr>
        <p:xfrm>
          <a:off x="822960" y="3127248"/>
          <a:ext cx="10515591" cy="1536192"/>
        </p:xfrm>
        <a:graphic>
          <a:graphicData uri="http://schemas.openxmlformats.org/drawingml/2006/table">
            <a:tbl>
              <a:tblPr>
                <a:tableStyleId>{5C22544A-7EE6-4342-B048-85BDC9FD1C3A}</a:tableStyleId>
              </a:tblPr>
              <a:tblGrid>
                <a:gridCol w="666481">
                  <a:extLst>
                    <a:ext uri="{9D8B030D-6E8A-4147-A177-3AD203B41FA5}">
                      <a16:colId xmlns:a16="http://schemas.microsoft.com/office/drawing/2014/main" val="20000"/>
                    </a:ext>
                  </a:extLst>
                </a:gridCol>
                <a:gridCol w="777561">
                  <a:extLst>
                    <a:ext uri="{9D8B030D-6E8A-4147-A177-3AD203B41FA5}">
                      <a16:colId xmlns:a16="http://schemas.microsoft.com/office/drawing/2014/main" val="20001"/>
                    </a:ext>
                  </a:extLst>
                </a:gridCol>
                <a:gridCol w="555401">
                  <a:extLst>
                    <a:ext uri="{9D8B030D-6E8A-4147-A177-3AD203B41FA5}">
                      <a16:colId xmlns:a16="http://schemas.microsoft.com/office/drawing/2014/main" val="20002"/>
                    </a:ext>
                  </a:extLst>
                </a:gridCol>
                <a:gridCol w="814588">
                  <a:extLst>
                    <a:ext uri="{9D8B030D-6E8A-4147-A177-3AD203B41FA5}">
                      <a16:colId xmlns:a16="http://schemas.microsoft.com/office/drawing/2014/main" val="20003"/>
                    </a:ext>
                  </a:extLst>
                </a:gridCol>
                <a:gridCol w="703508">
                  <a:extLst>
                    <a:ext uri="{9D8B030D-6E8A-4147-A177-3AD203B41FA5}">
                      <a16:colId xmlns:a16="http://schemas.microsoft.com/office/drawing/2014/main" val="20004"/>
                    </a:ext>
                  </a:extLst>
                </a:gridCol>
                <a:gridCol w="592428">
                  <a:extLst>
                    <a:ext uri="{9D8B030D-6E8A-4147-A177-3AD203B41FA5}">
                      <a16:colId xmlns:a16="http://schemas.microsoft.com/office/drawing/2014/main" val="20005"/>
                    </a:ext>
                  </a:extLst>
                </a:gridCol>
                <a:gridCol w="962695">
                  <a:extLst>
                    <a:ext uri="{9D8B030D-6E8A-4147-A177-3AD203B41FA5}">
                      <a16:colId xmlns:a16="http://schemas.microsoft.com/office/drawing/2014/main" val="20006"/>
                    </a:ext>
                  </a:extLst>
                </a:gridCol>
                <a:gridCol w="740535">
                  <a:extLst>
                    <a:ext uri="{9D8B030D-6E8A-4147-A177-3AD203B41FA5}">
                      <a16:colId xmlns:a16="http://schemas.microsoft.com/office/drawing/2014/main" val="20007"/>
                    </a:ext>
                  </a:extLst>
                </a:gridCol>
                <a:gridCol w="703508">
                  <a:extLst>
                    <a:ext uri="{9D8B030D-6E8A-4147-A177-3AD203B41FA5}">
                      <a16:colId xmlns:a16="http://schemas.microsoft.com/office/drawing/2014/main" val="20008"/>
                    </a:ext>
                  </a:extLst>
                </a:gridCol>
                <a:gridCol w="666481">
                  <a:extLst>
                    <a:ext uri="{9D8B030D-6E8A-4147-A177-3AD203B41FA5}">
                      <a16:colId xmlns:a16="http://schemas.microsoft.com/office/drawing/2014/main" val="20009"/>
                    </a:ext>
                  </a:extLst>
                </a:gridCol>
                <a:gridCol w="666481">
                  <a:extLst>
                    <a:ext uri="{9D8B030D-6E8A-4147-A177-3AD203B41FA5}">
                      <a16:colId xmlns:a16="http://schemas.microsoft.com/office/drawing/2014/main" val="20010"/>
                    </a:ext>
                  </a:extLst>
                </a:gridCol>
                <a:gridCol w="629454">
                  <a:extLst>
                    <a:ext uri="{9D8B030D-6E8A-4147-A177-3AD203B41FA5}">
                      <a16:colId xmlns:a16="http://schemas.microsoft.com/office/drawing/2014/main" val="20011"/>
                    </a:ext>
                  </a:extLst>
                </a:gridCol>
                <a:gridCol w="703508">
                  <a:extLst>
                    <a:ext uri="{9D8B030D-6E8A-4147-A177-3AD203B41FA5}">
                      <a16:colId xmlns:a16="http://schemas.microsoft.com/office/drawing/2014/main" val="20012"/>
                    </a:ext>
                  </a:extLst>
                </a:gridCol>
                <a:gridCol w="703508">
                  <a:extLst>
                    <a:ext uri="{9D8B030D-6E8A-4147-A177-3AD203B41FA5}">
                      <a16:colId xmlns:a16="http://schemas.microsoft.com/office/drawing/2014/main" val="20013"/>
                    </a:ext>
                  </a:extLst>
                </a:gridCol>
                <a:gridCol w="629454">
                  <a:extLst>
                    <a:ext uri="{9D8B030D-6E8A-4147-A177-3AD203B41FA5}">
                      <a16:colId xmlns:a16="http://schemas.microsoft.com/office/drawing/2014/main" val="20014"/>
                    </a:ext>
                  </a:extLst>
                </a:gridCol>
              </a:tblGrid>
              <a:tr h="384048">
                <a:tc>
                  <a:txBody>
                    <a:bodyPr/>
                    <a:lstStyle/>
                    <a:p>
                      <a:r>
                        <a:rPr sz="650" b="1">
                          <a:solidFill>
                            <a:srgbClr val="31C48D"/>
                          </a:solidFill>
                          <a:latin typeface="Inter"/>
                        </a:rPr>
                        <a:t>MONTH</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FIRM</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OFFICE</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TEAM/FA</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CRD</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VEHICLE</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CATEGORY</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PLATFORM</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SALES OPP</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AUM OPP</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AM SALES</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AM AUM</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MKT SHARE</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PERF ADV</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650" b="1">
                          <a:solidFill>
                            <a:srgbClr val="31C48D"/>
                          </a:solidFill>
                          <a:latin typeface="Inter"/>
                        </a:rPr>
                        <a:t>FEE ADV</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extLst>
                  <a:ext uri="{0D108BD9-81ED-4DB2-BD59-A6C34878D82A}">
                    <a16:rowId xmlns:a16="http://schemas.microsoft.com/office/drawing/2014/main" val="10000"/>
                  </a:ext>
                </a:extLst>
              </a:tr>
              <a:tr h="384048">
                <a:tc>
                  <a:txBody>
                    <a:bodyPr/>
                    <a:lstStyle/>
                    <a:p>
                      <a:r>
                        <a:rPr sz="750">
                          <a:solidFill>
                            <a:srgbClr val="9CA3AF"/>
                          </a:solidFill>
                          <a:latin typeface="Inter"/>
                        </a:rPr>
                        <a:t>2026-03</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LPL</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4471</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Smith Grp</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6447655</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MF</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US LC Blend</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Advisory</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$18.4M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$210M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$1.2M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$48M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22.8%</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+140bps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-12bps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extLst>
                  <a:ext uri="{0D108BD9-81ED-4DB2-BD59-A6C34878D82A}">
                    <a16:rowId xmlns:a16="http://schemas.microsoft.com/office/drawing/2014/main" val="10001"/>
                  </a:ext>
                </a:extLst>
              </a:tr>
              <a:tr h="384048">
                <a:tc>
                  <a:txBody>
                    <a:bodyPr/>
                    <a:lstStyle/>
                    <a:p>
                      <a:r>
                        <a:rPr sz="750">
                          <a:solidFill>
                            <a:srgbClr val="9CA3AF"/>
                          </a:solidFill>
                          <a:latin typeface="Inter"/>
                        </a:rPr>
                        <a:t>2026-03</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a:solidFill>
                            <a:srgbClr val="9CA3AF"/>
                          </a:solidFill>
                          <a:latin typeface="Inter"/>
                        </a:rPr>
                        <a:t>MS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a:solidFill>
                            <a:srgbClr val="9CA3AF"/>
                          </a:solidFill>
                          <a:latin typeface="Inter"/>
                        </a:rPr>
                        <a:t>Bost-1</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a:solidFill>
                            <a:srgbClr val="9CA3AF"/>
                          </a:solidFill>
                          <a:latin typeface="Inter"/>
                        </a:rPr>
                        <a:t>Rivera Grp</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a:solidFill>
                            <a:srgbClr val="9CA3AF"/>
                          </a:solidFill>
                          <a:latin typeface="Inter"/>
                        </a:rPr>
                        <a:t>5511239</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a:solidFill>
                            <a:srgbClr val="9CA3AF"/>
                          </a:solidFill>
                          <a:latin typeface="Inter"/>
                        </a:rPr>
                        <a:t>MF</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a:solidFill>
                            <a:srgbClr val="9CA3AF"/>
                          </a:solidFill>
                          <a:latin typeface="Inter"/>
                        </a:rPr>
                        <a:t>US LC Blend</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a:solidFill>
                            <a:srgbClr val="9CA3AF"/>
                          </a:solidFill>
                          <a:latin typeface="Inter"/>
                        </a:rPr>
                        <a:t>Advisory</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b="0">
                          <a:solidFill>
                            <a:srgbClr val="FFFFFF"/>
                          </a:solidFill>
                          <a:latin typeface="Inter"/>
                        </a:rPr>
                        <a:t>$14.8M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b="0">
                          <a:solidFill>
                            <a:srgbClr val="FFFFFF"/>
                          </a:solidFill>
                          <a:latin typeface="Inter"/>
                        </a:rPr>
                        <a:t>$188M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b="0">
                          <a:solidFill>
                            <a:srgbClr val="FFFFFF"/>
                          </a:solidFill>
                          <a:latin typeface="Inter"/>
                        </a:rPr>
                        <a:t>$0.7M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b="0">
                          <a:solidFill>
                            <a:srgbClr val="FFFFFF"/>
                          </a:solidFill>
                          <a:latin typeface="Inter"/>
                        </a:rPr>
                        <a:t>$41M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b="0">
                          <a:solidFill>
                            <a:srgbClr val="FFFFFF"/>
                          </a:solidFill>
                          <a:latin typeface="Inter"/>
                        </a:rPr>
                        <a:t>21.8%</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b="0">
                          <a:solidFill>
                            <a:srgbClr val="FFFFFF"/>
                          </a:solidFill>
                          <a:latin typeface="Inter"/>
                        </a:rPr>
                        <a:t>+120bps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750" b="0">
                          <a:solidFill>
                            <a:srgbClr val="FFFFFF"/>
                          </a:solidFill>
                          <a:latin typeface="Inter"/>
                        </a:rPr>
                        <a:t>-10bps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extLst>
                  <a:ext uri="{0D108BD9-81ED-4DB2-BD59-A6C34878D82A}">
                    <a16:rowId xmlns:a16="http://schemas.microsoft.com/office/drawing/2014/main" val="10002"/>
                  </a:ext>
                </a:extLst>
              </a:tr>
              <a:tr h="384048">
                <a:tc>
                  <a:txBody>
                    <a:bodyPr/>
                    <a:lstStyle/>
                    <a:p>
                      <a:r>
                        <a:rPr sz="750">
                          <a:solidFill>
                            <a:srgbClr val="9CA3AF"/>
                          </a:solidFill>
                          <a:latin typeface="Inter"/>
                        </a:rPr>
                        <a:t>2026-03</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Ameriprise</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Bost-3</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Chen Grp</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4488192</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MF</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Foreign Lg Gr</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a:solidFill>
                            <a:srgbClr val="9CA3AF"/>
                          </a:solidFill>
                          <a:latin typeface="Inter"/>
                        </a:rPr>
                        <a:t>Advisory</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$22.1M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$342M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$0.9M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$76M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22.2%</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+95bps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750" b="0">
                          <a:solidFill>
                            <a:srgbClr val="FFFFFF"/>
                          </a:solidFill>
                          <a:latin typeface="Inter"/>
                        </a:rPr>
                        <a:t>-6bps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extLst>
                  <a:ext uri="{0D108BD9-81ED-4DB2-BD59-A6C34878D82A}">
                    <a16:rowId xmlns:a16="http://schemas.microsoft.com/office/drawing/2014/main" val="10003"/>
                  </a:ext>
                </a:extLst>
              </a:tr>
            </a:tbl>
          </a:graphicData>
        </a:graphic>
      </p:graphicFrame>
      <p:sp>
        <p:nvSpPr>
          <p:cNvPr id="12" name="TextBox 11"/>
          <p:cNvSpPr txBox="1"/>
          <p:nvPr/>
        </p:nvSpPr>
        <p:spPr>
          <a:xfrm>
            <a:off x="548640" y="5230368"/>
            <a:ext cx="11064240" cy="1097280"/>
          </a:xfrm>
          <a:prstGeom prst="rect">
            <a:avLst/>
          </a:prstGeom>
          <a:noFill/>
        </p:spPr>
        <p:txBody>
          <a:bodyPr wrap="square" lIns="0" tIns="0" rIns="0" bIns="0" anchor="t"/>
          <a:lstStyle/>
          <a:p>
            <a:pPr algn="l">
              <a:spcAft>
                <a:spcPts val="400"/>
              </a:spcAft>
            </a:pPr>
            <a:r>
              <a:rPr sz="1200" b="1" i="0">
                <a:solidFill>
                  <a:srgbClr val="FFFFFF"/>
                </a:solidFill>
                <a:latin typeface="Inter"/>
              </a:rPr>
              <a:t>What normalization guarantees</a:t>
            </a:r>
          </a:p>
          <a:p>
            <a:pPr algn="l">
              <a:lnSpc>
                <a:spcPct val="125000"/>
              </a:lnSpc>
            </a:pPr>
            <a:r>
              <a:rPr sz="1000" b="0" i="0">
                <a:solidFill>
                  <a:srgbClr val="9CA3AF"/>
                </a:solidFill>
                <a:latin typeface="Inter"/>
              </a:rPr>
              <a:t>Every normalized row carries </a:t>
            </a:r>
            <a:r>
              <a:rPr sz="1000" b="0" i="0">
                <a:solidFill>
                  <a:srgbClr val="31C48D"/>
                </a:solidFill>
                <a:latin typeface="Inter"/>
              </a:rPr>
              <a:t>source_pack, source_row_id, delivery_period, pack_tier, normalized_at</a:t>
            </a:r>
            <a:r>
              <a:rPr sz="1000" b="0" i="0">
                <a:solidFill>
                  <a:srgbClr val="9CA3AF"/>
                </a:solidFill>
                <a:latin typeface="Inter"/>
              </a:rPr>
              <a:t>. When a wholesaler asks “where did this number come from,” Field points back to the exact source cell in the pack file.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2</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One language across packs</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1000" b="0" i="0">
                <a:solidFill>
                  <a:srgbClr val="6B7280"/>
                </a:solidFill>
                <a:latin typeface="Inter"/>
              </a:rPr>
              <a:t>Ingestion</a:t>
            </a:r>
            <a:r>
              <a:rPr sz="950" b="0" i="0">
                <a:solidFill>
                  <a:srgbClr val="6B7280"/>
                </a:solidFill>
                <a:latin typeface="Inter"/>
              </a:rPr>
              <a:t>  →  </a:t>
            </a:r>
            <a:r>
              <a:rPr sz="1000" b="1" i="0">
                <a:solidFill>
                  <a:srgbClr val="31C48D"/>
                </a:solidFill>
                <a:latin typeface="Inter"/>
              </a:rPr>
              <a:t>Normalize</a:t>
            </a:r>
            <a:r>
              <a:rPr sz="950" b="0" i="0">
                <a:solidFill>
                  <a:srgbClr val="6B7280"/>
                </a:solidFill>
                <a:latin typeface="Inter"/>
              </a:rPr>
              <a:t>  →  </a:t>
            </a:r>
            <a:r>
              <a:rPr sz="1000" b="0" i="0">
                <a:solidFill>
                  <a:srgbClr val="6B7280"/>
                </a:solidFill>
                <a:latin typeface="Inter"/>
              </a:rPr>
              <a:t>Synthesize</a:t>
            </a:r>
            <a:r>
              <a:rPr sz="950" b="0" i="0">
                <a:solidFill>
                  <a:srgbClr val="6B7280"/>
                </a:solidFill>
                <a:latin typeface="Inter"/>
              </a:rPr>
              <a:t>  →  </a:t>
            </a:r>
            <a:r>
              <a:rPr sz="1000" b="0" i="0">
                <a:solidFill>
                  <a:srgbClr val="6B7280"/>
                </a:solidFill>
                <a:latin typeface="Inter"/>
              </a:rPr>
              <a:t>Attribute</a:t>
            </a:r>
            <a:r>
              <a:rPr sz="950" b="0" i="0">
                <a:solidFill>
                  <a:srgbClr val="6B7280"/>
                </a:solidFill>
                <a:latin typeface="Inter"/>
              </a:rPr>
              <a:t>  →  </a:t>
            </a:r>
            <a:r>
              <a:rPr sz="1000" b="0" i="0">
                <a:solidFill>
                  <a:srgbClr val="6B7280"/>
                </a:solidFill>
                <a:latin typeface="Inter"/>
              </a:rPr>
              <a:t>Deliver</a:t>
            </a:r>
          </a:p>
        </p:txBody>
      </p:sp>
      <p:sp>
        <p:nvSpPr>
          <p:cNvPr id="6" name="TextBox 5"/>
          <p:cNvSpPr txBox="1"/>
          <p:nvPr/>
        </p:nvSpPr>
        <p:spPr>
          <a:xfrm>
            <a:off x="548640" y="1261872"/>
            <a:ext cx="11064240" cy="594360"/>
          </a:xfrm>
          <a:prstGeom prst="rect">
            <a:avLst/>
          </a:prstGeom>
          <a:noFill/>
        </p:spPr>
        <p:txBody>
          <a:bodyPr wrap="square" lIns="0" tIns="0" rIns="0" bIns="0" anchor="t"/>
          <a:lstStyle/>
          <a:p>
            <a:pPr algn="l">
              <a:lnSpc>
                <a:spcPct val="125000"/>
              </a:lnSpc>
            </a:pPr>
            <a:r>
              <a:rPr sz="1150" b="0" i="0">
                <a:solidFill>
                  <a:srgbClr val="9CA3AF"/>
                </a:solidFill>
                <a:latin typeface="Inter"/>
              </a:rPr>
              <a:t>Different packs use different column names for the same concept, sometimes with different vehicle scope. Field standardizes everything to </a:t>
            </a:r>
            <a:r>
              <a:rPr sz="1150" b="1" i="0">
                <a:solidFill>
                  <a:srgbClr val="FFFFFF"/>
                </a:solidFill>
                <a:latin typeface="Inter"/>
              </a:rPr>
              <a:t>total_aum</a:t>
            </a:r>
            <a:r>
              <a:rPr sz="1150" b="0" i="0">
                <a:solidFill>
                  <a:srgbClr val="9CA3AF"/>
                </a:solidFill>
                <a:latin typeface="Inter"/>
              </a:rPr>
              <a:t> with a </a:t>
            </a:r>
            <a:r>
              <a:rPr sz="1150" b="1" i="0">
                <a:solidFill>
                  <a:srgbClr val="FFFFFF"/>
                </a:solidFill>
                <a:latin typeface="Inter"/>
              </a:rPr>
              <a:t>vehicle</a:t>
            </a:r>
            <a:r>
              <a:rPr sz="1150" b="0" i="0">
                <a:solidFill>
                  <a:srgbClr val="9CA3AF"/>
                </a:solidFill>
                <a:latin typeface="Inter"/>
              </a:rPr>
              <a:t> tag on every row.</a:t>
            </a:r>
          </a:p>
        </p:txBody>
      </p:sp>
      <p:sp>
        <p:nvSpPr>
          <p:cNvPr id="7" name="TextBox 6"/>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8</a:t>
            </a:r>
          </a:p>
        </p:txBody>
      </p:sp>
      <p:sp>
        <p:nvSpPr>
          <p:cNvPr id="9" name="Rounded Rectangle 8"/>
          <p:cNvSpPr/>
          <p:nvPr/>
        </p:nvSpPr>
        <p:spPr>
          <a:xfrm>
            <a:off x="548640" y="2057400"/>
            <a:ext cx="5440680" cy="1298448"/>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49808" y="2258568"/>
            <a:ext cx="2212848" cy="896112"/>
          </a:xfrm>
          <a:prstGeom prst="roundRect">
            <a:avLst>
              <a:gd name="adj" fmla="val 10000"/>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96112" y="2386584"/>
            <a:ext cx="1965960" cy="685800"/>
          </a:xfrm>
          <a:prstGeom prst="rect">
            <a:avLst/>
          </a:prstGeom>
          <a:noFill/>
        </p:spPr>
        <p:txBody>
          <a:bodyPr wrap="square" lIns="0" tIns="0" rIns="0" bIns="0" anchor="t"/>
          <a:lstStyle/>
          <a:p>
            <a:pPr algn="l">
              <a:spcAft>
                <a:spcPts val="200"/>
              </a:spcAft>
            </a:pPr>
            <a:r>
              <a:rPr sz="1000" b="1" i="0">
                <a:solidFill>
                  <a:srgbClr val="FFFFFF"/>
                </a:solidFill>
                <a:latin typeface="Inter"/>
              </a:rPr>
              <a:t>MS</a:t>
            </a:r>
          </a:p>
          <a:p>
            <a:pPr algn="l"/>
            <a:r>
              <a:rPr sz="800" b="0" i="0">
                <a:solidFill>
                  <a:srgbClr val="9CA3AF"/>
                </a:solidFill>
                <a:latin typeface="Inter"/>
              </a:rPr>
              <a:t>hswh_current_assets = $175M</a:t>
            </a:r>
          </a:p>
        </p:txBody>
      </p:sp>
      <p:sp>
        <p:nvSpPr>
          <p:cNvPr id="12" name="TextBox 11"/>
          <p:cNvSpPr txBox="1"/>
          <p:nvPr/>
        </p:nvSpPr>
        <p:spPr>
          <a:xfrm>
            <a:off x="2999232" y="2514600"/>
            <a:ext cx="457200" cy="365760"/>
          </a:xfrm>
          <a:prstGeom prst="rect">
            <a:avLst/>
          </a:prstGeom>
          <a:noFill/>
        </p:spPr>
        <p:txBody>
          <a:bodyPr wrap="square" lIns="0" tIns="0" rIns="0" bIns="0" anchor="t"/>
          <a:lstStyle/>
          <a:p>
            <a:pPr algn="ctr"/>
            <a:r>
              <a:rPr sz="1600" b="1" i="0">
                <a:solidFill>
                  <a:srgbClr val="31C48D"/>
                </a:solidFill>
                <a:latin typeface="Inter"/>
              </a:rPr>
              <a:t>→</a:t>
            </a:r>
          </a:p>
        </p:txBody>
      </p:sp>
      <p:sp>
        <p:nvSpPr>
          <p:cNvPr id="13" name="Rounded Rectangle 12"/>
          <p:cNvSpPr/>
          <p:nvPr/>
        </p:nvSpPr>
        <p:spPr>
          <a:xfrm>
            <a:off x="3474720" y="2258568"/>
            <a:ext cx="2304288" cy="896112"/>
          </a:xfrm>
          <a:prstGeom prst="roundRect">
            <a:avLst>
              <a:gd name="adj" fmla="val 10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21024" y="2386584"/>
            <a:ext cx="2057400" cy="685800"/>
          </a:xfrm>
          <a:prstGeom prst="rect">
            <a:avLst/>
          </a:prstGeom>
          <a:noFill/>
        </p:spPr>
        <p:txBody>
          <a:bodyPr wrap="square" lIns="0" tIns="0" rIns="0" bIns="0" anchor="t"/>
          <a:lstStyle/>
          <a:p>
            <a:pPr algn="l">
              <a:spcAft>
                <a:spcPts val="200"/>
              </a:spcAft>
            </a:pPr>
            <a:r>
              <a:rPr sz="750" b="1" i="0" spc="150">
                <a:solidFill>
                  <a:srgbClr val="31C48D"/>
                </a:solidFill>
                <a:latin typeface="Inter"/>
              </a:rPr>
              <a:t>FIELD ROW</a:t>
            </a:r>
          </a:p>
          <a:p>
            <a:pPr algn="l"/>
            <a:r>
              <a:rPr sz="800" b="0" i="0">
                <a:solidFill>
                  <a:srgbClr val="FFFFFF"/>
                </a:solidFill>
                <a:latin typeface="Inter"/>
              </a:rPr>
              <a:t>total_aum = $175M  ·  vehicle = 'MF'</a:t>
            </a:r>
          </a:p>
        </p:txBody>
      </p:sp>
      <p:sp>
        <p:nvSpPr>
          <p:cNvPr id="15" name="Rounded Rectangle 14"/>
          <p:cNvSpPr/>
          <p:nvPr/>
        </p:nvSpPr>
        <p:spPr>
          <a:xfrm>
            <a:off x="6291072" y="2057400"/>
            <a:ext cx="5440680" cy="1298448"/>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92240" y="2258568"/>
            <a:ext cx="2212848" cy="896112"/>
          </a:xfrm>
          <a:prstGeom prst="roundRect">
            <a:avLst>
              <a:gd name="adj" fmla="val 10000"/>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38544" y="2386584"/>
            <a:ext cx="1965960" cy="685800"/>
          </a:xfrm>
          <a:prstGeom prst="rect">
            <a:avLst/>
          </a:prstGeom>
          <a:noFill/>
        </p:spPr>
        <p:txBody>
          <a:bodyPr wrap="square" lIns="0" tIns="0" rIns="0" bIns="0" anchor="t"/>
          <a:lstStyle/>
          <a:p>
            <a:pPr algn="l">
              <a:spcAft>
                <a:spcPts val="200"/>
              </a:spcAft>
            </a:pPr>
            <a:r>
              <a:rPr sz="1000" b="1" i="0">
                <a:solidFill>
                  <a:srgbClr val="FFFFFF"/>
                </a:solidFill>
                <a:latin typeface="Inter"/>
              </a:rPr>
              <a:t>LPL</a:t>
            </a:r>
          </a:p>
          <a:p>
            <a:pPr algn="l"/>
            <a:r>
              <a:rPr sz="800" b="0" i="0">
                <a:solidFill>
                  <a:srgbClr val="9CA3AF"/>
                </a:solidFill>
                <a:latin typeface="Inter"/>
              </a:rPr>
              <a:t>total_assets = $175M</a:t>
            </a:r>
          </a:p>
        </p:txBody>
      </p:sp>
      <p:sp>
        <p:nvSpPr>
          <p:cNvPr id="18" name="TextBox 17"/>
          <p:cNvSpPr txBox="1"/>
          <p:nvPr/>
        </p:nvSpPr>
        <p:spPr>
          <a:xfrm>
            <a:off x="8741664" y="2514600"/>
            <a:ext cx="457200" cy="365760"/>
          </a:xfrm>
          <a:prstGeom prst="rect">
            <a:avLst/>
          </a:prstGeom>
          <a:noFill/>
        </p:spPr>
        <p:txBody>
          <a:bodyPr wrap="square" lIns="0" tIns="0" rIns="0" bIns="0" anchor="t"/>
          <a:lstStyle/>
          <a:p>
            <a:pPr algn="ctr"/>
            <a:r>
              <a:rPr sz="1600" b="1" i="0">
                <a:solidFill>
                  <a:srgbClr val="31C48D"/>
                </a:solidFill>
                <a:latin typeface="Inter"/>
              </a:rPr>
              <a:t>→</a:t>
            </a:r>
          </a:p>
        </p:txBody>
      </p:sp>
      <p:sp>
        <p:nvSpPr>
          <p:cNvPr id="19" name="Rounded Rectangle 18"/>
          <p:cNvSpPr/>
          <p:nvPr/>
        </p:nvSpPr>
        <p:spPr>
          <a:xfrm>
            <a:off x="9217152" y="2258568"/>
            <a:ext cx="2304288" cy="896112"/>
          </a:xfrm>
          <a:prstGeom prst="roundRect">
            <a:avLst>
              <a:gd name="adj" fmla="val 10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63456" y="2386584"/>
            <a:ext cx="2057400" cy="685800"/>
          </a:xfrm>
          <a:prstGeom prst="rect">
            <a:avLst/>
          </a:prstGeom>
          <a:noFill/>
        </p:spPr>
        <p:txBody>
          <a:bodyPr wrap="square" lIns="0" tIns="0" rIns="0" bIns="0" anchor="t"/>
          <a:lstStyle/>
          <a:p>
            <a:pPr algn="l">
              <a:spcAft>
                <a:spcPts val="200"/>
              </a:spcAft>
            </a:pPr>
            <a:r>
              <a:rPr sz="750" b="1" i="0" spc="150">
                <a:solidFill>
                  <a:srgbClr val="31C48D"/>
                </a:solidFill>
                <a:latin typeface="Inter"/>
              </a:rPr>
              <a:t>FIELD ROW</a:t>
            </a:r>
          </a:p>
          <a:p>
            <a:pPr algn="l"/>
            <a:r>
              <a:rPr sz="800" b="0" i="0">
                <a:solidFill>
                  <a:srgbClr val="FFFFFF"/>
                </a:solidFill>
                <a:latin typeface="Inter"/>
              </a:rPr>
              <a:t>total_aum = $175M  ·  vehicle = 'MF'</a:t>
            </a:r>
          </a:p>
        </p:txBody>
      </p:sp>
      <p:sp>
        <p:nvSpPr>
          <p:cNvPr id="21" name="Rounded Rectangle 20"/>
          <p:cNvSpPr/>
          <p:nvPr/>
        </p:nvSpPr>
        <p:spPr>
          <a:xfrm>
            <a:off x="548640" y="3538728"/>
            <a:ext cx="5440680" cy="1298448"/>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49808" y="3739896"/>
            <a:ext cx="2212848" cy="896112"/>
          </a:xfrm>
          <a:prstGeom prst="roundRect">
            <a:avLst>
              <a:gd name="adj" fmla="val 10000"/>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96112" y="3867912"/>
            <a:ext cx="1965960" cy="685800"/>
          </a:xfrm>
          <a:prstGeom prst="rect">
            <a:avLst/>
          </a:prstGeom>
          <a:noFill/>
        </p:spPr>
        <p:txBody>
          <a:bodyPr wrap="square" lIns="0" tIns="0" rIns="0" bIns="0" anchor="t"/>
          <a:lstStyle/>
          <a:p>
            <a:pPr algn="l">
              <a:spcAft>
                <a:spcPts val="200"/>
              </a:spcAft>
            </a:pPr>
            <a:r>
              <a:rPr sz="1000" b="1" i="0">
                <a:solidFill>
                  <a:srgbClr val="FFFFFF"/>
                </a:solidFill>
                <a:latin typeface="Inter"/>
              </a:rPr>
              <a:t>SS&amp;C Office (MF only)</a:t>
            </a:r>
          </a:p>
          <a:p>
            <a:pPr algn="l"/>
            <a:r>
              <a:rPr sz="800" b="0" i="0">
                <a:solidFill>
                  <a:srgbClr val="9CA3AF"/>
                </a:solidFill>
                <a:latin typeface="Inter"/>
              </a:rPr>
              <a:t>total_aum_opportunity = $890M</a:t>
            </a:r>
          </a:p>
        </p:txBody>
      </p:sp>
      <p:sp>
        <p:nvSpPr>
          <p:cNvPr id="24" name="TextBox 23"/>
          <p:cNvSpPr txBox="1"/>
          <p:nvPr/>
        </p:nvSpPr>
        <p:spPr>
          <a:xfrm>
            <a:off x="2999232" y="3995928"/>
            <a:ext cx="457200" cy="365760"/>
          </a:xfrm>
          <a:prstGeom prst="rect">
            <a:avLst/>
          </a:prstGeom>
          <a:noFill/>
        </p:spPr>
        <p:txBody>
          <a:bodyPr wrap="square" lIns="0" tIns="0" rIns="0" bIns="0" anchor="t"/>
          <a:lstStyle/>
          <a:p>
            <a:pPr algn="ctr"/>
            <a:r>
              <a:rPr sz="1600" b="1" i="0">
                <a:solidFill>
                  <a:srgbClr val="31C48D"/>
                </a:solidFill>
                <a:latin typeface="Inter"/>
              </a:rPr>
              <a:t>→</a:t>
            </a:r>
          </a:p>
        </p:txBody>
      </p:sp>
      <p:sp>
        <p:nvSpPr>
          <p:cNvPr id="25" name="Rounded Rectangle 24"/>
          <p:cNvSpPr/>
          <p:nvPr/>
        </p:nvSpPr>
        <p:spPr>
          <a:xfrm>
            <a:off x="3474720" y="3739896"/>
            <a:ext cx="2304288" cy="896112"/>
          </a:xfrm>
          <a:prstGeom prst="roundRect">
            <a:avLst>
              <a:gd name="adj" fmla="val 10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21024" y="3867912"/>
            <a:ext cx="2057400" cy="685800"/>
          </a:xfrm>
          <a:prstGeom prst="rect">
            <a:avLst/>
          </a:prstGeom>
          <a:noFill/>
        </p:spPr>
        <p:txBody>
          <a:bodyPr wrap="square" lIns="0" tIns="0" rIns="0" bIns="0" anchor="t"/>
          <a:lstStyle/>
          <a:p>
            <a:pPr algn="l">
              <a:spcAft>
                <a:spcPts val="200"/>
              </a:spcAft>
            </a:pPr>
            <a:r>
              <a:rPr sz="750" b="1" i="0" spc="150">
                <a:solidFill>
                  <a:srgbClr val="31C48D"/>
                </a:solidFill>
                <a:latin typeface="Inter"/>
              </a:rPr>
              <a:t>FIELD ROW</a:t>
            </a:r>
          </a:p>
          <a:p>
            <a:pPr algn="l"/>
            <a:r>
              <a:rPr sz="800" b="0" i="0">
                <a:solidFill>
                  <a:srgbClr val="FFFFFF"/>
                </a:solidFill>
                <a:latin typeface="Inter"/>
              </a:rPr>
              <a:t>total_aum = $890M  ·  vehicle = 'MF'</a:t>
            </a:r>
          </a:p>
        </p:txBody>
      </p:sp>
      <p:sp>
        <p:nvSpPr>
          <p:cNvPr id="27" name="Rounded Rectangle 26"/>
          <p:cNvSpPr/>
          <p:nvPr/>
        </p:nvSpPr>
        <p:spPr>
          <a:xfrm>
            <a:off x="6291072" y="3538728"/>
            <a:ext cx="5440680" cy="1298448"/>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92240" y="3739896"/>
            <a:ext cx="2212848" cy="896112"/>
          </a:xfrm>
          <a:prstGeom prst="roundRect">
            <a:avLst>
              <a:gd name="adj" fmla="val 10000"/>
            </a:avLst>
          </a:prstGeom>
          <a:solidFill>
            <a:srgbClr val="0B10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38544" y="3867912"/>
            <a:ext cx="1965960" cy="685800"/>
          </a:xfrm>
          <a:prstGeom prst="rect">
            <a:avLst/>
          </a:prstGeom>
          <a:noFill/>
        </p:spPr>
        <p:txBody>
          <a:bodyPr wrap="square" lIns="0" tIns="0" rIns="0" bIns="0" anchor="t"/>
          <a:lstStyle/>
          <a:p>
            <a:pPr algn="l">
              <a:spcAft>
                <a:spcPts val="200"/>
              </a:spcAft>
            </a:pPr>
            <a:r>
              <a:rPr sz="1000" b="1" i="0">
                <a:solidFill>
                  <a:srgbClr val="FFFFFF"/>
                </a:solidFill>
                <a:latin typeface="Inter"/>
              </a:rPr>
              <a:t>Broadridge ETF</a:t>
            </a:r>
          </a:p>
          <a:p>
            <a:pPr algn="l"/>
            <a:r>
              <a:rPr sz="800" b="0" i="0">
                <a:solidFill>
                  <a:srgbClr val="9CA3AF"/>
                </a:solidFill>
                <a:latin typeface="Inter"/>
              </a:rPr>
              <a:t>total_etf_assets = $180M</a:t>
            </a:r>
          </a:p>
        </p:txBody>
      </p:sp>
      <p:sp>
        <p:nvSpPr>
          <p:cNvPr id="30" name="TextBox 29"/>
          <p:cNvSpPr txBox="1"/>
          <p:nvPr/>
        </p:nvSpPr>
        <p:spPr>
          <a:xfrm>
            <a:off x="8741664" y="3995928"/>
            <a:ext cx="457200" cy="365760"/>
          </a:xfrm>
          <a:prstGeom prst="rect">
            <a:avLst/>
          </a:prstGeom>
          <a:noFill/>
        </p:spPr>
        <p:txBody>
          <a:bodyPr wrap="square" lIns="0" tIns="0" rIns="0" bIns="0" anchor="t"/>
          <a:lstStyle/>
          <a:p>
            <a:pPr algn="ctr"/>
            <a:r>
              <a:rPr sz="1600" b="1" i="0">
                <a:solidFill>
                  <a:srgbClr val="31C48D"/>
                </a:solidFill>
                <a:latin typeface="Inter"/>
              </a:rPr>
              <a:t>→</a:t>
            </a:r>
          </a:p>
        </p:txBody>
      </p:sp>
      <p:sp>
        <p:nvSpPr>
          <p:cNvPr id="31" name="Rounded Rectangle 30"/>
          <p:cNvSpPr/>
          <p:nvPr/>
        </p:nvSpPr>
        <p:spPr>
          <a:xfrm>
            <a:off x="9217152" y="3739896"/>
            <a:ext cx="2304288" cy="896112"/>
          </a:xfrm>
          <a:prstGeom prst="roundRect">
            <a:avLst>
              <a:gd name="adj" fmla="val 10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363456" y="3867912"/>
            <a:ext cx="2057400" cy="685800"/>
          </a:xfrm>
          <a:prstGeom prst="rect">
            <a:avLst/>
          </a:prstGeom>
          <a:noFill/>
        </p:spPr>
        <p:txBody>
          <a:bodyPr wrap="square" lIns="0" tIns="0" rIns="0" bIns="0" anchor="t"/>
          <a:lstStyle/>
          <a:p>
            <a:pPr algn="l">
              <a:spcAft>
                <a:spcPts val="200"/>
              </a:spcAft>
            </a:pPr>
            <a:r>
              <a:rPr sz="750" b="1" i="0" spc="150">
                <a:solidFill>
                  <a:srgbClr val="31C48D"/>
                </a:solidFill>
                <a:latin typeface="Inter"/>
              </a:rPr>
              <a:t>FIELD ROW</a:t>
            </a:r>
          </a:p>
          <a:p>
            <a:pPr algn="l"/>
            <a:r>
              <a:rPr sz="800" b="0" i="0">
                <a:solidFill>
                  <a:srgbClr val="FFFFFF"/>
                </a:solidFill>
                <a:latin typeface="Inter"/>
              </a:rPr>
              <a:t>total_aum = $180M  ·  vehicle = 'ETF'</a:t>
            </a:r>
          </a:p>
        </p:txBody>
      </p:sp>
      <p:sp>
        <p:nvSpPr>
          <p:cNvPr id="33" name="Rounded Rectangle 32"/>
          <p:cNvSpPr/>
          <p:nvPr/>
        </p:nvSpPr>
        <p:spPr>
          <a:xfrm>
            <a:off x="548640" y="5230368"/>
            <a:ext cx="11091672" cy="960120"/>
          </a:xfrm>
          <a:prstGeom prst="roundRect">
            <a:avLst>
              <a:gd name="adj" fmla="val 6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 y="5394960"/>
            <a:ext cx="10515600" cy="640080"/>
          </a:xfrm>
          <a:prstGeom prst="rect">
            <a:avLst/>
          </a:prstGeom>
          <a:noFill/>
        </p:spPr>
        <p:txBody>
          <a:bodyPr wrap="square" lIns="0" tIns="0" rIns="0" bIns="0" anchor="t"/>
          <a:lstStyle/>
          <a:p>
            <a:pPr algn="l">
              <a:lnSpc>
                <a:spcPct val="125000"/>
              </a:lnSpc>
            </a:pPr>
            <a:r>
              <a:rPr sz="1050" b="1" i="0">
                <a:solidFill>
                  <a:srgbClr val="31C48D"/>
                </a:solidFill>
                <a:latin typeface="Inter"/>
              </a:rPr>
              <a:t>Downstream benefit:  </a:t>
            </a:r>
            <a:r>
              <a:rPr sz="1050" b="0" i="0">
                <a:solidFill>
                  <a:srgbClr val="FFFFFF"/>
                </a:solidFill>
                <a:latin typeface="Inter"/>
              </a:rPr>
              <a:t>any query, any dashboard, any AI tool can ask for “advisor AUM” and get the same field regardless of which pack originated the row. Vehicle scope lives in the data model as a dimension, not encoded in column names.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2</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Entity resolution</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1000" b="0" i="0">
                <a:solidFill>
                  <a:srgbClr val="6B7280"/>
                </a:solidFill>
                <a:latin typeface="Inter"/>
              </a:rPr>
              <a:t>Ingestion</a:t>
            </a:r>
            <a:r>
              <a:rPr sz="950" b="0" i="0">
                <a:solidFill>
                  <a:srgbClr val="6B7280"/>
                </a:solidFill>
                <a:latin typeface="Inter"/>
              </a:rPr>
              <a:t>  →  </a:t>
            </a:r>
            <a:r>
              <a:rPr sz="1000" b="1" i="0">
                <a:solidFill>
                  <a:srgbClr val="31C48D"/>
                </a:solidFill>
                <a:latin typeface="Inter"/>
              </a:rPr>
              <a:t>Normalize</a:t>
            </a:r>
            <a:r>
              <a:rPr sz="950" b="0" i="0">
                <a:solidFill>
                  <a:srgbClr val="6B7280"/>
                </a:solidFill>
                <a:latin typeface="Inter"/>
              </a:rPr>
              <a:t>  →  </a:t>
            </a:r>
            <a:r>
              <a:rPr sz="1000" b="0" i="0">
                <a:solidFill>
                  <a:srgbClr val="6B7280"/>
                </a:solidFill>
                <a:latin typeface="Inter"/>
              </a:rPr>
              <a:t>Synthesize</a:t>
            </a:r>
            <a:r>
              <a:rPr sz="950" b="0" i="0">
                <a:solidFill>
                  <a:srgbClr val="6B7280"/>
                </a:solidFill>
                <a:latin typeface="Inter"/>
              </a:rPr>
              <a:t>  →  </a:t>
            </a:r>
            <a:r>
              <a:rPr sz="1000" b="0" i="0">
                <a:solidFill>
                  <a:srgbClr val="6B7280"/>
                </a:solidFill>
                <a:latin typeface="Inter"/>
              </a:rPr>
              <a:t>Attribute</a:t>
            </a:r>
            <a:r>
              <a:rPr sz="950" b="0" i="0">
                <a:solidFill>
                  <a:srgbClr val="6B7280"/>
                </a:solidFill>
                <a:latin typeface="Inter"/>
              </a:rPr>
              <a:t>  →  </a:t>
            </a:r>
            <a:r>
              <a:rPr sz="1000" b="0" i="0">
                <a:solidFill>
                  <a:srgbClr val="6B7280"/>
                </a:solidFill>
                <a:latin typeface="Inter"/>
              </a:rPr>
              <a:t>Deliver</a:t>
            </a:r>
          </a:p>
        </p:txBody>
      </p:sp>
      <p:sp>
        <p:nvSpPr>
          <p:cNvPr id="6" name="TextBox 5"/>
          <p:cNvSpPr txBox="1"/>
          <p:nvPr/>
        </p:nvSpPr>
        <p:spPr>
          <a:xfrm>
            <a:off x="548640" y="1261872"/>
            <a:ext cx="11064240" cy="640080"/>
          </a:xfrm>
          <a:prstGeom prst="rect">
            <a:avLst/>
          </a:prstGeom>
          <a:noFill/>
        </p:spPr>
        <p:txBody>
          <a:bodyPr wrap="square" lIns="0" tIns="0" rIns="0" bIns="0" anchor="t"/>
          <a:lstStyle/>
          <a:p>
            <a:pPr algn="l">
              <a:lnSpc>
                <a:spcPct val="125000"/>
              </a:lnSpc>
            </a:pPr>
            <a:r>
              <a:rPr sz="1150" b="0" i="0">
                <a:solidFill>
                  <a:srgbClr val="9CA3AF"/>
                </a:solidFill>
                <a:latin typeface="Inter"/>
              </a:rPr>
              <a:t>Every row's identifiers are resolved to Field's unified hierarchy. </a:t>
            </a:r>
            <a:r>
              <a:rPr sz="1150" b="1" i="0">
                <a:solidFill>
                  <a:srgbClr val="FFFFFF"/>
                </a:solidFill>
                <a:latin typeface="Inter"/>
              </a:rPr>
              <a:t>FA CRD</a:t>
            </a:r>
            <a:r>
              <a:rPr sz="1150" b="0" i="0">
                <a:solidFill>
                  <a:srgbClr val="9CA3AF"/>
                </a:solidFill>
                <a:latin typeface="Inter"/>
              </a:rPr>
              <a:t> (via FINRA) as the advisor primary key. </a:t>
            </a:r>
            <a:r>
              <a:rPr sz="1150" b="1" i="0">
                <a:solidFill>
                  <a:srgbClr val="FFFFFF"/>
                </a:solidFill>
                <a:latin typeface="Inter"/>
              </a:rPr>
              <a:t>Firm CRD, IARD, or FDIC</a:t>
            </a:r>
            <a:r>
              <a:rPr sz="1150" b="0" i="0">
                <a:solidFill>
                  <a:srgbClr val="9CA3AF"/>
                </a:solidFill>
                <a:latin typeface="Inter"/>
              </a:rPr>
              <a:t> as the firm identity. </a:t>
            </a:r>
            <a:r>
              <a:rPr sz="1150" b="1" i="0">
                <a:solidFill>
                  <a:srgbClr val="FFFFFF"/>
                </a:solidFill>
                <a:latin typeface="Inter"/>
              </a:rPr>
              <a:t>Office ID</a:t>
            </a:r>
            <a:r>
              <a:rPr sz="1150" b="0" i="0">
                <a:solidFill>
                  <a:srgbClr val="9CA3AF"/>
                </a:solidFill>
                <a:latin typeface="Inter"/>
              </a:rPr>
              <a:t> preserved at pack-native grain until FA attribution in Stage 4.</a:t>
            </a:r>
          </a:p>
        </p:txBody>
      </p:sp>
      <p:sp>
        <p:nvSpPr>
          <p:cNvPr id="7" name="TextBox 6"/>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9</a:t>
            </a:r>
          </a:p>
        </p:txBody>
      </p:sp>
      <p:sp>
        <p:nvSpPr>
          <p:cNvPr id="9" name="TextBox 8"/>
          <p:cNvSpPr txBox="1"/>
          <p:nvPr/>
        </p:nvSpPr>
        <p:spPr>
          <a:xfrm>
            <a:off x="548640" y="2103120"/>
            <a:ext cx="7315200" cy="274320"/>
          </a:xfrm>
          <a:prstGeom prst="rect">
            <a:avLst/>
          </a:prstGeom>
          <a:noFill/>
        </p:spPr>
        <p:txBody>
          <a:bodyPr wrap="square" lIns="0" tIns="0" rIns="0" bIns="0" anchor="t"/>
          <a:lstStyle/>
          <a:p>
            <a:pPr algn="l"/>
            <a:r>
              <a:rPr sz="900" b="1" i="0" spc="200">
                <a:solidFill>
                  <a:srgbClr val="31C48D"/>
                </a:solidFill>
                <a:latin typeface="Inter"/>
              </a:rPr>
              <a:t>FIRM IDENTITY: 3-TIER HIERARCHY</a:t>
            </a:r>
          </a:p>
        </p:txBody>
      </p:sp>
      <p:sp>
        <p:nvSpPr>
          <p:cNvPr id="10" name="Rounded Rectangle 9"/>
          <p:cNvSpPr/>
          <p:nvPr/>
        </p:nvSpPr>
        <p:spPr>
          <a:xfrm>
            <a:off x="548640" y="2450592"/>
            <a:ext cx="11091672" cy="969264"/>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04672" y="2578608"/>
            <a:ext cx="2651760" cy="731520"/>
          </a:xfrm>
          <a:prstGeom prst="rect">
            <a:avLst/>
          </a:prstGeom>
          <a:noFill/>
        </p:spPr>
        <p:txBody>
          <a:bodyPr wrap="square" lIns="0" tIns="0" rIns="0" bIns="0" anchor="t"/>
          <a:lstStyle/>
          <a:p>
            <a:pPr algn="l"/>
            <a:r>
              <a:rPr sz="1100" b="1" i="0">
                <a:solidFill>
                  <a:srgbClr val="FFFFFF"/>
                </a:solidFill>
                <a:latin typeface="Inter"/>
              </a:rPr>
              <a:t>Tier 1 · Pack-native</a:t>
            </a:r>
          </a:p>
        </p:txBody>
      </p:sp>
      <p:sp>
        <p:nvSpPr>
          <p:cNvPr id="12" name="TextBox 11"/>
          <p:cNvSpPr txBox="1"/>
          <p:nvPr/>
        </p:nvSpPr>
        <p:spPr>
          <a:xfrm>
            <a:off x="3566160" y="2578608"/>
            <a:ext cx="7863840" cy="731520"/>
          </a:xfrm>
          <a:prstGeom prst="rect">
            <a:avLst/>
          </a:prstGeom>
          <a:noFill/>
        </p:spPr>
        <p:txBody>
          <a:bodyPr wrap="square" lIns="0" tIns="0" rIns="0" bIns="0" anchor="t"/>
          <a:lstStyle/>
          <a:p>
            <a:pPr algn="l">
              <a:spcAft>
                <a:spcPts val="200"/>
              </a:spcAft>
            </a:pPr>
            <a:r>
              <a:rPr sz="1000" b="1" i="0">
                <a:solidFill>
                  <a:srgbClr val="31C48D"/>
                </a:solidFill>
                <a:latin typeface="Inter"/>
              </a:rPr>
              <a:t>source_firm_id</a:t>
            </a:r>
          </a:p>
          <a:p>
            <a:pPr algn="l">
              <a:lnSpc>
                <a:spcPct val="115000"/>
              </a:lnSpc>
            </a:pPr>
            <a:r>
              <a:rPr sz="1000" b="0" i="0">
                <a:solidFill>
                  <a:srgbClr val="9CA3AF"/>
                </a:solidFill>
                <a:latin typeface="Inter"/>
              </a:rPr>
              <a:t>SS&amp;C's proprietary 21-char Universal Dealer code, Broadridge's SalesVision internal ID.</a:t>
            </a:r>
          </a:p>
        </p:txBody>
      </p:sp>
      <p:sp>
        <p:nvSpPr>
          <p:cNvPr id="13" name="Rounded Rectangle 12"/>
          <p:cNvSpPr/>
          <p:nvPr/>
        </p:nvSpPr>
        <p:spPr>
          <a:xfrm>
            <a:off x="548640" y="3566160"/>
            <a:ext cx="11091672" cy="969264"/>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3694176"/>
            <a:ext cx="2651760" cy="731520"/>
          </a:xfrm>
          <a:prstGeom prst="rect">
            <a:avLst/>
          </a:prstGeom>
          <a:noFill/>
        </p:spPr>
        <p:txBody>
          <a:bodyPr wrap="square" lIns="0" tIns="0" rIns="0" bIns="0" anchor="t"/>
          <a:lstStyle/>
          <a:p>
            <a:pPr algn="l"/>
            <a:r>
              <a:rPr sz="1100" b="1" i="0">
                <a:solidFill>
                  <a:srgbClr val="FFFFFF"/>
                </a:solidFill>
                <a:latin typeface="Inter"/>
              </a:rPr>
              <a:t>Tier 2 · Client-internal</a:t>
            </a:r>
          </a:p>
        </p:txBody>
      </p:sp>
      <p:sp>
        <p:nvSpPr>
          <p:cNvPr id="15" name="TextBox 14"/>
          <p:cNvSpPr txBox="1"/>
          <p:nvPr/>
        </p:nvSpPr>
        <p:spPr>
          <a:xfrm>
            <a:off x="3566160" y="3694176"/>
            <a:ext cx="7863840" cy="731520"/>
          </a:xfrm>
          <a:prstGeom prst="rect">
            <a:avLst/>
          </a:prstGeom>
          <a:noFill/>
        </p:spPr>
        <p:txBody>
          <a:bodyPr wrap="square" lIns="0" tIns="0" rIns="0" bIns="0" anchor="t"/>
          <a:lstStyle/>
          <a:p>
            <a:pPr algn="l">
              <a:spcAft>
                <a:spcPts val="200"/>
              </a:spcAft>
            </a:pPr>
            <a:r>
              <a:rPr sz="1000" b="1" i="0">
                <a:solidFill>
                  <a:srgbClr val="31C48D"/>
                </a:solidFill>
                <a:latin typeface="Inter"/>
              </a:rPr>
              <a:t>extl_client_firm_id</a:t>
            </a:r>
          </a:p>
          <a:p>
            <a:pPr algn="l">
              <a:lnSpc>
                <a:spcPct val="115000"/>
              </a:lnSpc>
            </a:pPr>
            <a:r>
              <a:rPr sz="1000" b="0" i="0">
                <a:solidFill>
                  <a:srgbClr val="9CA3AF"/>
                </a:solidFill>
                <a:latin typeface="Inter"/>
              </a:rPr>
              <a:t>Your CRM's own firm code. Most clients already maintain a firm-level dealer code or CRD mapping here.</a:t>
            </a:r>
          </a:p>
        </p:txBody>
      </p:sp>
      <p:sp>
        <p:nvSpPr>
          <p:cNvPr id="16" name="Rounded Rectangle 15"/>
          <p:cNvSpPr/>
          <p:nvPr/>
        </p:nvSpPr>
        <p:spPr>
          <a:xfrm>
            <a:off x="548640" y="4681728"/>
            <a:ext cx="11091672" cy="969264"/>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 y="4809744"/>
            <a:ext cx="2651760" cy="731520"/>
          </a:xfrm>
          <a:prstGeom prst="rect">
            <a:avLst/>
          </a:prstGeom>
          <a:noFill/>
        </p:spPr>
        <p:txBody>
          <a:bodyPr wrap="square" lIns="0" tIns="0" rIns="0" bIns="0" anchor="t"/>
          <a:lstStyle/>
          <a:p>
            <a:pPr algn="l"/>
            <a:r>
              <a:rPr sz="1100" b="1" i="0">
                <a:solidFill>
                  <a:srgbClr val="FFFFFF"/>
                </a:solidFill>
                <a:latin typeface="Inter"/>
              </a:rPr>
              <a:t>Tier 3 · Industry-standard</a:t>
            </a:r>
          </a:p>
        </p:txBody>
      </p:sp>
      <p:sp>
        <p:nvSpPr>
          <p:cNvPr id="18" name="TextBox 17"/>
          <p:cNvSpPr txBox="1"/>
          <p:nvPr/>
        </p:nvSpPr>
        <p:spPr>
          <a:xfrm>
            <a:off x="3566160" y="4809744"/>
            <a:ext cx="7863840" cy="731520"/>
          </a:xfrm>
          <a:prstGeom prst="rect">
            <a:avLst/>
          </a:prstGeom>
          <a:noFill/>
        </p:spPr>
        <p:txBody>
          <a:bodyPr wrap="square" lIns="0" tIns="0" rIns="0" bIns="0" anchor="t"/>
          <a:lstStyle/>
          <a:p>
            <a:pPr algn="l">
              <a:spcAft>
                <a:spcPts val="200"/>
              </a:spcAft>
            </a:pPr>
            <a:r>
              <a:rPr sz="1000" b="1" i="0">
                <a:solidFill>
                  <a:srgbClr val="31C48D"/>
                </a:solidFill>
                <a:latin typeface="Inter"/>
              </a:rPr>
              <a:t>firm_crd (BD) · firm_iard (RIA) · firm_fdic_id (Bank)</a:t>
            </a:r>
          </a:p>
          <a:p>
            <a:pPr algn="l">
              <a:lnSpc>
                <a:spcPct val="115000"/>
              </a:lnSpc>
            </a:pPr>
            <a:r>
              <a:rPr sz="1000" b="0" i="0">
                <a:solidFill>
                  <a:srgbClr val="9CA3AF"/>
                </a:solidFill>
                <a:latin typeface="Inter"/>
              </a:rPr>
              <a:t>Tier 2 resolves cleanly to Tier 3 via the ADV / FINRA join. Where a client has no mapping, Field runs a matching algorithm against the FINRA broker registry to establish the Tier 3 link.</a:t>
            </a:r>
          </a:p>
        </p:txBody>
      </p:sp>
      <p:sp>
        <p:nvSpPr>
          <p:cNvPr id="19" name="Rounded Rectangle 18"/>
          <p:cNvSpPr/>
          <p:nvPr/>
        </p:nvSpPr>
        <p:spPr>
          <a:xfrm>
            <a:off x="548640" y="5852160"/>
            <a:ext cx="11091672" cy="566928"/>
          </a:xfrm>
          <a:prstGeom prst="roundRect">
            <a:avLst>
              <a:gd name="adj" fmla="val 10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2960" y="5961888"/>
            <a:ext cx="10515600" cy="384048"/>
          </a:xfrm>
          <a:prstGeom prst="rect">
            <a:avLst/>
          </a:prstGeom>
          <a:noFill/>
        </p:spPr>
        <p:txBody>
          <a:bodyPr wrap="square" lIns="0" tIns="0" rIns="0" bIns="0" anchor="t"/>
          <a:lstStyle/>
          <a:p>
            <a:pPr algn="l"/>
            <a:r>
              <a:rPr sz="1000" b="1" i="0">
                <a:solidFill>
                  <a:srgbClr val="31C48D"/>
                </a:solidFill>
                <a:latin typeface="Inter"/>
              </a:rPr>
              <a:t>Advisor identity:  </a:t>
            </a:r>
            <a:r>
              <a:rPr sz="1000" b="0" i="0">
                <a:solidFill>
                  <a:srgbClr val="FFFFFF"/>
                </a:solidFill>
                <a:latin typeface="Inter"/>
              </a:rPr>
              <a:t>FA CRD via FINRA BrokerCheck is the advisor primary key on every row, across every pack.</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rIns="0" tIns="0" bIns="0" anchor="t"/>
          <a:lstStyle/>
          <a:p>
            <a:pPr algn="l"/>
            <a:r>
              <a:rPr sz="1000" b="1" i="0" spc="220">
                <a:solidFill>
                  <a:srgbClr val="31C48D"/>
                </a:solidFill>
                <a:latin typeface="Inter"/>
              </a:rPr>
              <a:t>STAGE 3</a:t>
            </a:r>
          </a:p>
        </p:txBody>
      </p:sp>
      <p:sp>
        <p:nvSpPr>
          <p:cNvPr id="4" name="TextBox 3"/>
          <p:cNvSpPr txBox="1"/>
          <p:nvPr/>
        </p:nvSpPr>
        <p:spPr>
          <a:xfrm>
            <a:off x="548640" y="658368"/>
            <a:ext cx="8778240" cy="566928"/>
          </a:xfrm>
          <a:prstGeom prst="rect">
            <a:avLst/>
          </a:prstGeom>
          <a:noFill/>
        </p:spPr>
        <p:txBody>
          <a:bodyPr wrap="square" lIns="0" rIns="0" tIns="0" bIns="0" anchor="t"/>
          <a:lstStyle/>
          <a:p>
            <a:pPr algn="l"/>
            <a:r>
              <a:rPr sz="2700" b="1" i="0">
                <a:solidFill>
                  <a:srgbClr val="FFFFFF"/>
                </a:solidFill>
                <a:latin typeface="Inter"/>
              </a:rPr>
              <a:t>Synthesize: Best Piece Logic</a:t>
            </a:r>
          </a:p>
        </p:txBody>
      </p:sp>
      <p:sp>
        <p:nvSpPr>
          <p:cNvPr id="5" name="TextBox 4"/>
          <p:cNvSpPr txBox="1"/>
          <p:nvPr/>
        </p:nvSpPr>
        <p:spPr>
          <a:xfrm>
            <a:off x="6766560" y="429768"/>
            <a:ext cx="4892040" cy="274320"/>
          </a:xfrm>
          <a:prstGeom prst="rect">
            <a:avLst/>
          </a:prstGeom>
          <a:noFill/>
        </p:spPr>
        <p:txBody>
          <a:bodyPr wrap="square" lIns="0" rIns="0" tIns="0" bIns="0" anchor="t"/>
          <a:lstStyle/>
          <a:p>
            <a:pPr algn="r"/>
            <a:r>
              <a:rPr sz="950" b="0" i="0">
                <a:solidFill>
                  <a:srgbClr val="6B7280"/>
                </a:solidFill>
                <a:latin typeface="Inter"/>
              </a:rPr>
              <a:t>Ingestion</a:t>
            </a:r>
            <a:r>
              <a:rPr sz="900" b="0" i="0">
                <a:solidFill>
                  <a:srgbClr val="6B7280"/>
                </a:solidFill>
                <a:latin typeface="Inter"/>
              </a:rPr>
              <a:t>  →  </a:t>
            </a:r>
            <a:r>
              <a:rPr sz="950" b="0" i="0">
                <a:solidFill>
                  <a:srgbClr val="6B7280"/>
                </a:solidFill>
                <a:latin typeface="Inter"/>
              </a:rPr>
              <a:t>Normalize</a:t>
            </a:r>
            <a:r>
              <a:rPr sz="900" b="0" i="0">
                <a:solidFill>
                  <a:srgbClr val="6B7280"/>
                </a:solidFill>
                <a:latin typeface="Inter"/>
              </a:rPr>
              <a:t>  →  </a:t>
            </a:r>
            <a:r>
              <a:rPr sz="950" b="1" i="0">
                <a:solidFill>
                  <a:srgbClr val="31C48D"/>
                </a:solidFill>
                <a:latin typeface="Inter"/>
              </a:rPr>
              <a:t>Synthesize</a:t>
            </a:r>
            <a:r>
              <a:rPr sz="900" b="0" i="0">
                <a:solidFill>
                  <a:srgbClr val="6B7280"/>
                </a:solidFill>
                <a:latin typeface="Inter"/>
              </a:rPr>
              <a:t>  →  </a:t>
            </a:r>
            <a:r>
              <a:rPr sz="950" b="0" i="0">
                <a:solidFill>
                  <a:srgbClr val="6B7280"/>
                </a:solidFill>
                <a:latin typeface="Inter"/>
              </a:rPr>
              <a:t>Attribute</a:t>
            </a:r>
            <a:r>
              <a:rPr sz="900" b="0" i="0">
                <a:solidFill>
                  <a:srgbClr val="6B7280"/>
                </a:solidFill>
                <a:latin typeface="Inter"/>
              </a:rPr>
              <a:t>  →  </a:t>
            </a:r>
            <a:r>
              <a:rPr sz="950" b="0" i="0">
                <a:solidFill>
                  <a:srgbClr val="6B7280"/>
                </a:solidFill>
                <a:latin typeface="Inter"/>
              </a:rPr>
              <a:t>Deliver</a:t>
            </a:r>
          </a:p>
        </p:txBody>
      </p:sp>
      <p:sp>
        <p:nvSpPr>
          <p:cNvPr id="7" name="TextBox 6"/>
          <p:cNvSpPr txBox="1"/>
          <p:nvPr/>
        </p:nvSpPr>
        <p:spPr>
          <a:xfrm>
            <a:off x="548640" y="6510528"/>
            <a:ext cx="5486400" cy="228600"/>
          </a:xfrm>
          <a:prstGeom prst="rect">
            <a:avLst/>
          </a:prstGeom>
          <a:noFill/>
        </p:spPr>
        <p:txBody>
          <a:bodyPr wrap="square" lIns="0" rIns="0" t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rIns="0" tIns="0" bIns="0" anchor="t"/>
          <a:lstStyle/>
          <a:p>
            <a:pPr algn="r"/>
            <a:r>
              <a:rPr sz="800" b="0" i="0">
                <a:solidFill>
                  <a:srgbClr val="6B7280"/>
                </a:solidFill>
                <a:latin typeface="Inter"/>
              </a:rPr>
              <a:t>10</a:t>
            </a:r>
          </a:p>
        </p:txBody>
      </p:sp>
      <p:sp>
        <p:nvSpPr>
          <p:cNvPr id="19" name="TextBox 18"/>
          <p:cNvSpPr txBox="1"/>
          <p:nvPr/>
        </p:nvSpPr>
        <p:spPr>
          <a:xfrm>
            <a:off x="548640" y="1261872"/>
            <a:ext cx="11064240" cy="960120"/>
          </a:xfrm>
          <a:prstGeom prst="rect">
            <a:avLst/>
          </a:prstGeom>
          <a:noFill/>
        </p:spPr>
        <p:txBody>
          <a:bodyPr wrap="square" lIns="0" rIns="0" tIns="0" bIns="0" anchor="t"/>
          <a:lstStyle/>
          <a:p>
            <a:pPr algn="l">
              <a:lnSpc>
                <a:spcPct val="125000"/>
              </a:lnSpc>
            </a:pPr>
            <a:r>
              <a:rPr sz="1150" b="1" i="0">
                <a:solidFill>
                  <a:srgbClr val="FFFFFF"/>
                </a:solidFill>
                <a:latin typeface="Inter"/>
              </a:rPr>
              <a:t>Best Piece</a:t>
            </a:r>
            <a:r>
              <a:rPr sz="1150" b="0" i="0">
                <a:solidFill>
                  <a:srgbClr val="9CA3AF"/>
                </a:solidFill>
                <a:latin typeface="Inter"/>
              </a:rPr>
              <a:t> is the governed logic that turns overlapping, complementary packs into one authoritative row. When multiple packs cover the same advisor, or fill different vehicle slots, this hierarchy decides which value flows through. </a:t>
            </a:r>
            <a:r>
              <a:rPr sz="1150" b="1" i="0">
                <a:solidFill>
                  <a:srgbClr val="FFFFFF"/>
                </a:solidFill>
                <a:latin typeface="Inter"/>
              </a:rPr>
              <a:t>Higher tiers win.</a:t>
            </a:r>
          </a:p>
        </p:txBody>
      </p:sp>
      <p:sp>
        <p:nvSpPr>
          <p:cNvPr id="20" name="Rounded Rectangle 19"/>
          <p:cNvSpPr/>
          <p:nvPr/>
        </p:nvSpPr>
        <p:spPr>
          <a:xfrm>
            <a:off x="1645919" y="2240280"/>
            <a:ext cx="5120640" cy="1261872"/>
          </a:xfrm>
          <a:prstGeom prst="roundRect">
            <a:avLst>
              <a:gd name="adj" fmla="val 7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83079" y="2240280"/>
            <a:ext cx="4846320" cy="1261872"/>
          </a:xfrm>
          <a:prstGeom prst="rect">
            <a:avLst/>
          </a:prstGeom>
          <a:noFill/>
        </p:spPr>
        <p:txBody>
          <a:bodyPr wrap="square" lIns="0" rIns="0" tIns="0" bIns="0" anchor="ctr"/>
          <a:lstStyle/>
          <a:p>
            <a:pPr algn="ctr">
              <a:spcAft>
                <a:spcPts val="400"/>
              </a:spcAft>
            </a:pPr>
            <a:r>
              <a:rPr sz="850" b="1" i="0" spc="160">
                <a:solidFill>
                  <a:srgbClr val="31C48D"/>
                </a:solidFill>
                <a:latin typeface="Inter"/>
              </a:rPr>
              <a:t>TIER 1 · FA-NATIVE, DIRECT FROM FIRM</a:t>
            </a:r>
          </a:p>
          <a:p>
            <a:pPr algn="ctr">
              <a:spcAft>
                <a:spcPts val="400"/>
              </a:spcAft>
            </a:pPr>
            <a:r>
              <a:rPr sz="1500" b="1" i="0">
                <a:solidFill>
                  <a:srgbClr val="FFFFFF"/>
                </a:solidFill>
                <a:latin typeface="Inter"/>
              </a:rPr>
              <a:t>MS · LPL · UBS</a:t>
            </a:r>
          </a:p>
          <a:p>
            <a:pPr algn="ctr"/>
            <a:r>
              <a:rPr sz="1050" b="0" i="0">
                <a:solidFill>
                  <a:srgbClr val="9CA3AF"/>
                </a:solidFill>
                <a:latin typeface="Inter"/>
              </a:rPr>
              <a:t>Sourced directly from the BD/IBD firm, native FA grain</a:t>
            </a:r>
          </a:p>
        </p:txBody>
      </p:sp>
      <p:sp>
        <p:nvSpPr>
          <p:cNvPr id="22" name="Rounded Rectangle 21"/>
          <p:cNvSpPr/>
          <p:nvPr/>
        </p:nvSpPr>
        <p:spPr>
          <a:xfrm>
            <a:off x="1097279" y="3611880"/>
            <a:ext cx="6217920" cy="1261872"/>
          </a:xfrm>
          <a:prstGeom prst="roundRect">
            <a:avLst>
              <a:gd name="adj" fmla="val 7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234439" y="3611880"/>
            <a:ext cx="5943600" cy="1261872"/>
          </a:xfrm>
          <a:prstGeom prst="rect">
            <a:avLst/>
          </a:prstGeom>
          <a:noFill/>
        </p:spPr>
        <p:txBody>
          <a:bodyPr wrap="square" lIns="0" rIns="0" tIns="0" bIns="0" anchor="ctr"/>
          <a:lstStyle/>
          <a:p>
            <a:pPr algn="ctr">
              <a:spcAft>
                <a:spcPts val="400"/>
              </a:spcAft>
            </a:pPr>
            <a:r>
              <a:rPr sz="850" b="1" i="0" spc="160">
                <a:solidFill>
                  <a:srgbClr val="31C48D"/>
                </a:solidFill>
                <a:latin typeface="Inter"/>
              </a:rPr>
              <a:t>TIER 2 · CONSORTIUM FA / TEAM GRAIN</a:t>
            </a:r>
          </a:p>
          <a:p>
            <a:pPr algn="ctr">
              <a:spcAft>
                <a:spcPts val="400"/>
              </a:spcAft>
            </a:pPr>
            <a:r>
              <a:rPr sz="1500" b="1" i="0">
                <a:solidFill>
                  <a:srgbClr val="FFFFFF"/>
                </a:solidFill>
                <a:latin typeface="Inter"/>
              </a:rPr>
              <a:t>SS&amp;C Advisor · SS&amp;C Teams</a:t>
            </a:r>
          </a:p>
          <a:p>
            <a:pPr algn="ctr"/>
            <a:r>
              <a:rPr sz="1050" b="0" i="0">
                <a:solidFill>
                  <a:srgbClr val="9CA3AF"/>
                </a:solidFill>
                <a:latin typeface="Inter"/>
              </a:rPr>
              <a:t>Consortium-sourced, not direct from firm</a:t>
            </a:r>
          </a:p>
        </p:txBody>
      </p:sp>
      <p:sp>
        <p:nvSpPr>
          <p:cNvPr id="24" name="Rounded Rectangle 23"/>
          <p:cNvSpPr/>
          <p:nvPr/>
        </p:nvSpPr>
        <p:spPr>
          <a:xfrm>
            <a:off x="548639" y="4983480"/>
            <a:ext cx="7315200" cy="1261872"/>
          </a:xfrm>
          <a:prstGeom prst="roundRect">
            <a:avLst>
              <a:gd name="adj" fmla="val 7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799" y="4983480"/>
            <a:ext cx="7040880" cy="1261872"/>
          </a:xfrm>
          <a:prstGeom prst="rect">
            <a:avLst/>
          </a:prstGeom>
          <a:noFill/>
        </p:spPr>
        <p:txBody>
          <a:bodyPr wrap="square" lIns="0" rIns="0" tIns="0" bIns="0" anchor="ctr"/>
          <a:lstStyle/>
          <a:p>
            <a:pPr algn="ctr">
              <a:spcAft>
                <a:spcPts val="400"/>
              </a:spcAft>
            </a:pPr>
            <a:r>
              <a:rPr sz="850" b="1" i="0" spc="160">
                <a:solidFill>
                  <a:srgbClr val="31C48D"/>
                </a:solidFill>
                <a:latin typeface="Inter"/>
              </a:rPr>
              <a:t>TIER 3 · OFFICE GRAIN (ATTRIBUTION REQUIRED)</a:t>
            </a:r>
          </a:p>
          <a:p>
            <a:pPr algn="ctr">
              <a:spcAft>
                <a:spcPts val="400"/>
              </a:spcAft>
            </a:pPr>
            <a:r>
              <a:rPr sz="1500" b="1" i="0">
                <a:solidFill>
                  <a:srgbClr val="FFFFFF"/>
                </a:solidFill>
                <a:latin typeface="Inter"/>
              </a:rPr>
              <a:t>SS&amp;C Office · Broadridge ETF</a:t>
            </a:r>
          </a:p>
          <a:p>
            <a:pPr algn="ctr"/>
            <a:r>
              <a:rPr sz="1050" b="0" i="0">
                <a:solidFill>
                  <a:srgbClr val="9CA3AF"/>
                </a:solidFill>
                <a:latin typeface="Inter"/>
              </a:rPr>
              <a:t>Coarser grain, allocated down to FA in Stage 4</a:t>
            </a:r>
          </a:p>
        </p:txBody>
      </p:sp>
      <p:sp>
        <p:nvSpPr>
          <p:cNvPr id="26" name="TextBox 25"/>
          <p:cNvSpPr txBox="1"/>
          <p:nvPr/>
        </p:nvSpPr>
        <p:spPr>
          <a:xfrm>
            <a:off x="8229600" y="2240280"/>
            <a:ext cx="3410712" cy="1261872"/>
          </a:xfrm>
          <a:prstGeom prst="rect">
            <a:avLst/>
          </a:prstGeom>
          <a:noFill/>
        </p:spPr>
        <p:txBody>
          <a:bodyPr wrap="square" lIns="0" rIns="0" tIns="0" bIns="0" anchor="ctr"/>
          <a:lstStyle/>
          <a:p>
            <a:pPr algn="l">
              <a:spcAft>
                <a:spcPts val="400"/>
              </a:spcAft>
            </a:pPr>
            <a:r>
              <a:rPr sz="1150" b="1" i="0">
                <a:solidFill>
                  <a:srgbClr val="31C48D"/>
                </a:solidFill>
                <a:latin typeface="Inter"/>
              </a:rPr>
              <a:t>Tier 1 rationale</a:t>
            </a:r>
          </a:p>
          <a:p>
            <a:pPr algn="l">
              <a:lnSpc>
                <a:spcPct val="122000"/>
              </a:lnSpc>
            </a:pPr>
            <a:r>
              <a:rPr sz="1000" b="0" i="0">
                <a:solidFill>
                  <a:srgbClr val="9CA3AF"/>
                </a:solidFill>
                <a:latin typeface="Inter"/>
              </a:rPr>
              <a:t>BD-direct data sourced straight from the firm. Native FA grain, monthly (or quarterly for LPL) cadence, category detail where available. Highest fidelity. Best Piece defaults to Tier 1 wherever it covers the advisor.</a:t>
            </a:r>
          </a:p>
        </p:txBody>
      </p:sp>
      <p:sp>
        <p:nvSpPr>
          <p:cNvPr id="27" name="TextBox 26"/>
          <p:cNvSpPr txBox="1"/>
          <p:nvPr/>
        </p:nvSpPr>
        <p:spPr>
          <a:xfrm>
            <a:off x="8229600" y="3611880"/>
            <a:ext cx="3410712" cy="1261872"/>
          </a:xfrm>
          <a:prstGeom prst="rect">
            <a:avLst/>
          </a:prstGeom>
          <a:noFill/>
        </p:spPr>
        <p:txBody>
          <a:bodyPr wrap="square" lIns="0" rIns="0" tIns="0" bIns="0" anchor="ctr"/>
          <a:lstStyle/>
          <a:p>
            <a:pPr algn="l">
              <a:spcAft>
                <a:spcPts val="400"/>
              </a:spcAft>
            </a:pPr>
            <a:r>
              <a:rPr sz="1150" b="1" i="0">
                <a:solidFill>
                  <a:srgbClr val="31C48D"/>
                </a:solidFill>
                <a:latin typeface="Inter"/>
              </a:rPr>
              <a:t>Tier 2 rationale</a:t>
            </a:r>
          </a:p>
          <a:p>
            <a:pPr algn="l">
              <a:lnSpc>
                <a:spcPct val="122000"/>
              </a:lnSpc>
            </a:pPr>
            <a:r>
              <a:rPr sz="1000" b="0" i="0">
                <a:solidFill>
                  <a:srgbClr val="9CA3AF"/>
                </a:solidFill>
                <a:latin typeface="Inter"/>
              </a:rPr>
              <a:t>Consortium-based aggregators. FA or team grain, but not sourced directly from the firm. Higher quality than office-grain aggregators but subject to consortium coverage gaps. Used when Tier 1 does not cover the advisor.</a:t>
            </a:r>
          </a:p>
        </p:txBody>
      </p:sp>
      <p:sp>
        <p:nvSpPr>
          <p:cNvPr id="28" name="TextBox 27"/>
          <p:cNvSpPr txBox="1"/>
          <p:nvPr/>
        </p:nvSpPr>
        <p:spPr>
          <a:xfrm>
            <a:off x="8229600" y="4983480"/>
            <a:ext cx="3410712" cy="1261872"/>
          </a:xfrm>
          <a:prstGeom prst="rect">
            <a:avLst/>
          </a:prstGeom>
          <a:noFill/>
        </p:spPr>
        <p:txBody>
          <a:bodyPr wrap="square" lIns="0" rIns="0" tIns="0" bIns="0" anchor="ctr"/>
          <a:lstStyle/>
          <a:p>
            <a:pPr algn="l">
              <a:spcAft>
                <a:spcPts val="400"/>
              </a:spcAft>
            </a:pPr>
            <a:r>
              <a:rPr sz="1150" b="1" i="0">
                <a:solidFill>
                  <a:srgbClr val="31C48D"/>
                </a:solidFill>
                <a:latin typeface="Inter"/>
              </a:rPr>
              <a:t>Tier 3 rationale</a:t>
            </a:r>
          </a:p>
          <a:p>
            <a:pPr algn="l">
              <a:lnSpc>
                <a:spcPct val="122000"/>
              </a:lnSpc>
            </a:pPr>
            <a:r>
              <a:rPr sz="1000" b="0" i="0">
                <a:solidFill>
                  <a:srgbClr val="9CA3AF"/>
                </a:solidFill>
                <a:latin typeface="Inter"/>
              </a:rPr>
              <a:t>Office-grain aggregators. FA Attribution (Stage 4) allocates office totals down to individual advisors using ML-profiled signals. Used for vehicles or scopes Tiers 1 and 2 do not cover.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rIns="0" tIns="0" bIns="0" anchor="t"/>
          <a:lstStyle/>
          <a:p>
            <a:pPr algn="l"/>
            <a:r>
              <a:rPr sz="1000" b="1" i="0" spc="220">
                <a:solidFill>
                  <a:srgbClr val="31C48D"/>
                </a:solidFill>
                <a:latin typeface="Inter"/>
              </a:rPr>
              <a:t>STAGE 3</a:t>
            </a:r>
          </a:p>
        </p:txBody>
      </p:sp>
      <p:sp>
        <p:nvSpPr>
          <p:cNvPr id="4" name="TextBox 3"/>
          <p:cNvSpPr txBox="1"/>
          <p:nvPr/>
        </p:nvSpPr>
        <p:spPr>
          <a:xfrm>
            <a:off x="548640" y="658368"/>
            <a:ext cx="8778240" cy="566928"/>
          </a:xfrm>
          <a:prstGeom prst="rect">
            <a:avLst/>
          </a:prstGeom>
          <a:noFill/>
        </p:spPr>
        <p:txBody>
          <a:bodyPr wrap="square" lIns="0" rIns="0" tIns="0" bIns="0" anchor="t"/>
          <a:lstStyle/>
          <a:p>
            <a:pPr algn="l"/>
            <a:r>
              <a:rPr sz="2700" b="1" i="0">
                <a:solidFill>
                  <a:srgbClr val="FFFFFF"/>
                </a:solidFill>
                <a:latin typeface="Inter"/>
              </a:rPr>
              <a:t>Best Piece in Practice</a:t>
            </a:r>
          </a:p>
        </p:txBody>
      </p:sp>
      <p:sp>
        <p:nvSpPr>
          <p:cNvPr id="5" name="TextBox 4"/>
          <p:cNvSpPr txBox="1"/>
          <p:nvPr/>
        </p:nvSpPr>
        <p:spPr>
          <a:xfrm>
            <a:off x="6766560" y="429768"/>
            <a:ext cx="4892040" cy="274320"/>
          </a:xfrm>
          <a:prstGeom prst="rect">
            <a:avLst/>
          </a:prstGeom>
          <a:noFill/>
        </p:spPr>
        <p:txBody>
          <a:bodyPr wrap="square" lIns="0" rIns="0" tIns="0" bIns="0" anchor="t"/>
          <a:lstStyle/>
          <a:p>
            <a:pPr algn="r"/>
            <a:r>
              <a:rPr sz="950" b="0" i="0">
                <a:solidFill>
                  <a:srgbClr val="6B7280"/>
                </a:solidFill>
                <a:latin typeface="Inter"/>
              </a:rPr>
              <a:t>Ingestion</a:t>
            </a:r>
            <a:r>
              <a:rPr sz="900" b="0" i="0">
                <a:solidFill>
                  <a:srgbClr val="6B7280"/>
                </a:solidFill>
                <a:latin typeface="Inter"/>
              </a:rPr>
              <a:t>  →  </a:t>
            </a:r>
            <a:r>
              <a:rPr sz="950" b="0" i="0">
                <a:solidFill>
                  <a:srgbClr val="6B7280"/>
                </a:solidFill>
                <a:latin typeface="Inter"/>
              </a:rPr>
              <a:t>Normalize</a:t>
            </a:r>
            <a:r>
              <a:rPr sz="900" b="0" i="0">
                <a:solidFill>
                  <a:srgbClr val="6B7280"/>
                </a:solidFill>
                <a:latin typeface="Inter"/>
              </a:rPr>
              <a:t>  →  </a:t>
            </a:r>
            <a:r>
              <a:rPr sz="950" b="1" i="0">
                <a:solidFill>
                  <a:srgbClr val="31C48D"/>
                </a:solidFill>
                <a:latin typeface="Inter"/>
              </a:rPr>
              <a:t>Synthesize</a:t>
            </a:r>
            <a:r>
              <a:rPr sz="900" b="0" i="0">
                <a:solidFill>
                  <a:srgbClr val="6B7280"/>
                </a:solidFill>
                <a:latin typeface="Inter"/>
              </a:rPr>
              <a:t>  →  </a:t>
            </a:r>
            <a:r>
              <a:rPr sz="950" b="0" i="0">
                <a:solidFill>
                  <a:srgbClr val="6B7280"/>
                </a:solidFill>
                <a:latin typeface="Inter"/>
              </a:rPr>
              <a:t>Attribute</a:t>
            </a:r>
            <a:r>
              <a:rPr sz="900" b="0" i="0">
                <a:solidFill>
                  <a:srgbClr val="6B7280"/>
                </a:solidFill>
                <a:latin typeface="Inter"/>
              </a:rPr>
              <a:t>  →  </a:t>
            </a:r>
            <a:r>
              <a:rPr sz="950" b="0" i="0">
                <a:solidFill>
                  <a:srgbClr val="6B7280"/>
                </a:solidFill>
                <a:latin typeface="Inter"/>
              </a:rPr>
              <a:t>Deliver</a:t>
            </a:r>
          </a:p>
        </p:txBody>
      </p:sp>
      <p:sp>
        <p:nvSpPr>
          <p:cNvPr id="6" name="TextBox 5"/>
          <p:cNvSpPr txBox="1"/>
          <p:nvPr/>
        </p:nvSpPr>
        <p:spPr>
          <a:xfrm>
            <a:off x="548640" y="1261872"/>
            <a:ext cx="11064240" cy="658368"/>
          </a:xfrm>
          <a:prstGeom prst="rect">
            <a:avLst/>
          </a:prstGeom>
          <a:noFill/>
        </p:spPr>
        <p:txBody>
          <a:bodyPr wrap="square" lIns="0" rIns="0" tIns="0" bIns="0" anchor="t"/>
          <a:lstStyle/>
          <a:p>
            <a:pPr algn="l">
              <a:lnSpc>
                <a:spcPct val="125000"/>
              </a:lnSpc>
            </a:pPr>
            <a:r>
              <a:rPr sz="1150" b="0" i="0">
                <a:solidFill>
                  <a:srgbClr val="9CA3AF"/>
                </a:solidFill>
                <a:latin typeface="Inter"/>
              </a:rPr>
              <a:t>The hierarchy on the previous page determines how this plays out for a single advisor. Field synthesizes the packs that cover him into </a:t>
            </a:r>
            <a:r>
              <a:rPr sz="1150" b="1" i="0">
                <a:solidFill>
                  <a:srgbClr val="FFFFFF"/>
                </a:solidFill>
                <a:latin typeface="Inter"/>
              </a:rPr>
              <a:t>one authoritative row per advisor per period</a:t>
            </a:r>
            <a:r>
              <a:rPr sz="1150" b="0" i="0">
                <a:solidFill>
                  <a:srgbClr val="9CA3AF"/>
                </a:solidFill>
                <a:latin typeface="Inter"/>
              </a:rPr>
              <a:t>, with lineage back to every source preserved.</a:t>
            </a:r>
          </a:p>
        </p:txBody>
      </p:sp>
      <p:sp>
        <p:nvSpPr>
          <p:cNvPr id="7" name="TextBox 6"/>
          <p:cNvSpPr txBox="1"/>
          <p:nvPr/>
        </p:nvSpPr>
        <p:spPr>
          <a:xfrm>
            <a:off x="548640" y="6510528"/>
            <a:ext cx="5486400" cy="228600"/>
          </a:xfrm>
          <a:prstGeom prst="rect">
            <a:avLst/>
          </a:prstGeom>
          <a:noFill/>
        </p:spPr>
        <p:txBody>
          <a:bodyPr wrap="square" lIns="0" rIns="0" t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rIns="0" tIns="0" bIns="0" anchor="t"/>
          <a:lstStyle/>
          <a:p>
            <a:pPr algn="r"/>
            <a:r>
              <a:rPr sz="800" b="0" i="0">
                <a:solidFill>
                  <a:srgbClr val="6B7280"/>
                </a:solidFill>
                <a:latin typeface="Inter"/>
              </a:rPr>
              <a:t>11</a:t>
            </a:r>
          </a:p>
        </p:txBody>
      </p:sp>
      <p:sp>
        <p:nvSpPr>
          <p:cNvPr id="9" name="Rounded Rectangle 8"/>
          <p:cNvSpPr/>
          <p:nvPr/>
        </p:nvSpPr>
        <p:spPr>
          <a:xfrm>
            <a:off x="548640" y="2103120"/>
            <a:ext cx="11091672" cy="3611880"/>
          </a:xfrm>
          <a:prstGeom prst="roundRect">
            <a:avLst>
              <a:gd name="adj" fmla="val 3500"/>
            </a:avLst>
          </a:prstGeom>
          <a:solidFill>
            <a:srgbClr val="11262F"/>
          </a:solidFill>
          <a:ln w="12700">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1248" y="2286000"/>
            <a:ext cx="10515600" cy="868680"/>
          </a:xfrm>
          <a:prstGeom prst="rect">
            <a:avLst/>
          </a:prstGeom>
          <a:noFill/>
        </p:spPr>
        <p:txBody>
          <a:bodyPr wrap="square" lIns="0" rIns="0" tIns="0" bIns="0" anchor="t"/>
          <a:lstStyle/>
          <a:p>
            <a:pPr algn="l">
              <a:spcAft>
                <a:spcPts val="300"/>
              </a:spcAft>
            </a:pPr>
            <a:r>
              <a:rPr sz="850" b="1" i="0" spc="220">
                <a:solidFill>
                  <a:srgbClr val="31C48D"/>
                </a:solidFill>
                <a:latin typeface="Inter"/>
              </a:rPr>
              <a:t>EXAMPLE</a:t>
            </a:r>
          </a:p>
          <a:p>
            <a:pPr algn="l">
              <a:spcAft>
                <a:spcPts val="300"/>
              </a:spcAft>
            </a:pPr>
            <a:r>
              <a:rPr sz="1500" b="1" i="0">
                <a:solidFill>
                  <a:srgbClr val="FFFFFF"/>
                </a:solidFill>
                <a:latin typeface="Inter"/>
              </a:rPr>
              <a:t>Advisor John Smith at LPL</a:t>
            </a:r>
          </a:p>
          <a:p>
            <a:pPr algn="l">
              <a:lnSpc>
                <a:spcPct val="118000"/>
              </a:lnSpc>
            </a:pPr>
            <a:r>
              <a:rPr sz="950" b="0" i="0">
                <a:solidFill>
                  <a:srgbClr val="9CA3AF"/>
                </a:solidFill>
                <a:latin typeface="Inter"/>
              </a:rPr>
              <a:t>FA_CRD 6447655, at LPL. Best Piece associates each vehicle's data, MF from LPL, ETF from Broadridge, competitive advantage from SS&amp;C, to John's one record, keeping every piece without double-counting. The client subscribes to LPL's MF base pack, not the ETF add-on, and to SS&amp;C Teams for competitive advantage.</a:t>
            </a:r>
          </a:p>
        </p:txBody>
      </p:sp>
      <p:sp>
        <p:nvSpPr>
          <p:cNvPr id="33" name="Rounded Rectangle 32"/>
          <p:cNvSpPr/>
          <p:nvPr/>
        </p:nvSpPr>
        <p:spPr>
          <a:xfrm>
            <a:off x="841248" y="3401568"/>
            <a:ext cx="3401568" cy="2194560"/>
          </a:xfrm>
          <a:prstGeom prst="roundRect">
            <a:avLst>
              <a:gd name="adj" fmla="val 5500"/>
            </a:avLst>
          </a:prstGeom>
          <a:solidFill>
            <a:srgbClr val="0B101A"/>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42416" y="3566160"/>
            <a:ext cx="2103120" cy="292608"/>
          </a:xfrm>
          <a:prstGeom prst="rect">
            <a:avLst/>
          </a:prstGeom>
          <a:noFill/>
        </p:spPr>
        <p:txBody>
          <a:bodyPr wrap="square" lIns="0" rIns="0" tIns="0" bIns="0" anchor="t"/>
          <a:lstStyle/>
          <a:p>
            <a:pPr algn="l"/>
            <a:r>
              <a:rPr sz="1300" b="1" i="0">
                <a:solidFill>
                  <a:srgbClr val="FFFFFF"/>
                </a:solidFill>
                <a:latin typeface="Inter"/>
              </a:rPr>
              <a:t>Mutual Fund</a:t>
            </a:r>
          </a:p>
        </p:txBody>
      </p:sp>
      <p:sp>
        <p:nvSpPr>
          <p:cNvPr id="35" name="Rounded Rectangle 34"/>
          <p:cNvSpPr/>
          <p:nvPr/>
        </p:nvSpPr>
        <p:spPr>
          <a:xfrm>
            <a:off x="3035808" y="3570732"/>
            <a:ext cx="1097280" cy="237744"/>
          </a:xfrm>
          <a:prstGeom prst="roundRect">
            <a:avLst>
              <a:gd name="adj" fmla="val 50000"/>
            </a:avLst>
          </a:prstGeom>
          <a:solidFill>
            <a:srgbClr val="1F353C"/>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850" b="1" spc="60">
                <a:solidFill>
                  <a:srgbClr val="31C48D"/>
                </a:solidFill>
                <a:latin typeface="Inter"/>
              </a:rPr>
              <a:t>DIRECT</a:t>
            </a:r>
          </a:p>
        </p:txBody>
      </p:sp>
      <p:sp>
        <p:nvSpPr>
          <p:cNvPr id="36" name="TextBox 35"/>
          <p:cNvSpPr txBox="1"/>
          <p:nvPr/>
        </p:nvSpPr>
        <p:spPr>
          <a:xfrm>
            <a:off x="1042416" y="4151376"/>
            <a:ext cx="219456" cy="237744"/>
          </a:xfrm>
          <a:prstGeom prst="rect">
            <a:avLst/>
          </a:prstGeom>
          <a:noFill/>
        </p:spPr>
        <p:txBody>
          <a:bodyPr wrap="square" lIns="0" rIns="0" tIns="0" bIns="0" anchor="t"/>
          <a:lstStyle/>
          <a:p>
            <a:pPr algn="l"/>
            <a:r>
              <a:rPr sz="1100" b="1" i="0">
                <a:solidFill>
                  <a:srgbClr val="31C48D"/>
                </a:solidFill>
                <a:latin typeface="Inter"/>
              </a:rPr>
              <a:t>✓</a:t>
            </a:r>
          </a:p>
        </p:txBody>
      </p:sp>
      <p:sp>
        <p:nvSpPr>
          <p:cNvPr id="37" name="TextBox 36"/>
          <p:cNvSpPr txBox="1"/>
          <p:nvPr/>
        </p:nvSpPr>
        <p:spPr>
          <a:xfrm>
            <a:off x="1316736" y="4151376"/>
            <a:ext cx="2761488" cy="658368"/>
          </a:xfrm>
          <a:prstGeom prst="rect">
            <a:avLst/>
          </a:prstGeom>
          <a:noFill/>
        </p:spPr>
        <p:txBody>
          <a:bodyPr wrap="square" lIns="0" rIns="0" tIns="0" bIns="0" anchor="t"/>
          <a:lstStyle/>
          <a:p>
            <a:pPr algn="l">
              <a:lnSpc>
                <a:spcPct val="112000"/>
              </a:lnSpc>
            </a:pPr>
            <a:r>
              <a:rPr sz="950" b="1" i="0">
                <a:solidFill>
                  <a:srgbClr val="FFFFFF"/>
                </a:solidFill>
                <a:latin typeface="Inter"/>
              </a:rPr>
              <a:t>LPL pack</a:t>
            </a:r>
            <a:r>
              <a:rPr sz="950" b="0" i="0">
                <a:solidFill>
                  <a:srgbClr val="9CA3AF"/>
                </a:solidFill>
                <a:latin typeface="Inter"/>
              </a:rPr>
              <a:t> → $175M FA-native, Morningstar category detail</a:t>
            </a:r>
          </a:p>
        </p:txBody>
      </p:sp>
      <p:sp>
        <p:nvSpPr>
          <p:cNvPr id="38" name="TextBox 37"/>
          <p:cNvSpPr txBox="1"/>
          <p:nvPr/>
        </p:nvSpPr>
        <p:spPr>
          <a:xfrm>
            <a:off x="1042416" y="4864608"/>
            <a:ext cx="219456" cy="237744"/>
          </a:xfrm>
          <a:prstGeom prst="rect">
            <a:avLst/>
          </a:prstGeom>
          <a:noFill/>
        </p:spPr>
        <p:txBody>
          <a:bodyPr wrap="square" lIns="0" rIns="0" tIns="0" bIns="0" anchor="t"/>
          <a:lstStyle/>
          <a:p>
            <a:pPr algn="l"/>
            <a:r>
              <a:rPr sz="1100" b="1" i="0">
                <a:solidFill>
                  <a:srgbClr val="4B5563"/>
                </a:solidFill>
                <a:latin typeface="Inter"/>
              </a:rPr>
              <a:t>×</a:t>
            </a:r>
          </a:p>
        </p:txBody>
      </p:sp>
      <p:sp>
        <p:nvSpPr>
          <p:cNvPr id="39" name="TextBox 38"/>
          <p:cNvSpPr txBox="1"/>
          <p:nvPr/>
        </p:nvSpPr>
        <p:spPr>
          <a:xfrm>
            <a:off x="1316736" y="4864608"/>
            <a:ext cx="2761488" cy="658368"/>
          </a:xfrm>
          <a:prstGeom prst="rect">
            <a:avLst/>
          </a:prstGeom>
          <a:noFill/>
        </p:spPr>
        <p:txBody>
          <a:bodyPr wrap="square" lIns="0" rIns="0" tIns="0" bIns="0" anchor="t"/>
          <a:lstStyle/>
          <a:p>
            <a:pPr algn="l">
              <a:lnSpc>
                <a:spcPct val="112000"/>
              </a:lnSpc>
            </a:pPr>
            <a:r>
              <a:rPr sz="950" b="0" i="0" strike="sngStrike">
                <a:solidFill>
                  <a:srgbClr val="4B5563"/>
                </a:solidFill>
                <a:latin typeface="Inter"/>
              </a:rPr>
              <a:t>SS&amp;C Office → LPL firm excluded from SS&amp;C data entirely</a:t>
            </a:r>
          </a:p>
        </p:txBody>
      </p:sp>
      <p:sp>
        <p:nvSpPr>
          <p:cNvPr id="40" name="Rounded Rectangle 39"/>
          <p:cNvSpPr/>
          <p:nvPr/>
        </p:nvSpPr>
        <p:spPr>
          <a:xfrm>
            <a:off x="4425696" y="3401568"/>
            <a:ext cx="3401568" cy="2194560"/>
          </a:xfrm>
          <a:prstGeom prst="roundRect">
            <a:avLst>
              <a:gd name="adj" fmla="val 5500"/>
            </a:avLst>
          </a:prstGeom>
          <a:solidFill>
            <a:srgbClr val="0B101A"/>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626864" y="3566160"/>
            <a:ext cx="2103120" cy="292608"/>
          </a:xfrm>
          <a:prstGeom prst="rect">
            <a:avLst/>
          </a:prstGeom>
          <a:noFill/>
        </p:spPr>
        <p:txBody>
          <a:bodyPr wrap="square" lIns="0" rIns="0" tIns="0" bIns="0" anchor="t"/>
          <a:lstStyle/>
          <a:p>
            <a:pPr algn="l"/>
            <a:r>
              <a:rPr sz="1300" b="1" i="0">
                <a:solidFill>
                  <a:srgbClr val="FFFFFF"/>
                </a:solidFill>
                <a:latin typeface="Inter"/>
              </a:rPr>
              <a:t>ETF</a:t>
            </a:r>
          </a:p>
        </p:txBody>
      </p:sp>
      <p:sp>
        <p:nvSpPr>
          <p:cNvPr id="42" name="Rounded Rectangle 41"/>
          <p:cNvSpPr/>
          <p:nvPr/>
        </p:nvSpPr>
        <p:spPr>
          <a:xfrm>
            <a:off x="6620256" y="3570732"/>
            <a:ext cx="1097280" cy="237744"/>
          </a:xfrm>
          <a:prstGeom prst="roundRect">
            <a:avLst>
              <a:gd name="adj" fmla="val 50000"/>
            </a:avLst>
          </a:prstGeom>
          <a:solidFill>
            <a:srgbClr val="282B47"/>
          </a:solidFill>
          <a:ln w="9525">
            <a:solidFill>
              <a:srgbClr val="9061F9"/>
            </a:solid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850" b="1" spc="60">
                <a:solidFill>
                  <a:srgbClr val="9061F9"/>
                </a:solidFill>
                <a:latin typeface="Inter"/>
              </a:rPr>
              <a:t>ATTRIBUTED</a:t>
            </a:r>
          </a:p>
        </p:txBody>
      </p:sp>
      <p:sp>
        <p:nvSpPr>
          <p:cNvPr id="43" name="TextBox 42"/>
          <p:cNvSpPr txBox="1"/>
          <p:nvPr/>
        </p:nvSpPr>
        <p:spPr>
          <a:xfrm>
            <a:off x="4626864" y="4151376"/>
            <a:ext cx="219456" cy="237744"/>
          </a:xfrm>
          <a:prstGeom prst="rect">
            <a:avLst/>
          </a:prstGeom>
          <a:noFill/>
        </p:spPr>
        <p:txBody>
          <a:bodyPr wrap="square" lIns="0" rIns="0" tIns="0" bIns="0" anchor="t"/>
          <a:lstStyle/>
          <a:p>
            <a:pPr algn="l"/>
            <a:r>
              <a:rPr sz="1100" b="1" i="0">
                <a:solidFill>
                  <a:srgbClr val="4B5563"/>
                </a:solidFill>
                <a:latin typeface="Inter"/>
              </a:rPr>
              <a:t>×</a:t>
            </a:r>
          </a:p>
        </p:txBody>
      </p:sp>
      <p:sp>
        <p:nvSpPr>
          <p:cNvPr id="44" name="TextBox 43"/>
          <p:cNvSpPr txBox="1"/>
          <p:nvPr/>
        </p:nvSpPr>
        <p:spPr>
          <a:xfrm>
            <a:off x="4901183" y="4151376"/>
            <a:ext cx="2761488" cy="658368"/>
          </a:xfrm>
          <a:prstGeom prst="rect">
            <a:avLst/>
          </a:prstGeom>
          <a:noFill/>
        </p:spPr>
        <p:txBody>
          <a:bodyPr wrap="square" lIns="0" rIns="0" tIns="0" bIns="0" anchor="t"/>
          <a:lstStyle/>
          <a:p>
            <a:pPr algn="l">
              <a:lnSpc>
                <a:spcPct val="112000"/>
              </a:lnSpc>
            </a:pPr>
            <a:r>
              <a:rPr sz="950" b="0" i="0" strike="sngStrike">
                <a:solidFill>
                  <a:srgbClr val="4B5563"/>
                </a:solidFill>
                <a:latin typeface="Inter"/>
              </a:rPr>
              <a:t>LPL ETF add-on → not subscribed by client</a:t>
            </a:r>
          </a:p>
        </p:txBody>
      </p:sp>
      <p:sp>
        <p:nvSpPr>
          <p:cNvPr id="45" name="TextBox 44"/>
          <p:cNvSpPr txBox="1"/>
          <p:nvPr/>
        </p:nvSpPr>
        <p:spPr>
          <a:xfrm>
            <a:off x="4626864" y="4864608"/>
            <a:ext cx="219456" cy="237744"/>
          </a:xfrm>
          <a:prstGeom prst="rect">
            <a:avLst/>
          </a:prstGeom>
          <a:noFill/>
        </p:spPr>
        <p:txBody>
          <a:bodyPr wrap="square" lIns="0" rIns="0" tIns="0" bIns="0" anchor="t"/>
          <a:lstStyle/>
          <a:p>
            <a:pPr algn="l"/>
            <a:r>
              <a:rPr sz="1100" b="1" i="0">
                <a:solidFill>
                  <a:srgbClr val="31C48D"/>
                </a:solidFill>
                <a:latin typeface="Inter"/>
              </a:rPr>
              <a:t>✓</a:t>
            </a:r>
          </a:p>
        </p:txBody>
      </p:sp>
      <p:sp>
        <p:nvSpPr>
          <p:cNvPr id="46" name="TextBox 45"/>
          <p:cNvSpPr txBox="1"/>
          <p:nvPr/>
        </p:nvSpPr>
        <p:spPr>
          <a:xfrm>
            <a:off x="4901183" y="4864608"/>
            <a:ext cx="2761488" cy="658368"/>
          </a:xfrm>
          <a:prstGeom prst="rect">
            <a:avLst/>
          </a:prstGeom>
          <a:noFill/>
        </p:spPr>
        <p:txBody>
          <a:bodyPr wrap="square" lIns="0" rIns="0" tIns="0" bIns="0" anchor="t"/>
          <a:lstStyle/>
          <a:p>
            <a:pPr algn="l">
              <a:lnSpc>
                <a:spcPct val="112000"/>
              </a:lnSpc>
            </a:pPr>
            <a:r>
              <a:rPr sz="950" b="1" i="0">
                <a:solidFill>
                  <a:srgbClr val="FFFFFF"/>
                </a:solidFill>
                <a:latin typeface="Inter"/>
              </a:rPr>
              <a:t>Broadridge ETF</a:t>
            </a:r>
            <a:r>
              <a:rPr sz="950" b="0" i="0">
                <a:solidFill>
                  <a:srgbClr val="9CA3AF"/>
                </a:solidFill>
                <a:latin typeface="Inter"/>
              </a:rPr>
              <a:t> → $180M office wallet share, attributed down to John's FA share in Stage 4</a:t>
            </a:r>
          </a:p>
        </p:txBody>
      </p:sp>
      <p:sp>
        <p:nvSpPr>
          <p:cNvPr id="47" name="Rounded Rectangle 46"/>
          <p:cNvSpPr/>
          <p:nvPr/>
        </p:nvSpPr>
        <p:spPr>
          <a:xfrm>
            <a:off x="8010144" y="3401568"/>
            <a:ext cx="3401568" cy="2194560"/>
          </a:xfrm>
          <a:prstGeom prst="roundRect">
            <a:avLst>
              <a:gd name="adj" fmla="val 5500"/>
            </a:avLst>
          </a:prstGeom>
          <a:solidFill>
            <a:srgbClr val="0B101A"/>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211312" y="3566160"/>
            <a:ext cx="2103120" cy="292608"/>
          </a:xfrm>
          <a:prstGeom prst="rect">
            <a:avLst/>
          </a:prstGeom>
          <a:noFill/>
        </p:spPr>
        <p:txBody>
          <a:bodyPr wrap="square" lIns="0" rIns="0" tIns="0" bIns="0" anchor="t"/>
          <a:lstStyle/>
          <a:p>
            <a:pPr algn="l"/>
            <a:r>
              <a:rPr sz="1300" b="1" i="0">
                <a:solidFill>
                  <a:srgbClr val="FFFFFF"/>
                </a:solidFill>
                <a:latin typeface="Inter"/>
              </a:rPr>
              <a:t>Competitive Advantage</a:t>
            </a:r>
          </a:p>
        </p:txBody>
      </p:sp>
      <p:sp>
        <p:nvSpPr>
          <p:cNvPr id="49" name="Rounded Rectangle 48"/>
          <p:cNvSpPr/>
          <p:nvPr/>
        </p:nvSpPr>
        <p:spPr>
          <a:xfrm>
            <a:off x="10204704" y="3570732"/>
            <a:ext cx="1097280" cy="237744"/>
          </a:xfrm>
          <a:prstGeom prst="roundRect">
            <a:avLst>
              <a:gd name="adj" fmla="val 50000"/>
            </a:avLst>
          </a:prstGeom>
          <a:solidFill>
            <a:srgbClr val="1C3442"/>
          </a:solidFill>
          <a:ln w="9525">
            <a:solidFill>
              <a:srgbClr val="16BDCA"/>
            </a:solidFill>
          </a:ln>
          <a:effectLst/>
        </p:spPr>
        <p:style>
          <a:lnRef idx="1">
            <a:schemeClr val="accent1"/>
          </a:lnRef>
          <a:fillRef idx="3">
            <a:schemeClr val="accent1"/>
          </a:fillRef>
          <a:effectRef idx="2">
            <a:schemeClr val="accent1"/>
          </a:effectRef>
          <a:fontRef idx="minor">
            <a:schemeClr val="lt1"/>
          </a:fontRef>
        </p:style>
        <p:txBody>
          <a:bodyPr rtlCol="0" anchor="ctr" wrap="none" lIns="18288" rIns="18288" tIns="0" bIns="0"/>
          <a:lstStyle/>
          <a:p>
            <a:pPr algn="ctr"/>
            <a:r>
              <a:rPr sz="850" b="1" spc="60">
                <a:solidFill>
                  <a:srgbClr val="16BDCA"/>
                </a:solidFill>
                <a:latin typeface="Inter"/>
              </a:rPr>
              <a:t>SYNTHESIZED</a:t>
            </a:r>
          </a:p>
        </p:txBody>
      </p:sp>
      <p:sp>
        <p:nvSpPr>
          <p:cNvPr id="50" name="TextBox 49"/>
          <p:cNvSpPr txBox="1"/>
          <p:nvPr/>
        </p:nvSpPr>
        <p:spPr>
          <a:xfrm>
            <a:off x="8211312" y="4151376"/>
            <a:ext cx="219456" cy="237744"/>
          </a:xfrm>
          <a:prstGeom prst="rect">
            <a:avLst/>
          </a:prstGeom>
          <a:noFill/>
        </p:spPr>
        <p:txBody>
          <a:bodyPr wrap="square" lIns="0" rIns="0" tIns="0" bIns="0" anchor="t"/>
          <a:lstStyle/>
          <a:p>
            <a:pPr algn="l"/>
            <a:r>
              <a:rPr sz="1100" b="1" i="0">
                <a:solidFill>
                  <a:srgbClr val="31C48D"/>
                </a:solidFill>
                <a:latin typeface="Inter"/>
              </a:rPr>
              <a:t>✓</a:t>
            </a:r>
          </a:p>
        </p:txBody>
      </p:sp>
      <p:sp>
        <p:nvSpPr>
          <p:cNvPr id="51" name="TextBox 50"/>
          <p:cNvSpPr txBox="1"/>
          <p:nvPr/>
        </p:nvSpPr>
        <p:spPr>
          <a:xfrm>
            <a:off x="8485632" y="4151376"/>
            <a:ext cx="2761488" cy="658368"/>
          </a:xfrm>
          <a:prstGeom prst="rect">
            <a:avLst/>
          </a:prstGeom>
          <a:noFill/>
        </p:spPr>
        <p:txBody>
          <a:bodyPr wrap="square" lIns="0" rIns="0" tIns="0" bIns="0" anchor="t"/>
          <a:lstStyle/>
          <a:p>
            <a:pPr algn="l">
              <a:lnSpc>
                <a:spcPct val="112000"/>
              </a:lnSpc>
            </a:pPr>
            <a:r>
              <a:rPr sz="950" b="1" i="0">
                <a:solidFill>
                  <a:srgbClr val="FFFFFF"/>
                </a:solidFill>
                <a:latin typeface="Inter"/>
              </a:rPr>
              <a:t>SS&amp;C Teams</a:t>
            </a:r>
            <a:r>
              <a:rPr sz="950" b="0" i="0">
                <a:solidFill>
                  <a:srgbClr val="9CA3AF"/>
                </a:solidFill>
                <a:latin typeface="Inter"/>
              </a:rPr>
              <a:t> if John's team is covered → team-grain competitive advantage</a:t>
            </a:r>
          </a:p>
        </p:txBody>
      </p:sp>
      <p:sp>
        <p:nvSpPr>
          <p:cNvPr id="52" name="Rounded Rectangle 51"/>
          <p:cNvSpPr/>
          <p:nvPr/>
        </p:nvSpPr>
        <p:spPr>
          <a:xfrm>
            <a:off x="8211312" y="4882896"/>
            <a:ext cx="3017520" cy="621792"/>
          </a:xfrm>
          <a:prstGeom prst="roundRect">
            <a:avLst>
              <a:gd name="adj" fmla="val 10000"/>
            </a:avLst>
          </a:prstGeom>
          <a:solidFill>
            <a:srgbClr val="0C12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339327" y="4956048"/>
            <a:ext cx="2761488" cy="475488"/>
          </a:xfrm>
          <a:prstGeom prst="rect">
            <a:avLst/>
          </a:prstGeom>
          <a:noFill/>
        </p:spPr>
        <p:txBody>
          <a:bodyPr wrap="square" lIns="0" rIns="0" tIns="0" bIns="0" anchor="t"/>
          <a:lstStyle/>
          <a:p>
            <a:pPr algn="l">
              <a:lnSpc>
                <a:spcPct val="108000"/>
              </a:lnSpc>
            </a:pPr>
            <a:r>
              <a:rPr sz="900" b="0" i="1">
                <a:solidFill>
                  <a:srgbClr val="6B7280"/>
                </a:solidFill>
                <a:latin typeface="Inter"/>
              </a:rPr>
              <a:t>Fallback: SS&amp;C Office office-grain competitive advantage if John's team is NOT in the Teams dataset.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3</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Derivation confidence flags</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1000" b="0" i="0">
                <a:solidFill>
                  <a:srgbClr val="6B7280"/>
                </a:solidFill>
                <a:latin typeface="Inter"/>
              </a:rPr>
              <a:t>Ingestion</a:t>
            </a:r>
            <a:r>
              <a:rPr sz="950" b="0" i="0">
                <a:solidFill>
                  <a:srgbClr val="6B7280"/>
                </a:solidFill>
                <a:latin typeface="Inter"/>
              </a:rPr>
              <a:t>  →  </a:t>
            </a:r>
            <a:r>
              <a:rPr sz="1000" b="0" i="0">
                <a:solidFill>
                  <a:srgbClr val="6B7280"/>
                </a:solidFill>
                <a:latin typeface="Inter"/>
              </a:rPr>
              <a:t>Normalize</a:t>
            </a:r>
            <a:r>
              <a:rPr sz="950" b="0" i="0">
                <a:solidFill>
                  <a:srgbClr val="6B7280"/>
                </a:solidFill>
                <a:latin typeface="Inter"/>
              </a:rPr>
              <a:t>  →  </a:t>
            </a:r>
            <a:r>
              <a:rPr sz="1000" b="1" i="0">
                <a:solidFill>
                  <a:srgbClr val="31C48D"/>
                </a:solidFill>
                <a:latin typeface="Inter"/>
              </a:rPr>
              <a:t>Synthesize</a:t>
            </a:r>
            <a:r>
              <a:rPr sz="950" b="0" i="0">
                <a:solidFill>
                  <a:srgbClr val="6B7280"/>
                </a:solidFill>
                <a:latin typeface="Inter"/>
              </a:rPr>
              <a:t>  →  </a:t>
            </a:r>
            <a:r>
              <a:rPr sz="1000" b="0" i="0">
                <a:solidFill>
                  <a:srgbClr val="6B7280"/>
                </a:solidFill>
                <a:latin typeface="Inter"/>
              </a:rPr>
              <a:t>Attribute</a:t>
            </a:r>
            <a:r>
              <a:rPr sz="950" b="0" i="0">
                <a:solidFill>
                  <a:srgbClr val="6B7280"/>
                </a:solidFill>
                <a:latin typeface="Inter"/>
              </a:rPr>
              <a:t>  →  </a:t>
            </a:r>
            <a:r>
              <a:rPr sz="1000" b="0" i="0">
                <a:solidFill>
                  <a:srgbClr val="6B7280"/>
                </a:solidFill>
                <a:latin typeface="Inter"/>
              </a:rPr>
              <a:t>Deliver</a:t>
            </a:r>
          </a:p>
        </p:txBody>
      </p:sp>
      <p:sp>
        <p:nvSpPr>
          <p:cNvPr id="6" name="TextBox 5"/>
          <p:cNvSpPr txBox="1"/>
          <p:nvPr/>
        </p:nvSpPr>
        <p:spPr>
          <a:xfrm>
            <a:off x="548640" y="1261872"/>
            <a:ext cx="11064240" cy="502920"/>
          </a:xfrm>
          <a:prstGeom prst="rect">
            <a:avLst/>
          </a:prstGeom>
          <a:noFill/>
        </p:spPr>
        <p:txBody>
          <a:bodyPr wrap="square" lIns="0" tIns="0" rIns="0" bIns="0" anchor="t"/>
          <a:lstStyle/>
          <a:p>
            <a:pPr algn="l">
              <a:lnSpc>
                <a:spcPct val="125000"/>
              </a:lnSpc>
            </a:pPr>
            <a:r>
              <a:rPr sz="1150" b="0" i="0">
                <a:solidFill>
                  <a:srgbClr val="9CA3AF"/>
                </a:solidFill>
                <a:latin typeface="Inter"/>
              </a:rPr>
              <a:t>Every row carries a </a:t>
            </a:r>
            <a:r>
              <a:rPr sz="1150" b="1" i="0">
                <a:solidFill>
                  <a:srgbClr val="FFFFFF"/>
                </a:solidFill>
                <a:latin typeface="Inter"/>
              </a:rPr>
              <a:t>row_derivation_confidence</a:t>
            </a:r>
            <a:r>
              <a:rPr sz="1150" b="0" i="0">
                <a:solidFill>
                  <a:srgbClr val="9CA3AF"/>
                </a:solidFill>
                <a:latin typeface="Inter"/>
              </a:rPr>
              <a:t> flag describing how the value was derived. These describe method, not fidelity.</a:t>
            </a:r>
          </a:p>
        </p:txBody>
      </p:sp>
      <p:sp>
        <p:nvSpPr>
          <p:cNvPr id="7" name="TextBox 6"/>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12</a:t>
            </a:r>
          </a:p>
        </p:txBody>
      </p:sp>
      <p:sp>
        <p:nvSpPr>
          <p:cNvPr id="9" name="Rounded Rectangle 8"/>
          <p:cNvSpPr/>
          <p:nvPr/>
        </p:nvSpPr>
        <p:spPr>
          <a:xfrm>
            <a:off x="548640" y="1920240"/>
            <a:ext cx="3611880" cy="1417320"/>
          </a:xfrm>
          <a:prstGeom prst="roundRect">
            <a:avLst>
              <a:gd name="adj" fmla="val 5500"/>
            </a:avLst>
          </a:prstGeom>
          <a:solidFill>
            <a:srgbClr val="1D2433"/>
          </a:solidFill>
          <a:ln w="12700">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77240" y="2121408"/>
            <a:ext cx="1188720" cy="201168"/>
          </a:xfrm>
          <a:prstGeom prst="roundRect">
            <a:avLst>
              <a:gd name="adj" fmla="val 50000"/>
            </a:avLst>
          </a:prstGeom>
          <a:solidFill>
            <a:srgbClr val="1F353C"/>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750" b="1" spc="60">
                <a:solidFill>
                  <a:srgbClr val="31C48D"/>
                </a:solidFill>
                <a:latin typeface="Inter"/>
              </a:rPr>
              <a:t>ACTUAL</a:t>
            </a:r>
          </a:p>
        </p:txBody>
      </p:sp>
      <p:sp>
        <p:nvSpPr>
          <p:cNvPr id="11" name="TextBox 10"/>
          <p:cNvSpPr txBox="1"/>
          <p:nvPr/>
        </p:nvSpPr>
        <p:spPr>
          <a:xfrm>
            <a:off x="777240" y="2487168"/>
            <a:ext cx="3200400" cy="822960"/>
          </a:xfrm>
          <a:prstGeom prst="rect">
            <a:avLst/>
          </a:prstGeom>
          <a:noFill/>
        </p:spPr>
        <p:txBody>
          <a:bodyPr wrap="square" lIns="0" tIns="0" rIns="0" bIns="0" anchor="t"/>
          <a:lstStyle/>
          <a:p>
            <a:pPr algn="l">
              <a:lnSpc>
                <a:spcPct val="120000"/>
              </a:lnSpc>
            </a:pPr>
            <a:r>
              <a:rPr sz="1000" b="0" i="0">
                <a:solidFill>
                  <a:srgbClr val="9CA3AF"/>
                </a:solidFill>
                <a:latin typeface="Inter"/>
              </a:rPr>
              <a:t>Direct value emitted by a pack at the row's grain. No transformation of magnitude.</a:t>
            </a:r>
          </a:p>
        </p:txBody>
      </p:sp>
      <p:sp>
        <p:nvSpPr>
          <p:cNvPr id="12" name="Rounded Rectangle 11"/>
          <p:cNvSpPr/>
          <p:nvPr/>
        </p:nvSpPr>
        <p:spPr>
          <a:xfrm>
            <a:off x="4370831" y="1920240"/>
            <a:ext cx="3611880" cy="1417320"/>
          </a:xfrm>
          <a:prstGeom prst="roundRect">
            <a:avLst>
              <a:gd name="adj" fmla="val 5500"/>
            </a:avLst>
          </a:prstGeom>
          <a:solidFill>
            <a:srgbClr val="1D2433"/>
          </a:solidFill>
          <a:ln w="12700">
            <a:solidFill>
              <a:srgbClr val="16BDC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99431" y="2121408"/>
            <a:ext cx="1188720" cy="201168"/>
          </a:xfrm>
          <a:prstGeom prst="roundRect">
            <a:avLst>
              <a:gd name="adj" fmla="val 50000"/>
            </a:avLst>
          </a:prstGeom>
          <a:solidFill>
            <a:srgbClr val="1C3442"/>
          </a:solidFill>
          <a:ln w="9525">
            <a:solidFill>
              <a:srgbClr val="16BDCA"/>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750" b="1" spc="60">
                <a:solidFill>
                  <a:srgbClr val="16BDCA"/>
                </a:solidFill>
                <a:latin typeface="Inter"/>
              </a:rPr>
              <a:t>SYNTHESIZED</a:t>
            </a:r>
          </a:p>
        </p:txBody>
      </p:sp>
      <p:sp>
        <p:nvSpPr>
          <p:cNvPr id="14" name="TextBox 13"/>
          <p:cNvSpPr txBox="1"/>
          <p:nvPr/>
        </p:nvSpPr>
        <p:spPr>
          <a:xfrm>
            <a:off x="4599431" y="2487168"/>
            <a:ext cx="3200400" cy="822960"/>
          </a:xfrm>
          <a:prstGeom prst="rect">
            <a:avLst/>
          </a:prstGeom>
          <a:noFill/>
        </p:spPr>
        <p:txBody>
          <a:bodyPr wrap="square" lIns="0" tIns="0" rIns="0" bIns="0" anchor="t"/>
          <a:lstStyle/>
          <a:p>
            <a:pPr algn="l">
              <a:lnSpc>
                <a:spcPct val="120000"/>
              </a:lnSpc>
            </a:pPr>
            <a:r>
              <a:rPr sz="1000" b="0" i="0">
                <a:solidFill>
                  <a:srgbClr val="9CA3AF"/>
                </a:solidFill>
                <a:latin typeface="Inter"/>
              </a:rPr>
              <a:t>Cross-source derivation. Cadence bridging, category split, cross-pack complement (e.g., SS&amp;C Teams competitive advantage applied to advisors whose direct pack doesn't provide it).</a:t>
            </a:r>
          </a:p>
        </p:txBody>
      </p:sp>
      <p:sp>
        <p:nvSpPr>
          <p:cNvPr id="15" name="Rounded Rectangle 14"/>
          <p:cNvSpPr/>
          <p:nvPr/>
        </p:nvSpPr>
        <p:spPr>
          <a:xfrm>
            <a:off x="8193023" y="1920240"/>
            <a:ext cx="3611880" cy="1417320"/>
          </a:xfrm>
          <a:prstGeom prst="roundRect">
            <a:avLst>
              <a:gd name="adj" fmla="val 5500"/>
            </a:avLst>
          </a:prstGeom>
          <a:solidFill>
            <a:srgbClr val="1D2433"/>
          </a:solidFill>
          <a:ln w="12700">
            <a:solidFill>
              <a:srgbClr val="9061F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421624" y="2121408"/>
            <a:ext cx="1188720" cy="201168"/>
          </a:xfrm>
          <a:prstGeom prst="roundRect">
            <a:avLst>
              <a:gd name="adj" fmla="val 50000"/>
            </a:avLst>
          </a:prstGeom>
          <a:solidFill>
            <a:srgbClr val="282B47"/>
          </a:solidFill>
          <a:ln w="9525">
            <a:solidFill>
              <a:srgbClr val="9061F9"/>
            </a:solidFill>
          </a:ln>
          <a:effectLst/>
        </p:spPr>
        <p:style>
          <a:lnRef idx="1">
            <a:schemeClr val="accent1"/>
          </a:lnRef>
          <a:fillRef idx="3">
            <a:schemeClr val="accent1"/>
          </a:fillRef>
          <a:effectRef idx="2">
            <a:schemeClr val="accent1"/>
          </a:effectRef>
          <a:fontRef idx="minor">
            <a:schemeClr val="lt1"/>
          </a:fontRef>
        </p:style>
        <p:txBody>
          <a:bodyPr wrap="none" lIns="18288" tIns="0" rIns="18288" bIns="0" rtlCol="0" anchor="ctr"/>
          <a:lstStyle/>
          <a:p>
            <a:pPr algn="ctr"/>
            <a:r>
              <a:rPr sz="750" b="1" spc="60">
                <a:solidFill>
                  <a:srgbClr val="9061F9"/>
                </a:solidFill>
                <a:latin typeface="Inter"/>
              </a:rPr>
              <a:t>ATTRIBUTED</a:t>
            </a:r>
          </a:p>
        </p:txBody>
      </p:sp>
      <p:sp>
        <p:nvSpPr>
          <p:cNvPr id="17" name="TextBox 16"/>
          <p:cNvSpPr txBox="1"/>
          <p:nvPr/>
        </p:nvSpPr>
        <p:spPr>
          <a:xfrm>
            <a:off x="8421624" y="2487168"/>
            <a:ext cx="3200400" cy="822960"/>
          </a:xfrm>
          <a:prstGeom prst="rect">
            <a:avLst/>
          </a:prstGeom>
          <a:noFill/>
        </p:spPr>
        <p:txBody>
          <a:bodyPr wrap="square" lIns="0" tIns="0" rIns="0" bIns="0" anchor="t"/>
          <a:lstStyle/>
          <a:p>
            <a:pPr algn="l">
              <a:lnSpc>
                <a:spcPct val="120000"/>
              </a:lnSpc>
            </a:pPr>
            <a:r>
              <a:rPr sz="1000" b="0" i="0">
                <a:solidFill>
                  <a:srgbClr val="9CA3AF"/>
                </a:solidFill>
                <a:latin typeface="Inter"/>
              </a:rPr>
              <a:t>ML-allocated from a coarser-grain source to FA using multi-signal profiling. Every allocation carries its signal weights.</a:t>
            </a:r>
          </a:p>
        </p:txBody>
      </p:sp>
      <p:sp>
        <p:nvSpPr>
          <p:cNvPr id="18" name="Rounded Rectangle 17"/>
          <p:cNvSpPr/>
          <p:nvPr/>
        </p:nvSpPr>
        <p:spPr>
          <a:xfrm>
            <a:off x="548640" y="3611880"/>
            <a:ext cx="5440680" cy="2395728"/>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3803904"/>
            <a:ext cx="4937760" cy="2377440"/>
          </a:xfrm>
          <a:prstGeom prst="rect">
            <a:avLst/>
          </a:prstGeom>
          <a:noFill/>
        </p:spPr>
        <p:txBody>
          <a:bodyPr wrap="square" lIns="0" tIns="0" rIns="0" bIns="0" anchor="t"/>
          <a:lstStyle/>
          <a:p>
            <a:pPr algn="l">
              <a:spcAft>
                <a:spcPts val="400"/>
              </a:spcAft>
            </a:pPr>
            <a:r>
              <a:rPr sz="1200" b="1" i="0">
                <a:solidFill>
                  <a:srgbClr val="FFFFFF"/>
                </a:solidFill>
                <a:latin typeface="Inter"/>
              </a:rPr>
              <a:t>Time-derivation synthesis</a:t>
            </a:r>
          </a:p>
          <a:p>
            <a:pPr algn="l">
              <a:lnSpc>
                <a:spcPct val="120000"/>
              </a:lnSpc>
              <a:spcAft>
                <a:spcPts val="600"/>
              </a:spcAft>
            </a:pPr>
            <a:r>
              <a:rPr sz="1000" b="0" i="0">
                <a:solidFill>
                  <a:srgbClr val="9CA3AF"/>
                </a:solidFill>
                <a:latin typeface="Inter"/>
              </a:rPr>
              <a:t>Not every pack delivers on the same cadence. LPL is quarterly, MS and SS&amp;C Office are monthly. When a query asks for March 2026 monthly data, Field synthesizes across cadences using the higher-cadence packs as proportional signals.</a:t>
            </a:r>
          </a:p>
          <a:p>
            <a:pPr algn="l">
              <a:lnSpc>
                <a:spcPct val="120000"/>
              </a:lnSpc>
            </a:pPr>
            <a:r>
              <a:rPr sz="950" b="0" i="1">
                <a:solidFill>
                  <a:srgbClr val="9CA3AF"/>
                </a:solidFill>
                <a:latin typeface="Inter"/>
              </a:rPr>
              <a:t>Example: LPL delivers Q1 2026 as one number. To render John Smith's LPL AUM monthly (Jan / Feb / Mar), Field uses the monthly trend in his office's SS&amp;C wallet share as the proportional signal. LPL's Q1 total is split matching that curve. Row tagged Synthesized.</a:t>
            </a:r>
          </a:p>
        </p:txBody>
      </p:sp>
      <p:sp>
        <p:nvSpPr>
          <p:cNvPr id="20" name="Rounded Rectangle 19"/>
          <p:cNvSpPr/>
          <p:nvPr/>
        </p:nvSpPr>
        <p:spPr>
          <a:xfrm>
            <a:off x="6291072" y="3611880"/>
            <a:ext cx="5440680" cy="2395728"/>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47104" y="3803904"/>
            <a:ext cx="4937760" cy="2377440"/>
          </a:xfrm>
          <a:prstGeom prst="rect">
            <a:avLst/>
          </a:prstGeom>
          <a:noFill/>
        </p:spPr>
        <p:txBody>
          <a:bodyPr wrap="square" lIns="0" tIns="0" rIns="0" bIns="0" anchor="t"/>
          <a:lstStyle/>
          <a:p>
            <a:pPr algn="l">
              <a:spcAft>
                <a:spcPts val="400"/>
              </a:spcAft>
            </a:pPr>
            <a:r>
              <a:rPr sz="1200" b="1" i="0">
                <a:solidFill>
                  <a:srgbClr val="FFFFFF"/>
                </a:solidFill>
                <a:latin typeface="Inter"/>
              </a:rPr>
              <a:t>Cross-source complement</a:t>
            </a:r>
          </a:p>
          <a:p>
            <a:pPr algn="l">
              <a:lnSpc>
                <a:spcPct val="120000"/>
              </a:lnSpc>
              <a:spcAft>
                <a:spcPts val="600"/>
              </a:spcAft>
            </a:pPr>
            <a:r>
              <a:rPr sz="1000" b="0" i="0">
                <a:solidFill>
                  <a:srgbClr val="9CA3AF"/>
                </a:solidFill>
                <a:latin typeface="Inter"/>
              </a:rPr>
              <a:t>Some data (e.g., competitive advantage) is not available in every pack tier. Best Piece synthesizes it from adjacent sources when the client's direct pack does not surface it.</a:t>
            </a:r>
          </a:p>
          <a:p>
            <a:pPr algn="l">
              <a:lnSpc>
                <a:spcPct val="120000"/>
              </a:lnSpc>
            </a:pPr>
            <a:r>
              <a:rPr sz="950" b="0" i="1">
                <a:solidFill>
                  <a:srgbClr val="9CA3AF"/>
                </a:solidFill>
                <a:latin typeface="Inter"/>
              </a:rPr>
              <a:t>Example: if John Smith's team is covered in SS&amp;C Teams, competitive advantage is derived from team-grain data using his LPL category holdings as the proportion signal. If the team is not covered, SS&amp;C Office office-grain competitive advantage is used as fallback. Row tagged Synthesized.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4</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Attribution &amp; Crosswalks</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1000" b="0" i="0">
                <a:solidFill>
                  <a:srgbClr val="6B7280"/>
                </a:solidFill>
                <a:latin typeface="Inter"/>
              </a:rPr>
              <a:t>Ingestion</a:t>
            </a:r>
            <a:r>
              <a:rPr sz="950" b="0" i="0">
                <a:solidFill>
                  <a:srgbClr val="6B7280"/>
                </a:solidFill>
                <a:latin typeface="Inter"/>
              </a:rPr>
              <a:t>  →  </a:t>
            </a:r>
            <a:r>
              <a:rPr sz="1000" b="0" i="0">
                <a:solidFill>
                  <a:srgbClr val="6B7280"/>
                </a:solidFill>
                <a:latin typeface="Inter"/>
              </a:rPr>
              <a:t>Normalize</a:t>
            </a:r>
            <a:r>
              <a:rPr sz="950" b="0" i="0">
                <a:solidFill>
                  <a:srgbClr val="6B7280"/>
                </a:solidFill>
                <a:latin typeface="Inter"/>
              </a:rPr>
              <a:t>  →  </a:t>
            </a:r>
            <a:r>
              <a:rPr sz="1000" b="0" i="0">
                <a:solidFill>
                  <a:srgbClr val="6B7280"/>
                </a:solidFill>
                <a:latin typeface="Inter"/>
              </a:rPr>
              <a:t>Synthesize</a:t>
            </a:r>
            <a:r>
              <a:rPr sz="950" b="0" i="0">
                <a:solidFill>
                  <a:srgbClr val="6B7280"/>
                </a:solidFill>
                <a:latin typeface="Inter"/>
              </a:rPr>
              <a:t>  →  </a:t>
            </a:r>
            <a:r>
              <a:rPr sz="1000" b="1" i="0">
                <a:solidFill>
                  <a:srgbClr val="31C48D"/>
                </a:solidFill>
                <a:latin typeface="Inter"/>
              </a:rPr>
              <a:t>Attribute</a:t>
            </a:r>
            <a:r>
              <a:rPr sz="950" b="0" i="0">
                <a:solidFill>
                  <a:srgbClr val="6B7280"/>
                </a:solidFill>
                <a:latin typeface="Inter"/>
              </a:rPr>
              <a:t>  →  </a:t>
            </a:r>
            <a:r>
              <a:rPr sz="1000" b="0" i="0">
                <a:solidFill>
                  <a:srgbClr val="6B7280"/>
                </a:solidFill>
                <a:latin typeface="Inter"/>
              </a:rPr>
              <a:t>Deliver</a:t>
            </a:r>
          </a:p>
        </p:txBody>
      </p:sp>
      <p:sp>
        <p:nvSpPr>
          <p:cNvPr id="6" name="TextBox 5"/>
          <p:cNvSpPr txBox="1"/>
          <p:nvPr/>
        </p:nvSpPr>
        <p:spPr>
          <a:xfrm>
            <a:off x="548640" y="1261872"/>
            <a:ext cx="11064240" cy="777240"/>
          </a:xfrm>
          <a:prstGeom prst="rect">
            <a:avLst/>
          </a:prstGeom>
          <a:noFill/>
        </p:spPr>
        <p:txBody>
          <a:bodyPr wrap="square" lIns="0" tIns="0" rIns="0" bIns="0" anchor="t"/>
          <a:lstStyle/>
          <a:p>
            <a:pPr algn="l">
              <a:lnSpc>
                <a:spcPct val="125000"/>
              </a:lnSpc>
            </a:pPr>
            <a:r>
              <a:rPr sz="1150" b="0" i="0">
                <a:solidFill>
                  <a:srgbClr val="9CA3AF"/>
                </a:solidFill>
                <a:latin typeface="Inter"/>
              </a:rPr>
              <a:t>Two categories of work happen here. </a:t>
            </a:r>
            <a:r>
              <a:rPr sz="1150" b="1" i="0">
                <a:solidFill>
                  <a:srgbClr val="FFFFFF"/>
                </a:solidFill>
                <a:latin typeface="Inter"/>
              </a:rPr>
              <a:t>FA Attribution</a:t>
            </a:r>
            <a:r>
              <a:rPr sz="1150" b="0" i="0">
                <a:solidFill>
                  <a:srgbClr val="9CA3AF"/>
                </a:solidFill>
                <a:latin typeface="Inter"/>
              </a:rPr>
              <a:t> allocates office and team-grain data down to individual advisors, and infers advisor-level values for firms where no data pack exists at all. </a:t>
            </a:r>
            <a:r>
              <a:rPr sz="1150" b="1" i="0">
                <a:solidFill>
                  <a:srgbClr val="FFFFFF"/>
                </a:solidFill>
                <a:latin typeface="Inter"/>
              </a:rPr>
              <a:t>Crosswalks</a:t>
            </a:r>
            <a:r>
              <a:rPr sz="1150" b="0" i="0">
                <a:solidFill>
                  <a:srgbClr val="9CA3AF"/>
                </a:solidFill>
                <a:latin typeface="Inter"/>
              </a:rPr>
              <a:t> reconcile disparate categorization schemes (Morningstar granular vs LPL broad asset class, pack-native platform labels vs Field's 3-value platform taxonomy).</a:t>
            </a:r>
          </a:p>
        </p:txBody>
      </p:sp>
      <p:sp>
        <p:nvSpPr>
          <p:cNvPr id="7" name="TextBox 6"/>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13</a:t>
            </a:r>
          </a:p>
        </p:txBody>
      </p:sp>
      <p:sp>
        <p:nvSpPr>
          <p:cNvPr id="9" name="TextBox 8"/>
          <p:cNvSpPr txBox="1"/>
          <p:nvPr/>
        </p:nvSpPr>
        <p:spPr>
          <a:xfrm>
            <a:off x="548640" y="2212848"/>
            <a:ext cx="10972800" cy="777240"/>
          </a:xfrm>
          <a:prstGeom prst="rect">
            <a:avLst/>
          </a:prstGeom>
          <a:noFill/>
        </p:spPr>
        <p:txBody>
          <a:bodyPr wrap="square" lIns="0" tIns="0" rIns="0" bIns="0" anchor="t"/>
          <a:lstStyle/>
          <a:p>
            <a:pPr algn="l">
              <a:spcAft>
                <a:spcPts val="400"/>
              </a:spcAft>
            </a:pPr>
            <a:r>
              <a:rPr sz="1500" b="1" i="0">
                <a:solidFill>
                  <a:srgbClr val="FFFFFF"/>
                </a:solidFill>
                <a:latin typeface="Inter"/>
              </a:rPr>
              <a:t>FA Attribution Engine</a:t>
            </a:r>
          </a:p>
          <a:p>
            <a:pPr algn="l">
              <a:lnSpc>
                <a:spcPct val="125000"/>
              </a:lnSpc>
            </a:pPr>
            <a:r>
              <a:rPr sz="1050" b="0" i="0">
                <a:solidFill>
                  <a:srgbClr val="9CA3AF"/>
                </a:solidFill>
                <a:latin typeface="Inter"/>
              </a:rPr>
              <a:t>Attribution serves two use cases: allocating consortium office totals down to FA, and inferring FA-level data where no data pack covers the firm at all (RIA channel firms, IBD firms outside the subscribed set). Both use the same multi-signal ML profiling model.</a:t>
            </a:r>
          </a:p>
        </p:txBody>
      </p:sp>
      <p:sp>
        <p:nvSpPr>
          <p:cNvPr id="10" name="TextBox 9"/>
          <p:cNvSpPr txBox="1"/>
          <p:nvPr/>
        </p:nvSpPr>
        <p:spPr>
          <a:xfrm>
            <a:off x="548640" y="3200400"/>
            <a:ext cx="7315200" cy="274320"/>
          </a:xfrm>
          <a:prstGeom prst="rect">
            <a:avLst/>
          </a:prstGeom>
          <a:noFill/>
        </p:spPr>
        <p:txBody>
          <a:bodyPr wrap="square" lIns="0" tIns="0" rIns="0" bIns="0" anchor="t"/>
          <a:lstStyle/>
          <a:p>
            <a:pPr algn="l"/>
            <a:r>
              <a:rPr sz="900" b="1" i="0" spc="200">
                <a:solidFill>
                  <a:srgbClr val="31C48D"/>
                </a:solidFill>
                <a:latin typeface="Inter"/>
              </a:rPr>
              <a:t>SIGNAL SOURCES FEEDING THE ML PROFILE</a:t>
            </a:r>
          </a:p>
        </p:txBody>
      </p:sp>
      <p:sp>
        <p:nvSpPr>
          <p:cNvPr id="11" name="Rounded Rectangle 10"/>
          <p:cNvSpPr/>
          <p:nvPr/>
        </p:nvSpPr>
        <p:spPr>
          <a:xfrm>
            <a:off x="548640" y="3520440"/>
            <a:ext cx="11091672" cy="512064"/>
          </a:xfrm>
          <a:prstGeom prst="roundRect">
            <a:avLst>
              <a:gd name="adj" fmla="val 12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04672" y="3648456"/>
            <a:ext cx="10607040" cy="320040"/>
          </a:xfrm>
          <a:prstGeom prst="rect">
            <a:avLst/>
          </a:prstGeom>
          <a:noFill/>
        </p:spPr>
        <p:txBody>
          <a:bodyPr wrap="square" lIns="0" tIns="0" rIns="0" bIns="0" anchor="t"/>
          <a:lstStyle/>
          <a:p>
            <a:pPr algn="l"/>
            <a:r>
              <a:rPr sz="1050" b="1" i="0">
                <a:solidFill>
                  <a:srgbClr val="FFFFFF"/>
                </a:solidFill>
                <a:latin typeface="Inter"/>
              </a:rPr>
              <a:t>Public regulatory.  </a:t>
            </a:r>
            <a:r>
              <a:rPr sz="1000" b="0" i="0">
                <a:solidFill>
                  <a:srgbClr val="9CA3AF"/>
                </a:solidFill>
                <a:latin typeface="Inter"/>
              </a:rPr>
              <a:t>Form ADV firm AUM, FINRA registration age, license history.</a:t>
            </a:r>
          </a:p>
        </p:txBody>
      </p:sp>
      <p:sp>
        <p:nvSpPr>
          <p:cNvPr id="13" name="Rounded Rectangle 12"/>
          <p:cNvSpPr/>
          <p:nvPr/>
        </p:nvSpPr>
        <p:spPr>
          <a:xfrm>
            <a:off x="548640" y="4105656"/>
            <a:ext cx="11091672" cy="512064"/>
          </a:xfrm>
          <a:prstGeom prst="roundRect">
            <a:avLst>
              <a:gd name="adj" fmla="val 12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4672" y="4233672"/>
            <a:ext cx="10607040" cy="320040"/>
          </a:xfrm>
          <a:prstGeom prst="rect">
            <a:avLst/>
          </a:prstGeom>
          <a:noFill/>
        </p:spPr>
        <p:txBody>
          <a:bodyPr wrap="square" lIns="0" tIns="0" rIns="0" bIns="0" anchor="t"/>
          <a:lstStyle/>
          <a:p>
            <a:pPr algn="l"/>
            <a:r>
              <a:rPr sz="1050" b="1" i="0">
                <a:solidFill>
                  <a:srgbClr val="FFFFFF"/>
                </a:solidFill>
                <a:latin typeface="Inter"/>
              </a:rPr>
              <a:t>Public rankings.  </a:t>
            </a:r>
            <a:r>
              <a:rPr sz="1000" b="0" i="0">
                <a:solidFill>
                  <a:srgbClr val="9CA3AF"/>
                </a:solidFill>
                <a:latin typeface="Inter"/>
              </a:rPr>
              <a:t>Barron's Top 100, Forbes/Shook, FT Top Advisors.</a:t>
            </a:r>
          </a:p>
        </p:txBody>
      </p:sp>
      <p:sp>
        <p:nvSpPr>
          <p:cNvPr id="15" name="Rounded Rectangle 14"/>
          <p:cNvSpPr/>
          <p:nvPr/>
        </p:nvSpPr>
        <p:spPr>
          <a:xfrm>
            <a:off x="548640" y="4690872"/>
            <a:ext cx="11091672" cy="512064"/>
          </a:xfrm>
          <a:prstGeom prst="roundRect">
            <a:avLst>
              <a:gd name="adj" fmla="val 12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4818888"/>
            <a:ext cx="10607040" cy="320040"/>
          </a:xfrm>
          <a:prstGeom prst="rect">
            <a:avLst/>
          </a:prstGeom>
          <a:noFill/>
        </p:spPr>
        <p:txBody>
          <a:bodyPr wrap="square" lIns="0" tIns="0" rIns="0" bIns="0" anchor="t"/>
          <a:lstStyle/>
          <a:p>
            <a:pPr algn="l"/>
            <a:r>
              <a:rPr sz="1050" b="1" i="0">
                <a:solidFill>
                  <a:srgbClr val="FFFFFF"/>
                </a:solidFill>
                <a:latin typeface="Inter"/>
              </a:rPr>
              <a:t>Home office partner lists.  </a:t>
            </a:r>
            <a:r>
              <a:rPr sz="1000" b="0" i="0">
                <a:solidFill>
                  <a:srgbClr val="9CA3AF"/>
                </a:solidFill>
                <a:latin typeface="Inter"/>
              </a:rPr>
              <a:t>Ameriprise Top Producers, Raymond James Presidents Club, MS Portfolio Managers Club. Firm-published high-producer signals.</a:t>
            </a:r>
          </a:p>
        </p:txBody>
      </p:sp>
      <p:sp>
        <p:nvSpPr>
          <p:cNvPr id="17" name="Rounded Rectangle 16"/>
          <p:cNvSpPr/>
          <p:nvPr/>
        </p:nvSpPr>
        <p:spPr>
          <a:xfrm>
            <a:off x="548640" y="5276088"/>
            <a:ext cx="11091672" cy="512064"/>
          </a:xfrm>
          <a:prstGeom prst="roundRect">
            <a:avLst>
              <a:gd name="adj" fmla="val 12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04672" y="5404103"/>
            <a:ext cx="10607040" cy="320040"/>
          </a:xfrm>
          <a:prstGeom prst="rect">
            <a:avLst/>
          </a:prstGeom>
          <a:noFill/>
        </p:spPr>
        <p:txBody>
          <a:bodyPr wrap="square" lIns="0" tIns="0" rIns="0" bIns="0" anchor="t"/>
          <a:lstStyle/>
          <a:p>
            <a:pPr algn="l"/>
            <a:r>
              <a:rPr sz="1050" b="1" i="0">
                <a:solidFill>
                  <a:srgbClr val="FFFFFF"/>
                </a:solidFill>
                <a:latin typeface="Inter"/>
              </a:rPr>
              <a:t>Scraped rosters and focus areas.  </a:t>
            </a:r>
            <a:r>
              <a:rPr sz="1000" b="0" i="0">
                <a:solidFill>
                  <a:srgbClr val="9CA3AF"/>
                </a:solidFill>
                <a:latin typeface="Inter"/>
              </a:rPr>
              <a:t>Retirement, alts, ESG specialization pulled from firm websites.</a:t>
            </a:r>
          </a:p>
        </p:txBody>
      </p:sp>
      <p:sp>
        <p:nvSpPr>
          <p:cNvPr id="19" name="Rounded Rectangle 18"/>
          <p:cNvSpPr/>
          <p:nvPr/>
        </p:nvSpPr>
        <p:spPr>
          <a:xfrm>
            <a:off x="548640" y="5861303"/>
            <a:ext cx="11091672" cy="512064"/>
          </a:xfrm>
          <a:prstGeom prst="roundRect">
            <a:avLst>
              <a:gd name="adj" fmla="val 12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04672" y="5989319"/>
            <a:ext cx="10607040" cy="320040"/>
          </a:xfrm>
          <a:prstGeom prst="rect">
            <a:avLst/>
          </a:prstGeom>
          <a:noFill/>
        </p:spPr>
        <p:txBody>
          <a:bodyPr wrap="square" lIns="0" tIns="0" rIns="0" bIns="0" anchor="t"/>
          <a:lstStyle/>
          <a:p>
            <a:pPr algn="l"/>
            <a:r>
              <a:rPr sz="1050" b="1" i="0">
                <a:solidFill>
                  <a:srgbClr val="FFFFFF"/>
                </a:solidFill>
                <a:latin typeface="Inter"/>
              </a:rPr>
              <a:t>BD-direct AUM shares.  </a:t>
            </a:r>
            <a:r>
              <a:rPr sz="1000" b="0" i="0">
                <a:solidFill>
                  <a:srgbClr val="9CA3AF"/>
                </a:solidFill>
                <a:latin typeface="Inter"/>
              </a:rPr>
              <a:t>For consortium attribution: known AUM in adjacent offices from Tier 1 packs.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4</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Multi-signal ML profiling</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950" b="0" i="0">
                <a:solidFill>
                  <a:srgbClr val="6B7280"/>
                </a:solidFill>
                <a:latin typeface="Inter"/>
              </a:rPr>
              <a:t>Ingestion</a:t>
            </a:r>
            <a:r>
              <a:rPr sz="900" b="0" i="0">
                <a:solidFill>
                  <a:srgbClr val="6B7280"/>
                </a:solidFill>
                <a:latin typeface="Inter"/>
              </a:rPr>
              <a:t>  →  </a:t>
            </a:r>
            <a:r>
              <a:rPr sz="950" b="0" i="0">
                <a:solidFill>
                  <a:srgbClr val="6B7280"/>
                </a:solidFill>
                <a:latin typeface="Inter"/>
              </a:rPr>
              <a:t>Normalize</a:t>
            </a:r>
            <a:r>
              <a:rPr sz="900" b="0" i="0">
                <a:solidFill>
                  <a:srgbClr val="6B7280"/>
                </a:solidFill>
                <a:latin typeface="Inter"/>
              </a:rPr>
              <a:t>  →  </a:t>
            </a:r>
            <a:r>
              <a:rPr sz="950" b="0" i="0">
                <a:solidFill>
                  <a:srgbClr val="6B7280"/>
                </a:solidFill>
                <a:latin typeface="Inter"/>
              </a:rPr>
              <a:t>Synthesize</a:t>
            </a:r>
            <a:r>
              <a:rPr sz="900" b="0" i="0">
                <a:solidFill>
                  <a:srgbClr val="6B7280"/>
                </a:solidFill>
                <a:latin typeface="Inter"/>
              </a:rPr>
              <a:t>  →  </a:t>
            </a:r>
            <a:r>
              <a:rPr sz="950" b="1" i="0">
                <a:solidFill>
                  <a:srgbClr val="31C48D"/>
                </a:solidFill>
                <a:latin typeface="Inter"/>
              </a:rPr>
              <a:t>Attribute</a:t>
            </a:r>
            <a:r>
              <a:rPr sz="900" b="0" i="0">
                <a:solidFill>
                  <a:srgbClr val="6B7280"/>
                </a:solidFill>
                <a:latin typeface="Inter"/>
              </a:rPr>
              <a:t>  →  </a:t>
            </a:r>
            <a:r>
              <a:rPr sz="950" b="0" i="0">
                <a:solidFill>
                  <a:srgbClr val="6B7280"/>
                </a:solidFill>
                <a:latin typeface="Inter"/>
              </a:rPr>
              <a:t>Deliver</a:t>
            </a:r>
          </a:p>
        </p:txBody>
      </p:sp>
      <p:sp>
        <p:nvSpPr>
          <p:cNvPr id="6" name="TextBox 5"/>
          <p:cNvSpPr txBox="1"/>
          <p:nvPr/>
        </p:nvSpPr>
        <p:spPr>
          <a:xfrm>
            <a:off x="548640" y="1261872"/>
            <a:ext cx="11064240" cy="548640"/>
          </a:xfrm>
          <a:prstGeom prst="rect">
            <a:avLst/>
          </a:prstGeom>
          <a:noFill/>
        </p:spPr>
        <p:txBody>
          <a:bodyPr wrap="square" lIns="0" tIns="0" rIns="0" bIns="0" anchor="t"/>
          <a:lstStyle/>
          <a:p>
            <a:pPr algn="l">
              <a:lnSpc>
                <a:spcPct val="125000"/>
              </a:lnSpc>
            </a:pPr>
            <a:r>
              <a:rPr sz="1150" b="0" i="0">
                <a:solidFill>
                  <a:srgbClr val="9CA3AF"/>
                </a:solidFill>
                <a:latin typeface="Inter"/>
              </a:rPr>
              <a:t>Every attributed value is built from weighted public and client signals, and every allocation preserves its weight vector so any number can be traced back to why an advisor received it.</a:t>
            </a:r>
          </a:p>
        </p:txBody>
      </p:sp>
      <p:sp>
        <p:nvSpPr>
          <p:cNvPr id="7" name="TextBox 6"/>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9" name="Rounded Rectangle 8"/>
          <p:cNvSpPr/>
          <p:nvPr/>
        </p:nvSpPr>
        <p:spPr>
          <a:xfrm>
            <a:off x="548640" y="1965960"/>
            <a:ext cx="5532120" cy="4297680"/>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176272"/>
            <a:ext cx="5029200" cy="274320"/>
          </a:xfrm>
          <a:prstGeom prst="rect">
            <a:avLst/>
          </a:prstGeom>
          <a:noFill/>
        </p:spPr>
        <p:txBody>
          <a:bodyPr wrap="square" lIns="0" tIns="0" rIns="0" bIns="0" anchor="t"/>
          <a:lstStyle/>
          <a:p>
            <a:pPr algn="l"/>
            <a:r>
              <a:rPr sz="850" b="1" i="0" spc="150">
                <a:solidFill>
                  <a:srgbClr val="31C48D"/>
                </a:solidFill>
                <a:latin typeface="Inter"/>
              </a:rPr>
              <a:t>SIGNAL WEIGHTS IN THE ML PROFILE (ILLUSTRATIVE)</a:t>
            </a:r>
          </a:p>
        </p:txBody>
      </p:sp>
      <p:sp>
        <p:nvSpPr>
          <p:cNvPr id="11" name="TextBox 10"/>
          <p:cNvSpPr txBox="1"/>
          <p:nvPr/>
        </p:nvSpPr>
        <p:spPr>
          <a:xfrm>
            <a:off x="804672" y="2606040"/>
            <a:ext cx="1417320" cy="228600"/>
          </a:xfrm>
          <a:prstGeom prst="rect">
            <a:avLst/>
          </a:prstGeom>
          <a:noFill/>
        </p:spPr>
        <p:txBody>
          <a:bodyPr wrap="square" lIns="0" tIns="0" rIns="0" bIns="0" anchor="t"/>
          <a:lstStyle/>
          <a:p>
            <a:pPr algn="l"/>
            <a:r>
              <a:rPr sz="900" b="0" i="0">
                <a:solidFill>
                  <a:srgbClr val="9CA3AF"/>
                </a:solidFill>
                <a:latin typeface="Inter"/>
              </a:rPr>
              <a:t>Tenure (FINRA)</a:t>
            </a:r>
          </a:p>
        </p:txBody>
      </p:sp>
      <p:sp>
        <p:nvSpPr>
          <p:cNvPr id="12" name="Rectangle 11"/>
          <p:cNvSpPr/>
          <p:nvPr/>
        </p:nvSpPr>
        <p:spPr>
          <a:xfrm>
            <a:off x="2286000" y="2647188"/>
            <a:ext cx="3063240" cy="118872"/>
          </a:xfrm>
          <a:prstGeom prst="rect">
            <a:avLst/>
          </a:prstGeom>
          <a:solidFill>
            <a:srgbClr val="252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286000" y="2647188"/>
            <a:ext cx="2389327" cy="118872"/>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440680" y="2606040"/>
            <a:ext cx="457200" cy="228600"/>
          </a:xfrm>
          <a:prstGeom prst="rect">
            <a:avLst/>
          </a:prstGeom>
          <a:noFill/>
        </p:spPr>
        <p:txBody>
          <a:bodyPr wrap="square" lIns="0" tIns="0" rIns="0" bIns="0" anchor="t"/>
          <a:lstStyle/>
          <a:p>
            <a:pPr algn="r"/>
            <a:r>
              <a:rPr sz="900" b="1" i="0">
                <a:solidFill>
                  <a:srgbClr val="FFFFFF"/>
                </a:solidFill>
                <a:latin typeface="Inter"/>
              </a:rPr>
              <a:t>.28</a:t>
            </a:r>
          </a:p>
        </p:txBody>
      </p:sp>
      <p:sp>
        <p:nvSpPr>
          <p:cNvPr id="15" name="TextBox 14"/>
          <p:cNvSpPr txBox="1"/>
          <p:nvPr/>
        </p:nvSpPr>
        <p:spPr>
          <a:xfrm>
            <a:off x="804672" y="3172968"/>
            <a:ext cx="1417320" cy="228600"/>
          </a:xfrm>
          <a:prstGeom prst="rect">
            <a:avLst/>
          </a:prstGeom>
          <a:noFill/>
        </p:spPr>
        <p:txBody>
          <a:bodyPr wrap="square" lIns="0" tIns="0" rIns="0" bIns="0" anchor="t"/>
          <a:lstStyle/>
          <a:p>
            <a:pPr algn="l"/>
            <a:r>
              <a:rPr sz="900" b="0" i="0">
                <a:solidFill>
                  <a:srgbClr val="9CA3AF"/>
                </a:solidFill>
                <a:latin typeface="Inter"/>
              </a:rPr>
              <a:t>Barron's ranking</a:t>
            </a:r>
          </a:p>
        </p:txBody>
      </p:sp>
      <p:sp>
        <p:nvSpPr>
          <p:cNvPr id="16" name="Rectangle 15"/>
          <p:cNvSpPr/>
          <p:nvPr/>
        </p:nvSpPr>
        <p:spPr>
          <a:xfrm>
            <a:off x="2286000" y="3214116"/>
            <a:ext cx="3063240" cy="118872"/>
          </a:xfrm>
          <a:prstGeom prst="rect">
            <a:avLst/>
          </a:prstGeom>
          <a:solidFill>
            <a:srgbClr val="252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286000" y="3214116"/>
            <a:ext cx="2021738" cy="118872"/>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440680" y="3172968"/>
            <a:ext cx="457200" cy="228600"/>
          </a:xfrm>
          <a:prstGeom prst="rect">
            <a:avLst/>
          </a:prstGeom>
          <a:noFill/>
        </p:spPr>
        <p:txBody>
          <a:bodyPr wrap="square" lIns="0" tIns="0" rIns="0" bIns="0" anchor="t"/>
          <a:lstStyle/>
          <a:p>
            <a:pPr algn="r"/>
            <a:r>
              <a:rPr sz="900" b="1" i="0">
                <a:solidFill>
                  <a:srgbClr val="FFFFFF"/>
                </a:solidFill>
                <a:latin typeface="Inter"/>
              </a:rPr>
              <a:t>.24</a:t>
            </a:r>
          </a:p>
        </p:txBody>
      </p:sp>
      <p:sp>
        <p:nvSpPr>
          <p:cNvPr id="19" name="TextBox 18"/>
          <p:cNvSpPr txBox="1"/>
          <p:nvPr/>
        </p:nvSpPr>
        <p:spPr>
          <a:xfrm>
            <a:off x="804672" y="3739896"/>
            <a:ext cx="1417320" cy="228600"/>
          </a:xfrm>
          <a:prstGeom prst="rect">
            <a:avLst/>
          </a:prstGeom>
          <a:noFill/>
        </p:spPr>
        <p:txBody>
          <a:bodyPr wrap="square" lIns="0" tIns="0" rIns="0" bIns="0" anchor="t"/>
          <a:lstStyle/>
          <a:p>
            <a:pPr algn="l"/>
            <a:r>
              <a:rPr sz="900" b="0" i="0">
                <a:solidFill>
                  <a:srgbClr val="9CA3AF"/>
                </a:solidFill>
                <a:latin typeface="Inter"/>
              </a:rPr>
              <a:t>Home office list</a:t>
            </a:r>
          </a:p>
        </p:txBody>
      </p:sp>
      <p:sp>
        <p:nvSpPr>
          <p:cNvPr id="20" name="Rectangle 19"/>
          <p:cNvSpPr/>
          <p:nvPr/>
        </p:nvSpPr>
        <p:spPr>
          <a:xfrm>
            <a:off x="2286000" y="3781044"/>
            <a:ext cx="3063240" cy="118872"/>
          </a:xfrm>
          <a:prstGeom prst="rect">
            <a:avLst/>
          </a:prstGeom>
          <a:solidFill>
            <a:srgbClr val="252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286000" y="3781044"/>
            <a:ext cx="1684782" cy="118872"/>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40680" y="3739896"/>
            <a:ext cx="457200" cy="228600"/>
          </a:xfrm>
          <a:prstGeom prst="rect">
            <a:avLst/>
          </a:prstGeom>
          <a:noFill/>
        </p:spPr>
        <p:txBody>
          <a:bodyPr wrap="square" lIns="0" tIns="0" rIns="0" bIns="0" anchor="t"/>
          <a:lstStyle/>
          <a:p>
            <a:pPr algn="r"/>
            <a:r>
              <a:rPr sz="900" b="1" i="0">
                <a:solidFill>
                  <a:srgbClr val="FFFFFF"/>
                </a:solidFill>
                <a:latin typeface="Inter"/>
              </a:rPr>
              <a:t>.19</a:t>
            </a:r>
          </a:p>
        </p:txBody>
      </p:sp>
      <p:sp>
        <p:nvSpPr>
          <p:cNvPr id="23" name="TextBox 22"/>
          <p:cNvSpPr txBox="1"/>
          <p:nvPr/>
        </p:nvSpPr>
        <p:spPr>
          <a:xfrm>
            <a:off x="804672" y="4306824"/>
            <a:ext cx="1417320" cy="228600"/>
          </a:xfrm>
          <a:prstGeom prst="rect">
            <a:avLst/>
          </a:prstGeom>
          <a:noFill/>
        </p:spPr>
        <p:txBody>
          <a:bodyPr wrap="square" lIns="0" tIns="0" rIns="0" bIns="0" anchor="t"/>
          <a:lstStyle/>
          <a:p>
            <a:pPr algn="l"/>
            <a:r>
              <a:rPr sz="900" b="0" i="0">
                <a:solidFill>
                  <a:srgbClr val="9CA3AF"/>
                </a:solidFill>
                <a:latin typeface="Inter"/>
              </a:rPr>
              <a:t>Prior BD AUM</a:t>
            </a:r>
          </a:p>
        </p:txBody>
      </p:sp>
      <p:sp>
        <p:nvSpPr>
          <p:cNvPr id="24" name="Rectangle 23"/>
          <p:cNvSpPr/>
          <p:nvPr/>
        </p:nvSpPr>
        <p:spPr>
          <a:xfrm>
            <a:off x="2286000" y="4347972"/>
            <a:ext cx="3063240" cy="118872"/>
          </a:xfrm>
          <a:prstGeom prst="rect">
            <a:avLst/>
          </a:prstGeom>
          <a:solidFill>
            <a:srgbClr val="252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286000" y="4347972"/>
            <a:ext cx="1286560" cy="118872"/>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440680" y="4306824"/>
            <a:ext cx="457200" cy="228600"/>
          </a:xfrm>
          <a:prstGeom prst="rect">
            <a:avLst/>
          </a:prstGeom>
          <a:noFill/>
        </p:spPr>
        <p:txBody>
          <a:bodyPr wrap="square" lIns="0" tIns="0" rIns="0" bIns="0" anchor="t"/>
          <a:lstStyle/>
          <a:p>
            <a:pPr algn="r"/>
            <a:r>
              <a:rPr sz="900" b="1" i="0">
                <a:solidFill>
                  <a:srgbClr val="FFFFFF"/>
                </a:solidFill>
                <a:latin typeface="Inter"/>
              </a:rPr>
              <a:t>.14</a:t>
            </a:r>
          </a:p>
        </p:txBody>
      </p:sp>
      <p:sp>
        <p:nvSpPr>
          <p:cNvPr id="27" name="TextBox 26"/>
          <p:cNvSpPr txBox="1"/>
          <p:nvPr/>
        </p:nvSpPr>
        <p:spPr>
          <a:xfrm>
            <a:off x="804672" y="4873752"/>
            <a:ext cx="1417320" cy="228600"/>
          </a:xfrm>
          <a:prstGeom prst="rect">
            <a:avLst/>
          </a:prstGeom>
          <a:noFill/>
        </p:spPr>
        <p:txBody>
          <a:bodyPr wrap="square" lIns="0" tIns="0" rIns="0" bIns="0" anchor="t"/>
          <a:lstStyle/>
          <a:p>
            <a:pPr algn="l"/>
            <a:r>
              <a:rPr sz="900" b="0" i="0">
                <a:solidFill>
                  <a:srgbClr val="9CA3AF"/>
                </a:solidFill>
                <a:latin typeface="Inter"/>
              </a:rPr>
              <a:t>Designations</a:t>
            </a:r>
          </a:p>
        </p:txBody>
      </p:sp>
      <p:sp>
        <p:nvSpPr>
          <p:cNvPr id="28" name="Rectangle 27"/>
          <p:cNvSpPr/>
          <p:nvPr/>
        </p:nvSpPr>
        <p:spPr>
          <a:xfrm>
            <a:off x="2286000" y="4914900"/>
            <a:ext cx="3063240" cy="118872"/>
          </a:xfrm>
          <a:prstGeom prst="rect">
            <a:avLst/>
          </a:prstGeom>
          <a:solidFill>
            <a:srgbClr val="252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2286000" y="4914900"/>
            <a:ext cx="980236" cy="118872"/>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40680" y="4873752"/>
            <a:ext cx="457200" cy="228600"/>
          </a:xfrm>
          <a:prstGeom prst="rect">
            <a:avLst/>
          </a:prstGeom>
          <a:noFill/>
        </p:spPr>
        <p:txBody>
          <a:bodyPr wrap="square" lIns="0" tIns="0" rIns="0" bIns="0" anchor="t"/>
          <a:lstStyle/>
          <a:p>
            <a:pPr algn="r"/>
            <a:r>
              <a:rPr sz="900" b="1" i="0">
                <a:solidFill>
                  <a:srgbClr val="FFFFFF"/>
                </a:solidFill>
                <a:latin typeface="Inter"/>
              </a:rPr>
              <a:t>.10</a:t>
            </a:r>
          </a:p>
        </p:txBody>
      </p:sp>
      <p:sp>
        <p:nvSpPr>
          <p:cNvPr id="31" name="TextBox 30"/>
          <p:cNvSpPr txBox="1"/>
          <p:nvPr/>
        </p:nvSpPr>
        <p:spPr>
          <a:xfrm>
            <a:off x="804672" y="5440680"/>
            <a:ext cx="1417320" cy="228600"/>
          </a:xfrm>
          <a:prstGeom prst="rect">
            <a:avLst/>
          </a:prstGeom>
          <a:noFill/>
        </p:spPr>
        <p:txBody>
          <a:bodyPr wrap="square" lIns="0" tIns="0" rIns="0" bIns="0" anchor="t"/>
          <a:lstStyle/>
          <a:p>
            <a:pPr algn="l"/>
            <a:r>
              <a:rPr sz="900" b="0" i="0">
                <a:solidFill>
                  <a:srgbClr val="9CA3AF"/>
                </a:solidFill>
                <a:latin typeface="Inter"/>
              </a:rPr>
              <a:t>Focus areas</a:t>
            </a:r>
          </a:p>
        </p:txBody>
      </p:sp>
      <p:sp>
        <p:nvSpPr>
          <p:cNvPr id="32" name="Rectangle 31"/>
          <p:cNvSpPr/>
          <p:nvPr/>
        </p:nvSpPr>
        <p:spPr>
          <a:xfrm>
            <a:off x="2286000" y="5481828"/>
            <a:ext cx="3063240" cy="118872"/>
          </a:xfrm>
          <a:prstGeom prst="rect">
            <a:avLst/>
          </a:prstGeom>
          <a:solidFill>
            <a:srgbClr val="252E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2286000" y="5481828"/>
            <a:ext cx="551383" cy="118872"/>
          </a:xfrm>
          <a:prstGeom prst="rect">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440680" y="5440680"/>
            <a:ext cx="457200" cy="228600"/>
          </a:xfrm>
          <a:prstGeom prst="rect">
            <a:avLst/>
          </a:prstGeom>
          <a:noFill/>
        </p:spPr>
        <p:txBody>
          <a:bodyPr wrap="square" lIns="0" tIns="0" rIns="0" bIns="0" anchor="t"/>
          <a:lstStyle/>
          <a:p>
            <a:pPr algn="r"/>
            <a:r>
              <a:rPr sz="900" b="1" i="0">
                <a:solidFill>
                  <a:srgbClr val="FFFFFF"/>
                </a:solidFill>
                <a:latin typeface="Inter"/>
              </a:rPr>
              <a:t>.05</a:t>
            </a:r>
          </a:p>
        </p:txBody>
      </p:sp>
      <p:sp>
        <p:nvSpPr>
          <p:cNvPr id="35" name="Rounded Rectangle 34"/>
          <p:cNvSpPr/>
          <p:nvPr/>
        </p:nvSpPr>
        <p:spPr>
          <a:xfrm>
            <a:off x="6400800" y="1965960"/>
            <a:ext cx="5239512" cy="4297680"/>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656832" y="2176272"/>
            <a:ext cx="4754880" cy="274320"/>
          </a:xfrm>
          <a:prstGeom prst="rect">
            <a:avLst/>
          </a:prstGeom>
          <a:noFill/>
        </p:spPr>
        <p:txBody>
          <a:bodyPr wrap="square" lIns="0" tIns="0" rIns="0" bIns="0" anchor="t"/>
          <a:lstStyle/>
          <a:p>
            <a:pPr algn="l"/>
            <a:r>
              <a:rPr sz="850" b="1" i="0" spc="150">
                <a:solidFill>
                  <a:srgbClr val="31C48D"/>
                </a:solidFill>
                <a:latin typeface="Inter"/>
              </a:rPr>
              <a:t>AMERIPRISE OFFICE ALLOCATION</a:t>
            </a:r>
          </a:p>
        </p:txBody>
      </p:sp>
      <p:sp>
        <p:nvSpPr>
          <p:cNvPr id="37" name="TextBox 36"/>
          <p:cNvSpPr txBox="1"/>
          <p:nvPr/>
        </p:nvSpPr>
        <p:spPr>
          <a:xfrm>
            <a:off x="6656832" y="2395728"/>
            <a:ext cx="4754880" cy="365760"/>
          </a:xfrm>
          <a:prstGeom prst="rect">
            <a:avLst/>
          </a:prstGeom>
          <a:noFill/>
        </p:spPr>
        <p:txBody>
          <a:bodyPr wrap="square" lIns="0" tIns="0" rIns="0" bIns="0" anchor="t"/>
          <a:lstStyle/>
          <a:p>
            <a:pPr algn="l">
              <a:lnSpc>
                <a:spcPct val="110000"/>
              </a:lnSpc>
            </a:pPr>
            <a:r>
              <a:rPr sz="850" b="0" i="1">
                <a:solidFill>
                  <a:srgbClr val="6B7280"/>
                </a:solidFill>
                <a:latin typeface="Inter"/>
              </a:rPr>
              <a:t>Office totals allocated across individual FAs using the weighted signal profile.</a:t>
            </a:r>
          </a:p>
        </p:txBody>
      </p:sp>
      <p:cxnSp>
        <p:nvCxnSpPr>
          <p:cNvPr id="38" name="Connector 37"/>
          <p:cNvCxnSpPr/>
          <p:nvPr/>
        </p:nvCxnSpPr>
        <p:spPr>
          <a:xfrm flipV="1">
            <a:off x="7863840" y="3145536"/>
            <a:ext cx="1783080" cy="1330452"/>
          </a:xfrm>
          <a:prstGeom prst="curvedConnector3">
            <a:avLst/>
          </a:prstGeom>
          <a:ln w="22860">
            <a:solidFill>
              <a:srgbClr val="26886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7863840" y="4005072"/>
            <a:ext cx="1783080" cy="470916"/>
          </a:xfrm>
          <a:prstGeom prst="curvedConnector3">
            <a:avLst/>
          </a:prstGeom>
          <a:ln w="22860">
            <a:solidFill>
              <a:srgbClr val="26886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863840" y="4475988"/>
            <a:ext cx="1783080" cy="388619"/>
          </a:xfrm>
          <a:prstGeom prst="curvedConnector3">
            <a:avLst/>
          </a:prstGeom>
          <a:ln w="22860">
            <a:solidFill>
              <a:srgbClr val="26886A"/>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7863840" y="4475988"/>
            <a:ext cx="1783080" cy="1248156"/>
          </a:xfrm>
          <a:prstGeom prst="curvedConnector3">
            <a:avLst/>
          </a:prstGeom>
          <a:ln w="22860">
            <a:solidFill>
              <a:srgbClr val="26886A"/>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9646920" y="2907792"/>
            <a:ext cx="1737360" cy="475488"/>
          </a:xfrm>
          <a:prstGeom prst="roundRect">
            <a:avLst>
              <a:gd name="adj" fmla="val 12000"/>
            </a:avLst>
          </a:prstGeom>
          <a:solidFill>
            <a:srgbClr val="1E5D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Inter"/>
              </a:rPr>
              <a:t>Chen · $210M</a:t>
            </a:r>
          </a:p>
        </p:txBody>
      </p:sp>
      <p:sp>
        <p:nvSpPr>
          <p:cNvPr id="43" name="Rounded Rectangle 42"/>
          <p:cNvSpPr/>
          <p:nvPr/>
        </p:nvSpPr>
        <p:spPr>
          <a:xfrm>
            <a:off x="9646920" y="3767328"/>
            <a:ext cx="1737360" cy="475488"/>
          </a:xfrm>
          <a:prstGeom prst="roundRect">
            <a:avLst>
              <a:gd name="adj" fmla="val 12000"/>
            </a:avLst>
          </a:prstGeom>
          <a:solidFill>
            <a:srgbClr val="1C564C"/>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Inter"/>
              </a:rPr>
              <a:t>Park · $175M</a:t>
            </a:r>
          </a:p>
        </p:txBody>
      </p:sp>
      <p:sp>
        <p:nvSpPr>
          <p:cNvPr id="44" name="Rounded Rectangle 43"/>
          <p:cNvSpPr/>
          <p:nvPr/>
        </p:nvSpPr>
        <p:spPr>
          <a:xfrm>
            <a:off x="9646920" y="4626864"/>
            <a:ext cx="1737360" cy="475488"/>
          </a:xfrm>
          <a:prstGeom prst="roundRect">
            <a:avLst>
              <a:gd name="adj" fmla="val 12000"/>
            </a:avLst>
          </a:prstGeom>
          <a:solidFill>
            <a:srgbClr val="1B4F48"/>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Inter"/>
              </a:rPr>
              <a:t>Reid · $135M</a:t>
            </a:r>
          </a:p>
        </p:txBody>
      </p:sp>
      <p:sp>
        <p:nvSpPr>
          <p:cNvPr id="45" name="Rounded Rectangle 44"/>
          <p:cNvSpPr/>
          <p:nvPr/>
        </p:nvSpPr>
        <p:spPr>
          <a:xfrm>
            <a:off x="9646920" y="5486400"/>
            <a:ext cx="1737360" cy="475488"/>
          </a:xfrm>
          <a:prstGeom prst="roundRect">
            <a:avLst>
              <a:gd name="adj" fmla="val 12000"/>
            </a:avLst>
          </a:prstGeom>
          <a:solidFill>
            <a:srgbClr val="1A4844"/>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950" b="1">
                <a:solidFill>
                  <a:srgbClr val="FFFFFF"/>
                </a:solidFill>
                <a:latin typeface="Inter"/>
              </a:rPr>
              <a:t>others · $105M</a:t>
            </a:r>
          </a:p>
        </p:txBody>
      </p:sp>
      <p:sp>
        <p:nvSpPr>
          <p:cNvPr id="46" name="Rounded Rectangle 45"/>
          <p:cNvSpPr/>
          <p:nvPr/>
        </p:nvSpPr>
        <p:spPr>
          <a:xfrm>
            <a:off x="6812280" y="3950208"/>
            <a:ext cx="1051560" cy="1051560"/>
          </a:xfrm>
          <a:prstGeom prst="roundRect">
            <a:avLst>
              <a:gd name="adj" fmla="val 8000"/>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1100" b="1">
                <a:solidFill>
                  <a:srgbClr val="FFFFFF"/>
                </a:solidFill>
                <a:latin typeface="Inter"/>
              </a:rPr>
              <a:t>Office</a:t>
            </a:r>
          </a:p>
          <a:p>
            <a:pPr algn="ctr"/>
            <a:r>
              <a:rPr sz="1000">
                <a:solidFill>
                  <a:srgbClr val="FFFFFF"/>
                </a:solidFill>
                <a:latin typeface="Inter"/>
              </a:rPr>
              <a:t>$625M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4</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Ameriprise: no direct pack subscribed</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1000" b="0" i="0">
                <a:solidFill>
                  <a:srgbClr val="6B7280"/>
                </a:solidFill>
                <a:latin typeface="Inter"/>
              </a:rPr>
              <a:t>Ingestion</a:t>
            </a:r>
            <a:r>
              <a:rPr sz="950" b="0" i="0">
                <a:solidFill>
                  <a:srgbClr val="6B7280"/>
                </a:solidFill>
                <a:latin typeface="Inter"/>
              </a:rPr>
              <a:t>  →  </a:t>
            </a:r>
            <a:r>
              <a:rPr sz="1000" b="0" i="0">
                <a:solidFill>
                  <a:srgbClr val="6B7280"/>
                </a:solidFill>
                <a:latin typeface="Inter"/>
              </a:rPr>
              <a:t>Normalize</a:t>
            </a:r>
            <a:r>
              <a:rPr sz="950" b="0" i="0">
                <a:solidFill>
                  <a:srgbClr val="6B7280"/>
                </a:solidFill>
                <a:latin typeface="Inter"/>
              </a:rPr>
              <a:t>  →  </a:t>
            </a:r>
            <a:r>
              <a:rPr sz="1000" b="0" i="0">
                <a:solidFill>
                  <a:srgbClr val="6B7280"/>
                </a:solidFill>
                <a:latin typeface="Inter"/>
              </a:rPr>
              <a:t>Synthesize</a:t>
            </a:r>
            <a:r>
              <a:rPr sz="950" b="0" i="0">
                <a:solidFill>
                  <a:srgbClr val="6B7280"/>
                </a:solidFill>
                <a:latin typeface="Inter"/>
              </a:rPr>
              <a:t>  →  </a:t>
            </a:r>
            <a:r>
              <a:rPr sz="1000" b="1" i="0">
                <a:solidFill>
                  <a:srgbClr val="31C48D"/>
                </a:solidFill>
                <a:latin typeface="Inter"/>
              </a:rPr>
              <a:t>Attribute</a:t>
            </a:r>
            <a:r>
              <a:rPr sz="950" b="0" i="0">
                <a:solidFill>
                  <a:srgbClr val="6B7280"/>
                </a:solidFill>
                <a:latin typeface="Inter"/>
              </a:rPr>
              <a:t>  →  </a:t>
            </a:r>
            <a:r>
              <a:rPr sz="1000" b="0" i="0">
                <a:solidFill>
                  <a:srgbClr val="6B7280"/>
                </a:solidFill>
                <a:latin typeface="Inter"/>
              </a:rPr>
              <a:t>Deliver</a:t>
            </a:r>
          </a:p>
        </p:txBody>
      </p:sp>
      <p:sp>
        <p:nvSpPr>
          <p:cNvPr id="6" name="TextBox 5"/>
          <p:cNvSpPr txBox="1"/>
          <p:nvPr/>
        </p:nvSpPr>
        <p:spPr>
          <a:xfrm>
            <a:off x="548640" y="1261872"/>
            <a:ext cx="11064240" cy="777240"/>
          </a:xfrm>
          <a:prstGeom prst="rect">
            <a:avLst/>
          </a:prstGeom>
          <a:noFill/>
        </p:spPr>
        <p:txBody>
          <a:bodyPr wrap="square" lIns="0" tIns="0" rIns="0" bIns="0" anchor="t"/>
          <a:lstStyle/>
          <a:p>
            <a:pPr algn="l">
              <a:lnSpc>
                <a:spcPct val="125000"/>
              </a:lnSpc>
            </a:pPr>
            <a:r>
              <a:rPr sz="1150" b="0" i="0">
                <a:solidFill>
                  <a:srgbClr val="9CA3AF"/>
                </a:solidFill>
                <a:latin typeface="Inter"/>
              </a:rPr>
              <a:t>The client does not subscribe to an Ameriprise-direct pack, so Field builds the Ameriprise view from consortium and public sources. The goal is not to replicate a real Ameriprise pack, but to organize what IS available into the same grain as directly covered firms so wholesalers can navigate their whole territory in one place.</a:t>
            </a:r>
          </a:p>
        </p:txBody>
      </p:sp>
      <p:sp>
        <p:nvSpPr>
          <p:cNvPr id="7" name="TextBox 6"/>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15</a:t>
            </a:r>
          </a:p>
        </p:txBody>
      </p:sp>
      <p:sp>
        <p:nvSpPr>
          <p:cNvPr id="9" name="Rounded Rectangle 8"/>
          <p:cNvSpPr/>
          <p:nvPr/>
        </p:nvSpPr>
        <p:spPr>
          <a:xfrm>
            <a:off x="548640" y="2121408"/>
            <a:ext cx="11091672" cy="512064"/>
          </a:xfrm>
          <a:prstGeom prst="roundRect">
            <a:avLst>
              <a:gd name="adj" fmla="val 8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49808" y="2240279"/>
            <a:ext cx="274320" cy="274320"/>
          </a:xfrm>
          <a:prstGeom prst="roundRect">
            <a:avLst>
              <a:gd name="adj" fmla="val 50000"/>
            </a:avLst>
          </a:prstGeom>
          <a:solidFill>
            <a:srgbClr val="103637"/>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31C48D"/>
                </a:solidFill>
                <a:latin typeface="Inter"/>
              </a:rPr>
              <a:t>1</a:t>
            </a:r>
          </a:p>
        </p:txBody>
      </p:sp>
      <p:sp>
        <p:nvSpPr>
          <p:cNvPr id="11" name="TextBox 10"/>
          <p:cNvSpPr txBox="1"/>
          <p:nvPr/>
        </p:nvSpPr>
        <p:spPr>
          <a:xfrm>
            <a:off x="1234440" y="2212848"/>
            <a:ext cx="10149840" cy="365760"/>
          </a:xfrm>
          <a:prstGeom prst="rect">
            <a:avLst/>
          </a:prstGeom>
          <a:noFill/>
        </p:spPr>
        <p:txBody>
          <a:bodyPr wrap="square" lIns="0" tIns="0" rIns="0" bIns="0" anchor="t"/>
          <a:lstStyle/>
          <a:p>
            <a:pPr algn="l">
              <a:lnSpc>
                <a:spcPct val="112000"/>
              </a:lnSpc>
            </a:pPr>
            <a:r>
              <a:rPr sz="1000" b="1" i="0">
                <a:solidFill>
                  <a:srgbClr val="FFFFFF"/>
                </a:solidFill>
                <a:latin typeface="Inter"/>
              </a:rPr>
              <a:t>Primary AUM source: SS&amp;C Office and Teams.  </a:t>
            </a:r>
            <a:r>
              <a:rPr sz="950" b="0" i="0">
                <a:solidFill>
                  <a:srgbClr val="9CA3AF"/>
                </a:solidFill>
                <a:latin typeface="Inter"/>
              </a:rPr>
              <a:t>for mutual funds (both cover Ameriprise offices at office and team grain). Broadridge for ETF at office grain.</a:t>
            </a:r>
          </a:p>
        </p:txBody>
      </p:sp>
      <p:sp>
        <p:nvSpPr>
          <p:cNvPr id="12" name="Rounded Rectangle 11"/>
          <p:cNvSpPr/>
          <p:nvPr/>
        </p:nvSpPr>
        <p:spPr>
          <a:xfrm>
            <a:off x="548640" y="2724912"/>
            <a:ext cx="11091672" cy="512064"/>
          </a:xfrm>
          <a:prstGeom prst="roundRect">
            <a:avLst>
              <a:gd name="adj" fmla="val 8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749808" y="2843784"/>
            <a:ext cx="274320" cy="274320"/>
          </a:xfrm>
          <a:prstGeom prst="roundRect">
            <a:avLst>
              <a:gd name="adj" fmla="val 50000"/>
            </a:avLst>
          </a:prstGeom>
          <a:solidFill>
            <a:srgbClr val="103637"/>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31C48D"/>
                </a:solidFill>
                <a:latin typeface="Inter"/>
              </a:rPr>
              <a:t>2</a:t>
            </a:r>
          </a:p>
        </p:txBody>
      </p:sp>
      <p:sp>
        <p:nvSpPr>
          <p:cNvPr id="14" name="TextBox 13"/>
          <p:cNvSpPr txBox="1"/>
          <p:nvPr/>
        </p:nvSpPr>
        <p:spPr>
          <a:xfrm>
            <a:off x="1234440" y="2816352"/>
            <a:ext cx="10149840" cy="365760"/>
          </a:xfrm>
          <a:prstGeom prst="rect">
            <a:avLst/>
          </a:prstGeom>
          <a:noFill/>
        </p:spPr>
        <p:txBody>
          <a:bodyPr wrap="square" lIns="0" tIns="0" rIns="0" bIns="0" anchor="t"/>
          <a:lstStyle/>
          <a:p>
            <a:pPr algn="l">
              <a:lnSpc>
                <a:spcPct val="112000"/>
              </a:lnSpc>
            </a:pPr>
            <a:r>
              <a:rPr sz="1000" b="1" i="0">
                <a:solidFill>
                  <a:srgbClr val="FFFFFF"/>
                </a:solidFill>
                <a:latin typeface="Inter"/>
              </a:rPr>
              <a:t>Push down to individual advisors.  </a:t>
            </a:r>
            <a:r>
              <a:rPr sz="950" b="0" i="0">
                <a:solidFill>
                  <a:srgbClr val="9CA3AF"/>
                </a:solidFill>
                <a:latin typeface="Inter"/>
              </a:rPr>
              <a:t>the ML Attribution Engine allocates office and team totals across the individual FAs at each Ameriprise office using multi-signal profiling.</a:t>
            </a:r>
          </a:p>
        </p:txBody>
      </p:sp>
      <p:sp>
        <p:nvSpPr>
          <p:cNvPr id="15" name="Rounded Rectangle 14"/>
          <p:cNvSpPr/>
          <p:nvPr/>
        </p:nvSpPr>
        <p:spPr>
          <a:xfrm>
            <a:off x="548640" y="3328416"/>
            <a:ext cx="11091672" cy="676656"/>
          </a:xfrm>
          <a:prstGeom prst="roundRect">
            <a:avLst>
              <a:gd name="adj" fmla="val 8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49808" y="3529584"/>
            <a:ext cx="274320" cy="274320"/>
          </a:xfrm>
          <a:prstGeom prst="roundRect">
            <a:avLst>
              <a:gd name="adj" fmla="val 50000"/>
            </a:avLst>
          </a:prstGeom>
          <a:solidFill>
            <a:srgbClr val="103637"/>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31C48D"/>
                </a:solidFill>
                <a:latin typeface="Inter"/>
              </a:rPr>
              <a:t>3</a:t>
            </a:r>
          </a:p>
        </p:txBody>
      </p:sp>
      <p:sp>
        <p:nvSpPr>
          <p:cNvPr id="17" name="TextBox 16"/>
          <p:cNvSpPr txBox="1"/>
          <p:nvPr/>
        </p:nvSpPr>
        <p:spPr>
          <a:xfrm>
            <a:off x="1234440" y="3419856"/>
            <a:ext cx="10149840" cy="530352"/>
          </a:xfrm>
          <a:prstGeom prst="rect">
            <a:avLst/>
          </a:prstGeom>
          <a:noFill/>
        </p:spPr>
        <p:txBody>
          <a:bodyPr wrap="square" lIns="0" tIns="0" rIns="0" bIns="0" anchor="t"/>
          <a:lstStyle/>
          <a:p>
            <a:pPr algn="l">
              <a:lnSpc>
                <a:spcPct val="112000"/>
              </a:lnSpc>
            </a:pPr>
            <a:r>
              <a:rPr sz="1000" b="1" i="0">
                <a:solidFill>
                  <a:srgbClr val="FFFFFF"/>
                </a:solidFill>
                <a:latin typeface="Inter"/>
              </a:rPr>
              <a:t>Highest-value signals.  </a:t>
            </a:r>
            <a:r>
              <a:rPr sz="950" b="0" i="0">
                <a:solidFill>
                  <a:srgbClr val="9CA3AF"/>
                </a:solidFill>
                <a:latin typeface="Inter"/>
              </a:rPr>
              <a:t>home office producer lists (Ameriprise Top Producers, if the client shares them), web-scraped rosters, FINRA BrokerCheck (tenure, prior BD employment, licenses), and public rankings (Barron's, Forbes/Shook).</a:t>
            </a:r>
          </a:p>
        </p:txBody>
      </p:sp>
      <p:sp>
        <p:nvSpPr>
          <p:cNvPr id="18" name="Rounded Rectangle 17"/>
          <p:cNvSpPr/>
          <p:nvPr/>
        </p:nvSpPr>
        <p:spPr>
          <a:xfrm>
            <a:off x="548640" y="4096512"/>
            <a:ext cx="11091672" cy="786384"/>
          </a:xfrm>
          <a:prstGeom prst="roundRect">
            <a:avLst>
              <a:gd name="adj" fmla="val 8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49808" y="4352544"/>
            <a:ext cx="274320" cy="274320"/>
          </a:xfrm>
          <a:prstGeom prst="roundRect">
            <a:avLst>
              <a:gd name="adj" fmla="val 50000"/>
            </a:avLst>
          </a:prstGeom>
          <a:solidFill>
            <a:srgbClr val="103637"/>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31C48D"/>
                </a:solidFill>
                <a:latin typeface="Inter"/>
              </a:rPr>
              <a:t>4</a:t>
            </a:r>
          </a:p>
        </p:txBody>
      </p:sp>
      <p:sp>
        <p:nvSpPr>
          <p:cNvPr id="20" name="TextBox 19"/>
          <p:cNvSpPr txBox="1"/>
          <p:nvPr/>
        </p:nvSpPr>
        <p:spPr>
          <a:xfrm>
            <a:off x="1234440" y="4187952"/>
            <a:ext cx="10149840" cy="640080"/>
          </a:xfrm>
          <a:prstGeom prst="rect">
            <a:avLst/>
          </a:prstGeom>
          <a:noFill/>
        </p:spPr>
        <p:txBody>
          <a:bodyPr wrap="square" lIns="0" tIns="0" rIns="0" bIns="0" anchor="t"/>
          <a:lstStyle/>
          <a:p>
            <a:pPr algn="l">
              <a:lnSpc>
                <a:spcPct val="112000"/>
              </a:lnSpc>
            </a:pPr>
            <a:r>
              <a:rPr sz="1000" b="1" i="0">
                <a:solidFill>
                  <a:srgbClr val="FFFFFF"/>
                </a:solidFill>
                <a:latin typeface="Inter"/>
              </a:rPr>
              <a:t>Confidence flag varies by signal quality.  </a:t>
            </a:r>
            <a:r>
              <a:rPr sz="950" b="0" i="0">
                <a:solidFill>
                  <a:srgbClr val="9CA3AF"/>
                </a:solidFill>
                <a:latin typeface="Inter"/>
              </a:rPr>
              <a:t>a small branch with 12 advisors, a Top Producer list, and strong web-scraped signals produces higher-confidence FA-level attributions than a large office with sparse signals. Every row carries row_derivation_confidence reflecting signal quality at that office.</a:t>
            </a:r>
          </a:p>
        </p:txBody>
      </p:sp>
      <p:sp>
        <p:nvSpPr>
          <p:cNvPr id="21" name="Rounded Rectangle 20"/>
          <p:cNvSpPr/>
          <p:nvPr/>
        </p:nvSpPr>
        <p:spPr>
          <a:xfrm>
            <a:off x="548640" y="4974336"/>
            <a:ext cx="11091672" cy="822960"/>
          </a:xfrm>
          <a:prstGeom prst="roundRect">
            <a:avLst>
              <a:gd name="adj" fmla="val 8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749808" y="5248656"/>
            <a:ext cx="274320" cy="274320"/>
          </a:xfrm>
          <a:prstGeom prst="roundRect">
            <a:avLst>
              <a:gd name="adj" fmla="val 50000"/>
            </a:avLst>
          </a:prstGeom>
          <a:solidFill>
            <a:srgbClr val="103637"/>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000" b="1">
                <a:solidFill>
                  <a:srgbClr val="31C48D"/>
                </a:solidFill>
                <a:latin typeface="Inter"/>
              </a:rPr>
              <a:t>→</a:t>
            </a:r>
          </a:p>
        </p:txBody>
      </p:sp>
      <p:sp>
        <p:nvSpPr>
          <p:cNvPr id="23" name="TextBox 22"/>
          <p:cNvSpPr txBox="1"/>
          <p:nvPr/>
        </p:nvSpPr>
        <p:spPr>
          <a:xfrm>
            <a:off x="1234440" y="5065776"/>
            <a:ext cx="10149840" cy="676656"/>
          </a:xfrm>
          <a:prstGeom prst="rect">
            <a:avLst/>
          </a:prstGeom>
          <a:noFill/>
        </p:spPr>
        <p:txBody>
          <a:bodyPr wrap="square" lIns="0" tIns="0" rIns="0" bIns="0" anchor="t"/>
          <a:lstStyle/>
          <a:p>
            <a:pPr algn="l">
              <a:lnSpc>
                <a:spcPct val="112000"/>
              </a:lnSpc>
            </a:pPr>
            <a:r>
              <a:rPr sz="1000" b="1" i="0">
                <a:solidFill>
                  <a:srgbClr val="FFFFFF"/>
                </a:solidFill>
                <a:latin typeface="Inter"/>
              </a:rPr>
              <a:t>Result.  </a:t>
            </a:r>
            <a:r>
              <a:rPr sz="950" b="0" i="0">
                <a:solidFill>
                  <a:srgbClr val="9CA3AF"/>
                </a:solidFill>
                <a:latin typeface="Inter"/>
              </a:rPr>
              <a:t>FA-grain estimates for every Ameriprise advisor, tagged Attributed, with the weight vector preserved so a wholesaler questioning any number can query why an advisor received the allocation they did. Not a substitute for a true Ameriprise data pack, but the best-organized view we can produce from the intelligence available.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4</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Crosswalks: one taxonomy for every pack</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1000" b="0" i="0">
                <a:solidFill>
                  <a:srgbClr val="6B7280"/>
                </a:solidFill>
                <a:latin typeface="Inter"/>
              </a:rPr>
              <a:t>Ingestion</a:t>
            </a:r>
            <a:r>
              <a:rPr sz="950" b="0" i="0">
                <a:solidFill>
                  <a:srgbClr val="6B7280"/>
                </a:solidFill>
                <a:latin typeface="Inter"/>
              </a:rPr>
              <a:t>  →  </a:t>
            </a:r>
            <a:r>
              <a:rPr sz="1000" b="0" i="0">
                <a:solidFill>
                  <a:srgbClr val="6B7280"/>
                </a:solidFill>
                <a:latin typeface="Inter"/>
              </a:rPr>
              <a:t>Normalize</a:t>
            </a:r>
            <a:r>
              <a:rPr sz="950" b="0" i="0">
                <a:solidFill>
                  <a:srgbClr val="6B7280"/>
                </a:solidFill>
                <a:latin typeface="Inter"/>
              </a:rPr>
              <a:t>  →  </a:t>
            </a:r>
            <a:r>
              <a:rPr sz="1000" b="0" i="0">
                <a:solidFill>
                  <a:srgbClr val="6B7280"/>
                </a:solidFill>
                <a:latin typeface="Inter"/>
              </a:rPr>
              <a:t>Synthesize</a:t>
            </a:r>
            <a:r>
              <a:rPr sz="950" b="0" i="0">
                <a:solidFill>
                  <a:srgbClr val="6B7280"/>
                </a:solidFill>
                <a:latin typeface="Inter"/>
              </a:rPr>
              <a:t>  →  </a:t>
            </a:r>
            <a:r>
              <a:rPr sz="1000" b="1" i="0">
                <a:solidFill>
                  <a:srgbClr val="31C48D"/>
                </a:solidFill>
                <a:latin typeface="Inter"/>
              </a:rPr>
              <a:t>Attribute</a:t>
            </a:r>
            <a:r>
              <a:rPr sz="950" b="0" i="0">
                <a:solidFill>
                  <a:srgbClr val="6B7280"/>
                </a:solidFill>
                <a:latin typeface="Inter"/>
              </a:rPr>
              <a:t>  →  </a:t>
            </a:r>
            <a:r>
              <a:rPr sz="1000" b="0" i="0">
                <a:solidFill>
                  <a:srgbClr val="6B7280"/>
                </a:solidFill>
                <a:latin typeface="Inter"/>
              </a:rPr>
              <a:t>Deliver</a:t>
            </a:r>
          </a:p>
        </p:txBody>
      </p:sp>
      <p:sp>
        <p:nvSpPr>
          <p:cNvPr id="6" name="TextBox 5"/>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7" name="TextBox 6"/>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16</a:t>
            </a:r>
          </a:p>
        </p:txBody>
      </p:sp>
      <p:sp>
        <p:nvSpPr>
          <p:cNvPr id="8" name="TextBox 7"/>
          <p:cNvSpPr txBox="1"/>
          <p:nvPr/>
        </p:nvSpPr>
        <p:spPr>
          <a:xfrm>
            <a:off x="548640" y="1298448"/>
            <a:ext cx="11064240" cy="685800"/>
          </a:xfrm>
          <a:prstGeom prst="rect">
            <a:avLst/>
          </a:prstGeom>
          <a:noFill/>
        </p:spPr>
        <p:txBody>
          <a:bodyPr wrap="square" lIns="0" tIns="0" rIns="0" bIns="0" anchor="t"/>
          <a:lstStyle/>
          <a:p>
            <a:pPr algn="l">
              <a:lnSpc>
                <a:spcPct val="125000"/>
              </a:lnSpc>
            </a:pPr>
            <a:r>
              <a:rPr sz="1250" b="1" i="0">
                <a:solidFill>
                  <a:srgbClr val="FFFFFF"/>
                </a:solidFill>
                <a:latin typeface="Inter"/>
              </a:rPr>
              <a:t>Asset Class Crosswalk.  </a:t>
            </a:r>
            <a:r>
              <a:rPr sz="1050" b="0" i="0">
                <a:solidFill>
                  <a:srgbClr val="9CA3AF"/>
                </a:solidFill>
                <a:latin typeface="Inter"/>
              </a:rPr>
              <a:t>MS, UBS, and SS&amp;C deliver at Morningstar granular category (~130 categories). LPL delivers at 8 broad asset class buckets. Field crosswalks all to a common Morningstar granular taxonomy.</a:t>
            </a:r>
          </a:p>
        </p:txBody>
      </p:sp>
      <p:sp>
        <p:nvSpPr>
          <p:cNvPr id="9" name="Rounded Rectangle 8"/>
          <p:cNvSpPr/>
          <p:nvPr/>
        </p:nvSpPr>
        <p:spPr>
          <a:xfrm>
            <a:off x="548640" y="2148840"/>
            <a:ext cx="3611880" cy="1572768"/>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313432"/>
            <a:ext cx="3200400" cy="1280160"/>
          </a:xfrm>
          <a:prstGeom prst="rect">
            <a:avLst/>
          </a:prstGeom>
          <a:noFill/>
        </p:spPr>
        <p:txBody>
          <a:bodyPr wrap="square" lIns="0" tIns="0" rIns="0" bIns="0" anchor="t"/>
          <a:lstStyle/>
          <a:p>
            <a:pPr algn="l">
              <a:spcAft>
                <a:spcPts val="300"/>
              </a:spcAft>
            </a:pPr>
            <a:r>
              <a:rPr sz="1150" b="1" i="0">
                <a:solidFill>
                  <a:srgbClr val="FFFFFF"/>
                </a:solidFill>
                <a:latin typeface="Inter"/>
              </a:rPr>
              <a:t>MS / UBS / SS&amp;C</a:t>
            </a:r>
          </a:p>
          <a:p>
            <a:pPr algn="l">
              <a:lnSpc>
                <a:spcPct val="118000"/>
              </a:lnSpc>
            </a:pPr>
            <a:r>
              <a:rPr sz="950" b="0" i="0">
                <a:solidFill>
                  <a:srgbClr val="9CA3AF"/>
                </a:solidFill>
                <a:latin typeface="Inter"/>
              </a:rPr>
              <a:t>Morningstar granular (~130 categories). Passed through unchanged.</a:t>
            </a:r>
          </a:p>
        </p:txBody>
      </p:sp>
      <p:sp>
        <p:nvSpPr>
          <p:cNvPr id="11" name="Rounded Rectangle 10"/>
          <p:cNvSpPr/>
          <p:nvPr/>
        </p:nvSpPr>
        <p:spPr>
          <a:xfrm>
            <a:off x="4370831" y="2148840"/>
            <a:ext cx="3611880" cy="1572768"/>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9431" y="2313432"/>
            <a:ext cx="3200400" cy="1280160"/>
          </a:xfrm>
          <a:prstGeom prst="rect">
            <a:avLst/>
          </a:prstGeom>
          <a:noFill/>
        </p:spPr>
        <p:txBody>
          <a:bodyPr wrap="square" lIns="0" tIns="0" rIns="0" bIns="0" anchor="t"/>
          <a:lstStyle/>
          <a:p>
            <a:pPr algn="l">
              <a:spcAft>
                <a:spcPts val="300"/>
              </a:spcAft>
            </a:pPr>
            <a:r>
              <a:rPr sz="1150" b="1" i="0">
                <a:solidFill>
                  <a:srgbClr val="FFFFFF"/>
                </a:solidFill>
                <a:latin typeface="Inter"/>
              </a:rPr>
              <a:t>LPL</a:t>
            </a:r>
          </a:p>
          <a:p>
            <a:pPr algn="l">
              <a:lnSpc>
                <a:spcPct val="118000"/>
              </a:lnSpc>
            </a:pPr>
            <a:r>
              <a:rPr sz="950" b="0" i="0">
                <a:solidFill>
                  <a:srgbClr val="9CA3AF"/>
                </a:solidFill>
                <a:latin typeface="Inter"/>
              </a:rPr>
              <a:t>Broad Asset Class (8 buckets). Inferred down to Morningstar granular categories using synthesis, with SS&amp;C Office and Broadridge Morningstar-level office detail as the proportional signals.</a:t>
            </a:r>
          </a:p>
        </p:txBody>
      </p:sp>
      <p:sp>
        <p:nvSpPr>
          <p:cNvPr id="13" name="Rounded Rectangle 12"/>
          <p:cNvSpPr/>
          <p:nvPr/>
        </p:nvSpPr>
        <p:spPr>
          <a:xfrm>
            <a:off x="8193023" y="2148840"/>
            <a:ext cx="3611880" cy="1572768"/>
          </a:xfrm>
          <a:prstGeom prst="roundRect">
            <a:avLst>
              <a:gd name="adj" fmla="val 5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21624" y="2313432"/>
            <a:ext cx="3200400" cy="1280160"/>
          </a:xfrm>
          <a:prstGeom prst="rect">
            <a:avLst/>
          </a:prstGeom>
          <a:noFill/>
        </p:spPr>
        <p:txBody>
          <a:bodyPr wrap="square" lIns="0" tIns="0" rIns="0" bIns="0" anchor="t"/>
          <a:lstStyle/>
          <a:p>
            <a:pPr algn="l">
              <a:spcAft>
                <a:spcPts val="300"/>
              </a:spcAft>
            </a:pPr>
            <a:r>
              <a:rPr sz="1150" b="1" i="0">
                <a:solidFill>
                  <a:srgbClr val="FFFFFF"/>
                </a:solidFill>
                <a:latin typeface="Inter"/>
              </a:rPr>
              <a:t>Field taxonomy</a:t>
            </a:r>
          </a:p>
          <a:p>
            <a:pPr algn="l">
              <a:lnSpc>
                <a:spcPct val="118000"/>
              </a:lnSpc>
            </a:pPr>
            <a:r>
              <a:rPr sz="950" b="0" i="0">
                <a:solidFill>
                  <a:srgbClr val="9CA3AF"/>
                </a:solidFill>
                <a:latin typeface="Inter"/>
              </a:rPr>
              <a:t>Every row lands at Morningstar granular category. Broad-AC packs upshifted via synthesis using adjacent granular-category signals. Queries roll up or drill down transparently.</a:t>
            </a:r>
          </a:p>
        </p:txBody>
      </p:sp>
      <p:sp>
        <p:nvSpPr>
          <p:cNvPr id="15" name="TextBox 14"/>
          <p:cNvSpPr txBox="1"/>
          <p:nvPr/>
        </p:nvSpPr>
        <p:spPr>
          <a:xfrm>
            <a:off x="548640" y="4023360"/>
            <a:ext cx="11064240" cy="640080"/>
          </a:xfrm>
          <a:prstGeom prst="rect">
            <a:avLst/>
          </a:prstGeom>
          <a:noFill/>
        </p:spPr>
        <p:txBody>
          <a:bodyPr wrap="square" lIns="0" tIns="0" rIns="0" bIns="0" anchor="t"/>
          <a:lstStyle/>
          <a:p>
            <a:pPr algn="l">
              <a:lnSpc>
                <a:spcPct val="125000"/>
              </a:lnSpc>
            </a:pPr>
            <a:r>
              <a:rPr sz="1250" b="1" i="0">
                <a:solidFill>
                  <a:srgbClr val="FFFFFF"/>
                </a:solidFill>
                <a:latin typeface="Inter"/>
              </a:rPr>
              <a:t>Platform Type Crosswalk.  </a:t>
            </a:r>
            <a:r>
              <a:rPr sz="1050" b="0" i="0">
                <a:solidFill>
                  <a:srgbClr val="9CA3AF"/>
                </a:solidFill>
                <a:latin typeface="Inter"/>
              </a:rPr>
              <a:t>Every pack uses its own platform labels. Field crosswalks to a 3-value taxonomy aligned with how distribution teams think about advisor discretion.</a:t>
            </a:r>
          </a:p>
        </p:txBody>
      </p:sp>
      <p:sp>
        <p:nvSpPr>
          <p:cNvPr id="16" name="Rounded Rectangle 15"/>
          <p:cNvSpPr/>
          <p:nvPr/>
        </p:nvSpPr>
        <p:spPr>
          <a:xfrm>
            <a:off x="548640" y="4800600"/>
            <a:ext cx="3611880" cy="1024128"/>
          </a:xfrm>
          <a:prstGeom prst="roundRect">
            <a:avLst>
              <a:gd name="adj" fmla="val 5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77240" y="4983480"/>
            <a:ext cx="3200400" cy="914400"/>
          </a:xfrm>
          <a:prstGeom prst="rect">
            <a:avLst/>
          </a:prstGeom>
          <a:noFill/>
        </p:spPr>
        <p:txBody>
          <a:bodyPr wrap="square" lIns="0" tIns="0" rIns="0" bIns="0" anchor="t"/>
          <a:lstStyle/>
          <a:p>
            <a:pPr algn="l">
              <a:spcAft>
                <a:spcPts val="300"/>
              </a:spcAft>
            </a:pPr>
            <a:r>
              <a:rPr sz="1150" b="1" i="0">
                <a:solidFill>
                  <a:srgbClr val="FFFFFF"/>
                </a:solidFill>
                <a:latin typeface="Inter"/>
              </a:rPr>
              <a:t>Brokerage</a:t>
            </a:r>
          </a:p>
          <a:p>
            <a:pPr algn="l">
              <a:lnSpc>
                <a:spcPct val="118000"/>
              </a:lnSpc>
            </a:pPr>
            <a:r>
              <a:rPr sz="1000" b="0" i="0">
                <a:solidFill>
                  <a:srgbClr val="9CA3AF"/>
                </a:solidFill>
                <a:latin typeface="Inter"/>
              </a:rPr>
              <a:t>Client owns the buy/sell decision. Advisor has influence.</a:t>
            </a:r>
          </a:p>
        </p:txBody>
      </p:sp>
      <p:sp>
        <p:nvSpPr>
          <p:cNvPr id="18" name="Rounded Rectangle 17"/>
          <p:cNvSpPr/>
          <p:nvPr/>
        </p:nvSpPr>
        <p:spPr>
          <a:xfrm>
            <a:off x="4370831" y="4800600"/>
            <a:ext cx="3611880" cy="1024128"/>
          </a:xfrm>
          <a:prstGeom prst="roundRect">
            <a:avLst>
              <a:gd name="adj" fmla="val 5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9431" y="4983480"/>
            <a:ext cx="3200400" cy="914400"/>
          </a:xfrm>
          <a:prstGeom prst="rect">
            <a:avLst/>
          </a:prstGeom>
          <a:noFill/>
        </p:spPr>
        <p:txBody>
          <a:bodyPr wrap="square" lIns="0" tIns="0" rIns="0" bIns="0" anchor="t"/>
          <a:lstStyle/>
          <a:p>
            <a:pPr algn="l">
              <a:spcAft>
                <a:spcPts val="300"/>
              </a:spcAft>
            </a:pPr>
            <a:r>
              <a:rPr sz="1150" b="1" i="0">
                <a:solidFill>
                  <a:srgbClr val="FFFFFF"/>
                </a:solidFill>
                <a:latin typeface="Inter"/>
              </a:rPr>
              <a:t>FA Discretion Advisory</a:t>
            </a:r>
          </a:p>
          <a:p>
            <a:pPr algn="l">
              <a:lnSpc>
                <a:spcPct val="118000"/>
              </a:lnSpc>
            </a:pPr>
            <a:r>
              <a:rPr sz="1000" b="0" i="0">
                <a:solidFill>
                  <a:srgbClr val="9CA3AF"/>
                </a:solidFill>
                <a:latin typeface="Inter"/>
              </a:rPr>
              <a:t>Advisory or wrap. FA has portfolio discretion.</a:t>
            </a:r>
          </a:p>
        </p:txBody>
      </p:sp>
      <p:sp>
        <p:nvSpPr>
          <p:cNvPr id="20" name="Rounded Rectangle 19"/>
          <p:cNvSpPr/>
          <p:nvPr/>
        </p:nvSpPr>
        <p:spPr>
          <a:xfrm>
            <a:off x="8193023" y="4800600"/>
            <a:ext cx="3611880" cy="1024128"/>
          </a:xfrm>
          <a:prstGeom prst="roundRect">
            <a:avLst>
              <a:gd name="adj" fmla="val 5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421624" y="4983480"/>
            <a:ext cx="3200400" cy="914400"/>
          </a:xfrm>
          <a:prstGeom prst="rect">
            <a:avLst/>
          </a:prstGeom>
          <a:noFill/>
        </p:spPr>
        <p:txBody>
          <a:bodyPr wrap="square" lIns="0" tIns="0" rIns="0" bIns="0" anchor="t"/>
          <a:lstStyle/>
          <a:p>
            <a:pPr algn="l">
              <a:spcAft>
                <a:spcPts val="300"/>
              </a:spcAft>
            </a:pPr>
            <a:r>
              <a:rPr sz="1150" b="1" i="0">
                <a:solidFill>
                  <a:srgbClr val="FFFFFF"/>
                </a:solidFill>
                <a:latin typeface="Inter"/>
              </a:rPr>
              <a:t>Firm Discretion Advisory</a:t>
            </a:r>
          </a:p>
          <a:p>
            <a:pPr algn="l">
              <a:lnSpc>
                <a:spcPct val="118000"/>
              </a:lnSpc>
            </a:pPr>
            <a:r>
              <a:rPr sz="1000" b="0" i="0">
                <a:solidFill>
                  <a:srgbClr val="9CA3AF"/>
                </a:solidFill>
                <a:latin typeface="Inter"/>
              </a:rPr>
              <a:t>Advisory. Firm or home office has model discretion.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5</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Delivery</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1000" b="0" i="0">
                <a:solidFill>
                  <a:srgbClr val="6B7280"/>
                </a:solidFill>
                <a:latin typeface="Inter"/>
              </a:rPr>
              <a:t>Ingestion</a:t>
            </a:r>
            <a:r>
              <a:rPr sz="950" b="0" i="0">
                <a:solidFill>
                  <a:srgbClr val="6B7280"/>
                </a:solidFill>
                <a:latin typeface="Inter"/>
              </a:rPr>
              <a:t>  →  </a:t>
            </a:r>
            <a:r>
              <a:rPr sz="1000" b="0" i="0">
                <a:solidFill>
                  <a:srgbClr val="6B7280"/>
                </a:solidFill>
                <a:latin typeface="Inter"/>
              </a:rPr>
              <a:t>Normalize</a:t>
            </a:r>
            <a:r>
              <a:rPr sz="950" b="0" i="0">
                <a:solidFill>
                  <a:srgbClr val="6B7280"/>
                </a:solidFill>
                <a:latin typeface="Inter"/>
              </a:rPr>
              <a:t>  →  </a:t>
            </a:r>
            <a:r>
              <a:rPr sz="1000" b="0" i="0">
                <a:solidFill>
                  <a:srgbClr val="6B7280"/>
                </a:solidFill>
                <a:latin typeface="Inter"/>
              </a:rPr>
              <a:t>Synthesize</a:t>
            </a:r>
            <a:r>
              <a:rPr sz="950" b="0" i="0">
                <a:solidFill>
                  <a:srgbClr val="6B7280"/>
                </a:solidFill>
                <a:latin typeface="Inter"/>
              </a:rPr>
              <a:t>  →  </a:t>
            </a:r>
            <a:r>
              <a:rPr sz="1000" b="0" i="0">
                <a:solidFill>
                  <a:srgbClr val="6B7280"/>
                </a:solidFill>
                <a:latin typeface="Inter"/>
              </a:rPr>
              <a:t>Attribute</a:t>
            </a:r>
            <a:r>
              <a:rPr sz="950" b="0" i="0">
                <a:solidFill>
                  <a:srgbClr val="6B7280"/>
                </a:solidFill>
                <a:latin typeface="Inter"/>
              </a:rPr>
              <a:t>  →  </a:t>
            </a:r>
            <a:r>
              <a:rPr sz="1000" b="1" i="0">
                <a:solidFill>
                  <a:srgbClr val="31C48D"/>
                </a:solidFill>
                <a:latin typeface="Inter"/>
              </a:rPr>
              <a:t>Deliver</a:t>
            </a:r>
          </a:p>
        </p:txBody>
      </p:sp>
      <p:sp>
        <p:nvSpPr>
          <p:cNvPr id="6" name="TextBox 5"/>
          <p:cNvSpPr txBox="1"/>
          <p:nvPr/>
        </p:nvSpPr>
        <p:spPr>
          <a:xfrm>
            <a:off x="548640" y="1261872"/>
            <a:ext cx="11064240" cy="731520"/>
          </a:xfrm>
          <a:prstGeom prst="rect">
            <a:avLst/>
          </a:prstGeom>
          <a:noFill/>
        </p:spPr>
        <p:txBody>
          <a:bodyPr wrap="square" lIns="0" tIns="0" rIns="0" bIns="0" anchor="t"/>
          <a:lstStyle/>
          <a:p>
            <a:pPr algn="l">
              <a:lnSpc>
                <a:spcPct val="125000"/>
              </a:lnSpc>
            </a:pPr>
            <a:r>
              <a:rPr sz="1150" b="0" i="0">
                <a:solidFill>
                  <a:srgbClr val="9CA3AF"/>
                </a:solidFill>
                <a:latin typeface="Inter"/>
              </a:rPr>
              <a:t>The unified data set is exposed through multiple governed surfaces at once. The same intelligence powers an AI agent, a dashboard, a data share, or a CRM writeback API. Because grain and vocabulary are unified across every pack, the surface is a semantic-layer question, not a data-engineering question.</a:t>
            </a:r>
          </a:p>
        </p:txBody>
      </p:sp>
      <p:sp>
        <p:nvSpPr>
          <p:cNvPr id="7" name="TextBox 6"/>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17</a:t>
            </a:r>
          </a:p>
        </p:txBody>
      </p:sp>
      <p:sp>
        <p:nvSpPr>
          <p:cNvPr id="9" name="Rounded Rectangle 8"/>
          <p:cNvSpPr/>
          <p:nvPr/>
        </p:nvSpPr>
        <p:spPr>
          <a:xfrm>
            <a:off x="548640" y="2194560"/>
            <a:ext cx="3611880" cy="1874519"/>
          </a:xfrm>
          <a:prstGeom prst="roundRect">
            <a:avLst>
              <a:gd name="adj" fmla="val 5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377440"/>
            <a:ext cx="3200400" cy="1554480"/>
          </a:xfrm>
          <a:prstGeom prst="rect">
            <a:avLst/>
          </a:prstGeom>
          <a:noFill/>
        </p:spPr>
        <p:txBody>
          <a:bodyPr wrap="square" lIns="0" tIns="0" rIns="0" bIns="0" anchor="t"/>
          <a:lstStyle/>
          <a:p>
            <a:pPr algn="l">
              <a:spcAft>
                <a:spcPts val="400"/>
              </a:spcAft>
            </a:pPr>
            <a:r>
              <a:rPr sz="1200" b="1" i="0">
                <a:solidFill>
                  <a:srgbClr val="FFFFFF"/>
                </a:solidFill>
                <a:latin typeface="Inter"/>
              </a:rPr>
              <a:t>Semantic Layer</a:t>
            </a:r>
          </a:p>
          <a:p>
            <a:pPr algn="l">
              <a:lnSpc>
                <a:spcPct val="122000"/>
              </a:lnSpc>
            </a:pPr>
            <a:r>
              <a:rPr sz="1000" b="0" i="0">
                <a:solidFill>
                  <a:srgbClr val="9CA3AF"/>
                </a:solidFill>
                <a:latin typeface="Inter"/>
              </a:rPr>
              <a:t>Documented field catalog with every element defined per pack, standardized into the unified schema. Native Snowflake Semantic View + YAML source of truth.</a:t>
            </a:r>
          </a:p>
        </p:txBody>
      </p:sp>
      <p:sp>
        <p:nvSpPr>
          <p:cNvPr id="11" name="Rounded Rectangle 10"/>
          <p:cNvSpPr/>
          <p:nvPr/>
        </p:nvSpPr>
        <p:spPr>
          <a:xfrm>
            <a:off x="4370831" y="2194560"/>
            <a:ext cx="3611880" cy="1874519"/>
          </a:xfrm>
          <a:prstGeom prst="roundRect">
            <a:avLst>
              <a:gd name="adj" fmla="val 55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99431" y="2377440"/>
            <a:ext cx="3200400" cy="1554480"/>
          </a:xfrm>
          <a:prstGeom prst="rect">
            <a:avLst/>
          </a:prstGeom>
          <a:noFill/>
        </p:spPr>
        <p:txBody>
          <a:bodyPr wrap="square" lIns="0" tIns="0" rIns="0" bIns="0" anchor="t"/>
          <a:lstStyle/>
          <a:p>
            <a:pPr algn="l">
              <a:spcAft>
                <a:spcPts val="400"/>
              </a:spcAft>
            </a:pPr>
            <a:r>
              <a:rPr sz="1200" b="1" i="0">
                <a:solidFill>
                  <a:srgbClr val="FFFFFF"/>
                </a:solidFill>
                <a:latin typeface="Inter"/>
              </a:rPr>
              <a:t>MCP Server</a:t>
            </a:r>
          </a:p>
          <a:p>
            <a:pPr algn="l">
              <a:lnSpc>
                <a:spcPct val="122000"/>
              </a:lnSpc>
            </a:pPr>
            <a:r>
              <a:rPr sz="1000" b="0" i="0">
                <a:solidFill>
                  <a:srgbClr val="9CA3AF"/>
                </a:solidFill>
                <a:latin typeface="Inter"/>
              </a:rPr>
              <a:t>Snowflake Managed MCP Server with SQL and NL query tools. Per-tenant scoped credentials, audit-logged. Plug into Salesforce, Cursor, Claude Desktop, custom AI agents.</a:t>
            </a:r>
          </a:p>
        </p:txBody>
      </p:sp>
      <p:sp>
        <p:nvSpPr>
          <p:cNvPr id="13" name="Rounded Rectangle 12"/>
          <p:cNvSpPr/>
          <p:nvPr/>
        </p:nvSpPr>
        <p:spPr>
          <a:xfrm>
            <a:off x="8193023" y="2194560"/>
            <a:ext cx="3611880" cy="1874519"/>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21624" y="2377440"/>
            <a:ext cx="3200400" cy="1554480"/>
          </a:xfrm>
          <a:prstGeom prst="rect">
            <a:avLst/>
          </a:prstGeom>
          <a:noFill/>
        </p:spPr>
        <p:txBody>
          <a:bodyPr wrap="square" lIns="0" tIns="0" rIns="0" bIns="0" anchor="t"/>
          <a:lstStyle/>
          <a:p>
            <a:pPr algn="l">
              <a:spcAft>
                <a:spcPts val="400"/>
              </a:spcAft>
            </a:pPr>
            <a:r>
              <a:rPr sz="1200" b="1" i="0">
                <a:solidFill>
                  <a:srgbClr val="FFFFFF"/>
                </a:solidFill>
                <a:latin typeface="Inter"/>
              </a:rPr>
              <a:t>Ask Field</a:t>
            </a:r>
          </a:p>
          <a:p>
            <a:pPr algn="l">
              <a:lnSpc>
                <a:spcPct val="122000"/>
              </a:lnSpc>
            </a:pPr>
            <a:r>
              <a:rPr sz="1000" b="0" i="0">
                <a:solidFill>
                  <a:srgbClr val="9CA3AF"/>
                </a:solidFill>
                <a:latin typeface="Inter"/>
              </a:rPr>
              <a:t>Plain-English query interface powered by MCP + semantic layer. Suggested prompts, drill-through to FA detail, exportable results.</a:t>
            </a:r>
          </a:p>
        </p:txBody>
      </p:sp>
      <p:sp>
        <p:nvSpPr>
          <p:cNvPr id="15" name="Rounded Rectangle 14"/>
          <p:cNvSpPr/>
          <p:nvPr/>
        </p:nvSpPr>
        <p:spPr>
          <a:xfrm>
            <a:off x="548640" y="4251960"/>
            <a:ext cx="3611880" cy="1874519"/>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434840"/>
            <a:ext cx="3200400" cy="1554480"/>
          </a:xfrm>
          <a:prstGeom prst="rect">
            <a:avLst/>
          </a:prstGeom>
          <a:noFill/>
        </p:spPr>
        <p:txBody>
          <a:bodyPr wrap="square" lIns="0" tIns="0" rIns="0" bIns="0" anchor="t"/>
          <a:lstStyle/>
          <a:p>
            <a:pPr algn="l">
              <a:spcAft>
                <a:spcPts val="400"/>
              </a:spcAft>
            </a:pPr>
            <a:r>
              <a:rPr sz="1200" b="1" i="0">
                <a:solidFill>
                  <a:srgbClr val="FFFFFF"/>
                </a:solidFill>
                <a:latin typeface="Inter"/>
              </a:rPr>
              <a:t>FA Analytics Dashboard</a:t>
            </a:r>
          </a:p>
          <a:p>
            <a:pPr algn="l">
              <a:lnSpc>
                <a:spcPct val="122000"/>
              </a:lnSpc>
            </a:pPr>
            <a:r>
              <a:rPr sz="1000" b="0" i="0">
                <a:solidFill>
                  <a:srgbClr val="9CA3AF"/>
                </a:solidFill>
                <a:latin typeface="Inter"/>
              </a:rPr>
              <a:t>Interactive management + wholesaler dashboards. Territory heat maps, tree charts, competitive advantage indicators.</a:t>
            </a:r>
          </a:p>
        </p:txBody>
      </p:sp>
      <p:sp>
        <p:nvSpPr>
          <p:cNvPr id="17" name="Rounded Rectangle 16"/>
          <p:cNvSpPr/>
          <p:nvPr/>
        </p:nvSpPr>
        <p:spPr>
          <a:xfrm>
            <a:off x="4370831" y="4251960"/>
            <a:ext cx="3611880" cy="1874519"/>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99431" y="4434840"/>
            <a:ext cx="3200400" cy="1554480"/>
          </a:xfrm>
          <a:prstGeom prst="rect">
            <a:avLst/>
          </a:prstGeom>
          <a:noFill/>
        </p:spPr>
        <p:txBody>
          <a:bodyPr wrap="square" lIns="0" tIns="0" rIns="0" bIns="0" anchor="t"/>
          <a:lstStyle/>
          <a:p>
            <a:pPr algn="l">
              <a:spcAft>
                <a:spcPts val="400"/>
              </a:spcAft>
            </a:pPr>
            <a:r>
              <a:rPr sz="1200" b="1" i="0">
                <a:solidFill>
                  <a:srgbClr val="FFFFFF"/>
                </a:solidFill>
                <a:latin typeface="Inter"/>
              </a:rPr>
              <a:t>Snowflake Data Share (Return)</a:t>
            </a:r>
          </a:p>
          <a:p>
            <a:pPr algn="l">
              <a:lnSpc>
                <a:spcPct val="122000"/>
              </a:lnSpc>
            </a:pPr>
            <a:r>
              <a:rPr sz="1000" b="0" i="0">
                <a:solidFill>
                  <a:srgbClr val="9CA3AF"/>
                </a:solidFill>
                <a:latin typeface="Inter"/>
              </a:rPr>
              <a:t>Unified mart returned to your Snowflake environment. Zero-copy, live. Powers your existing BI, ML, or downstream systems.</a:t>
            </a:r>
          </a:p>
        </p:txBody>
      </p:sp>
      <p:sp>
        <p:nvSpPr>
          <p:cNvPr id="19" name="Rounded Rectangle 18"/>
          <p:cNvSpPr/>
          <p:nvPr/>
        </p:nvSpPr>
        <p:spPr>
          <a:xfrm>
            <a:off x="8193023" y="4251960"/>
            <a:ext cx="3611880" cy="1874519"/>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21624" y="4434840"/>
            <a:ext cx="3200400" cy="1554480"/>
          </a:xfrm>
          <a:prstGeom prst="rect">
            <a:avLst/>
          </a:prstGeom>
          <a:noFill/>
        </p:spPr>
        <p:txBody>
          <a:bodyPr wrap="square" lIns="0" tIns="0" rIns="0" bIns="0" anchor="t"/>
          <a:lstStyle/>
          <a:p>
            <a:pPr algn="l">
              <a:spcAft>
                <a:spcPts val="400"/>
              </a:spcAft>
            </a:pPr>
            <a:r>
              <a:rPr sz="1200" b="1" i="0">
                <a:solidFill>
                  <a:srgbClr val="FFFFFF"/>
                </a:solidFill>
                <a:latin typeface="Inter"/>
              </a:rPr>
              <a:t>CRM Writeback API (Phase 2)</a:t>
            </a:r>
          </a:p>
          <a:p>
            <a:pPr algn="l">
              <a:lnSpc>
                <a:spcPct val="122000"/>
              </a:lnSpc>
            </a:pPr>
            <a:r>
              <a:rPr sz="1000" b="0" i="0">
                <a:solidFill>
                  <a:srgbClr val="9CA3AF"/>
                </a:solidFill>
                <a:latin typeface="Inter"/>
              </a:rPr>
              <a:t>Opportunity scores and buying-unit insights written into Salesforce via API. Wholesalers see intelligence inside their existing workflow.</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5</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400" b="1" i="0">
                <a:solidFill>
                  <a:srgbClr val="FFFFFF"/>
                </a:solidFill>
                <a:latin typeface="Inter"/>
              </a:rPr>
              <a:t>Unified golden source of record data feed</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950" b="0" i="0">
                <a:solidFill>
                  <a:srgbClr val="6B7280"/>
                </a:solidFill>
                <a:latin typeface="Inter"/>
              </a:rPr>
              <a:t>Ingestion</a:t>
            </a:r>
            <a:r>
              <a:rPr sz="900" b="0" i="0">
                <a:solidFill>
                  <a:srgbClr val="6B7280"/>
                </a:solidFill>
                <a:latin typeface="Inter"/>
              </a:rPr>
              <a:t>  →  </a:t>
            </a:r>
            <a:r>
              <a:rPr sz="950" b="0" i="0">
                <a:solidFill>
                  <a:srgbClr val="6B7280"/>
                </a:solidFill>
                <a:latin typeface="Inter"/>
              </a:rPr>
              <a:t>Normalize</a:t>
            </a:r>
            <a:r>
              <a:rPr sz="900" b="0" i="0">
                <a:solidFill>
                  <a:srgbClr val="6B7280"/>
                </a:solidFill>
                <a:latin typeface="Inter"/>
              </a:rPr>
              <a:t>  →  </a:t>
            </a:r>
            <a:r>
              <a:rPr sz="950" b="0" i="0">
                <a:solidFill>
                  <a:srgbClr val="6B7280"/>
                </a:solidFill>
                <a:latin typeface="Inter"/>
              </a:rPr>
              <a:t>Synthesize</a:t>
            </a:r>
            <a:r>
              <a:rPr sz="900" b="0" i="0">
                <a:solidFill>
                  <a:srgbClr val="6B7280"/>
                </a:solidFill>
                <a:latin typeface="Inter"/>
              </a:rPr>
              <a:t>  →  </a:t>
            </a:r>
            <a:r>
              <a:rPr sz="950" b="0" i="0">
                <a:solidFill>
                  <a:srgbClr val="6B7280"/>
                </a:solidFill>
                <a:latin typeface="Inter"/>
              </a:rPr>
              <a:t>Attribute</a:t>
            </a:r>
            <a:r>
              <a:rPr sz="900" b="0" i="0">
                <a:solidFill>
                  <a:srgbClr val="6B7280"/>
                </a:solidFill>
                <a:latin typeface="Inter"/>
              </a:rPr>
              <a:t>  →  </a:t>
            </a:r>
            <a:r>
              <a:rPr sz="950" b="1" i="0">
                <a:solidFill>
                  <a:srgbClr val="31C48D"/>
                </a:solidFill>
                <a:latin typeface="Inter"/>
              </a:rPr>
              <a:t>Deliver</a:t>
            </a:r>
          </a:p>
        </p:txBody>
      </p:sp>
      <p:sp>
        <p:nvSpPr>
          <p:cNvPr id="6" name="TextBox 5"/>
          <p:cNvSpPr txBox="1"/>
          <p:nvPr/>
        </p:nvSpPr>
        <p:spPr>
          <a:xfrm>
            <a:off x="548640" y="1261872"/>
            <a:ext cx="11064240" cy="731520"/>
          </a:xfrm>
          <a:prstGeom prst="rect">
            <a:avLst/>
          </a:prstGeom>
          <a:noFill/>
        </p:spPr>
        <p:txBody>
          <a:bodyPr wrap="square" lIns="0" tIns="0" rIns="0" bIns="0" anchor="t"/>
          <a:lstStyle/>
          <a:p>
            <a:pPr algn="l">
              <a:lnSpc>
                <a:spcPct val="125000"/>
              </a:lnSpc>
            </a:pPr>
            <a:r>
              <a:rPr sz="1150" b="0" i="0">
                <a:solidFill>
                  <a:srgbClr val="9CA3AF"/>
                </a:solidFill>
                <a:latin typeface="Inter"/>
              </a:rPr>
              <a:t>The primary deliverable alongside the dashboards. Every surface, every AI tool, every downstream system queries the same unified mart at the same grain. Delivered via Snowflake data share, MCP, or CRM writeback. Subset of fields shown, the full mart carries more dimensions and metrics.</a:t>
            </a:r>
          </a:p>
        </p:txBody>
      </p:sp>
      <p:sp>
        <p:nvSpPr>
          <p:cNvPr id="9" name="Rounded Rectangle 8"/>
          <p:cNvSpPr/>
          <p:nvPr/>
        </p:nvSpPr>
        <p:spPr>
          <a:xfrm>
            <a:off x="548640" y="2148840"/>
            <a:ext cx="11091672" cy="3703320"/>
          </a:xfrm>
          <a:prstGeom prst="roundRect">
            <a:avLst>
              <a:gd name="adj" fmla="val 3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 y="2331720"/>
            <a:ext cx="10515600" cy="502920"/>
          </a:xfrm>
          <a:prstGeom prst="rect">
            <a:avLst/>
          </a:prstGeom>
          <a:noFill/>
        </p:spPr>
        <p:txBody>
          <a:bodyPr wrap="square" lIns="0" tIns="0" rIns="0" bIns="0" anchor="t"/>
          <a:lstStyle/>
          <a:p>
            <a:pPr algn="l">
              <a:spcAft>
                <a:spcPts val="300"/>
              </a:spcAft>
            </a:pPr>
            <a:r>
              <a:rPr sz="900" b="1" i="0" spc="180">
                <a:solidFill>
                  <a:srgbClr val="31C48D"/>
                </a:solidFill>
                <a:latin typeface="Inter"/>
              </a:rPr>
              <a:t>FIELD UNIFIED MART · DELIVERED TO YOUR SNOWFLAKE / BI / AI STACK</a:t>
            </a:r>
          </a:p>
          <a:p>
            <a:pPr algn="l"/>
            <a:r>
              <a:rPr sz="900" b="0" i="0">
                <a:solidFill>
                  <a:srgbClr val="9CA3AF"/>
                </a:solidFill>
                <a:latin typeface="Inter"/>
              </a:rPr>
              <a:t>One row per (Month × Firm × Office × Team × FA × Vehicle × Asset Class × Platform). Lineage preserved to source packs, transformation methods, and derivation confidence.</a:t>
            </a:r>
          </a:p>
        </p:txBody>
      </p:sp>
      <p:graphicFrame>
        <p:nvGraphicFramePr>
          <p:cNvPr id="11" name="Table 10"/>
          <p:cNvGraphicFramePr>
            <a:graphicFrameLocks noGrp="1"/>
          </p:cNvGraphicFramePr>
          <p:nvPr/>
        </p:nvGraphicFramePr>
        <p:xfrm>
          <a:off x="822960" y="3154680"/>
          <a:ext cx="10515591" cy="2395728"/>
        </p:xfrm>
        <a:graphic>
          <a:graphicData uri="http://schemas.openxmlformats.org/drawingml/2006/table">
            <a:tbl>
              <a:tblPr>
                <a:tableStyleId>{5C22544A-7EE6-4342-B048-85BDC9FD1C3A}</a:tableStyleId>
              </a:tblPr>
              <a:tblGrid>
                <a:gridCol w="666481">
                  <a:extLst>
                    <a:ext uri="{9D8B030D-6E8A-4147-A177-3AD203B41FA5}">
                      <a16:colId xmlns:a16="http://schemas.microsoft.com/office/drawing/2014/main" val="20000"/>
                    </a:ext>
                  </a:extLst>
                </a:gridCol>
                <a:gridCol w="777561">
                  <a:extLst>
                    <a:ext uri="{9D8B030D-6E8A-4147-A177-3AD203B41FA5}">
                      <a16:colId xmlns:a16="http://schemas.microsoft.com/office/drawing/2014/main" val="20001"/>
                    </a:ext>
                  </a:extLst>
                </a:gridCol>
                <a:gridCol w="555401">
                  <a:extLst>
                    <a:ext uri="{9D8B030D-6E8A-4147-A177-3AD203B41FA5}">
                      <a16:colId xmlns:a16="http://schemas.microsoft.com/office/drawing/2014/main" val="20002"/>
                    </a:ext>
                  </a:extLst>
                </a:gridCol>
                <a:gridCol w="814588">
                  <a:extLst>
                    <a:ext uri="{9D8B030D-6E8A-4147-A177-3AD203B41FA5}">
                      <a16:colId xmlns:a16="http://schemas.microsoft.com/office/drawing/2014/main" val="20003"/>
                    </a:ext>
                  </a:extLst>
                </a:gridCol>
                <a:gridCol w="703508">
                  <a:extLst>
                    <a:ext uri="{9D8B030D-6E8A-4147-A177-3AD203B41FA5}">
                      <a16:colId xmlns:a16="http://schemas.microsoft.com/office/drawing/2014/main" val="20004"/>
                    </a:ext>
                  </a:extLst>
                </a:gridCol>
                <a:gridCol w="592428">
                  <a:extLst>
                    <a:ext uri="{9D8B030D-6E8A-4147-A177-3AD203B41FA5}">
                      <a16:colId xmlns:a16="http://schemas.microsoft.com/office/drawing/2014/main" val="20005"/>
                    </a:ext>
                  </a:extLst>
                </a:gridCol>
                <a:gridCol w="962695">
                  <a:extLst>
                    <a:ext uri="{9D8B030D-6E8A-4147-A177-3AD203B41FA5}">
                      <a16:colId xmlns:a16="http://schemas.microsoft.com/office/drawing/2014/main" val="20006"/>
                    </a:ext>
                  </a:extLst>
                </a:gridCol>
                <a:gridCol w="740535">
                  <a:extLst>
                    <a:ext uri="{9D8B030D-6E8A-4147-A177-3AD203B41FA5}">
                      <a16:colId xmlns:a16="http://schemas.microsoft.com/office/drawing/2014/main" val="20007"/>
                    </a:ext>
                  </a:extLst>
                </a:gridCol>
                <a:gridCol w="703508">
                  <a:extLst>
                    <a:ext uri="{9D8B030D-6E8A-4147-A177-3AD203B41FA5}">
                      <a16:colId xmlns:a16="http://schemas.microsoft.com/office/drawing/2014/main" val="20008"/>
                    </a:ext>
                  </a:extLst>
                </a:gridCol>
                <a:gridCol w="666481">
                  <a:extLst>
                    <a:ext uri="{9D8B030D-6E8A-4147-A177-3AD203B41FA5}">
                      <a16:colId xmlns:a16="http://schemas.microsoft.com/office/drawing/2014/main" val="20009"/>
                    </a:ext>
                  </a:extLst>
                </a:gridCol>
                <a:gridCol w="666481">
                  <a:extLst>
                    <a:ext uri="{9D8B030D-6E8A-4147-A177-3AD203B41FA5}">
                      <a16:colId xmlns:a16="http://schemas.microsoft.com/office/drawing/2014/main" val="20010"/>
                    </a:ext>
                  </a:extLst>
                </a:gridCol>
                <a:gridCol w="629454">
                  <a:extLst>
                    <a:ext uri="{9D8B030D-6E8A-4147-A177-3AD203B41FA5}">
                      <a16:colId xmlns:a16="http://schemas.microsoft.com/office/drawing/2014/main" val="20011"/>
                    </a:ext>
                  </a:extLst>
                </a:gridCol>
                <a:gridCol w="703508">
                  <a:extLst>
                    <a:ext uri="{9D8B030D-6E8A-4147-A177-3AD203B41FA5}">
                      <a16:colId xmlns:a16="http://schemas.microsoft.com/office/drawing/2014/main" val="20012"/>
                    </a:ext>
                  </a:extLst>
                </a:gridCol>
                <a:gridCol w="703508">
                  <a:extLst>
                    <a:ext uri="{9D8B030D-6E8A-4147-A177-3AD203B41FA5}">
                      <a16:colId xmlns:a16="http://schemas.microsoft.com/office/drawing/2014/main" val="20013"/>
                    </a:ext>
                  </a:extLst>
                </a:gridCol>
                <a:gridCol w="629454">
                  <a:extLst>
                    <a:ext uri="{9D8B030D-6E8A-4147-A177-3AD203B41FA5}">
                      <a16:colId xmlns:a16="http://schemas.microsoft.com/office/drawing/2014/main" val="20014"/>
                    </a:ext>
                  </a:extLst>
                </a:gridCol>
              </a:tblGrid>
              <a:tr h="384048">
                <a:tc>
                  <a:txBody>
                    <a:bodyPr/>
                    <a:lstStyle/>
                    <a:p>
                      <a:r>
                        <a:rPr sz="750" b="1">
                          <a:solidFill>
                            <a:srgbClr val="31C48D"/>
                          </a:solidFill>
                          <a:latin typeface="Inter"/>
                        </a:rPr>
                        <a:t>MONTH</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FIRM</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OFFICE</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TEAM/FA</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CRD</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VEHICLE</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CATEGORY</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PLATFORM</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SALES OPP</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AUM OPP</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AM SALES</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AM AUM</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MKT SHARE</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PERF ADV</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tc>
                  <a:txBody>
                    <a:bodyPr/>
                    <a:lstStyle/>
                    <a:p>
                      <a:r>
                        <a:rPr sz="750" b="1">
                          <a:solidFill>
                            <a:srgbClr val="31C48D"/>
                          </a:solidFill>
                          <a:latin typeface="Inter"/>
                        </a:rPr>
                        <a:t>FEE ADV</a:t>
                      </a:r>
                    </a:p>
                  </a:txBody>
                  <a:tcPr marL="36576" marR="36576" marT="18288" marB="18288" anchor="ctr">
                    <a:lnL w="6350" cap="flat">
                      <a:noFill/>
                    </a:lnL>
                    <a:lnR w="6350" cap="flat">
                      <a:noFill/>
                    </a:lnR>
                    <a:lnT w="6350" cap="flat">
                      <a:noFill/>
                    </a:lnT>
                    <a:lnB w="6350" cap="flat">
                      <a:solidFill>
                        <a:srgbClr val="2E4A44"/>
                      </a:solidFill>
                    </a:lnB>
                    <a:solidFill>
                      <a:srgbClr val="103637"/>
                    </a:solidFill>
                  </a:tcPr>
                </a:tc>
                <a:extLst>
                  <a:ext uri="{0D108BD9-81ED-4DB2-BD59-A6C34878D82A}">
                    <a16:rowId xmlns:a16="http://schemas.microsoft.com/office/drawing/2014/main" val="10000"/>
                  </a:ext>
                </a:extLst>
              </a:tr>
              <a:tr h="402336">
                <a:tc>
                  <a:txBody>
                    <a:bodyPr/>
                    <a:lstStyle/>
                    <a:p>
                      <a:r>
                        <a:rPr sz="850">
                          <a:solidFill>
                            <a:srgbClr val="9CA3AF"/>
                          </a:solidFill>
                          <a:latin typeface="Inter"/>
                        </a:rPr>
                        <a:t>2026-03</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LPL</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4471</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Smith Grp</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6447655</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MF</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US LC Blend</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Advisory</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$18.4M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$210M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$1.2M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$48M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22.8%</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+140bps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-12bps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extLst>
                  <a:ext uri="{0D108BD9-81ED-4DB2-BD59-A6C34878D82A}">
                    <a16:rowId xmlns:a16="http://schemas.microsoft.com/office/drawing/2014/main" val="10001"/>
                  </a:ext>
                </a:extLst>
              </a:tr>
              <a:tr h="402336">
                <a:tc>
                  <a:txBody>
                    <a:bodyPr/>
                    <a:lstStyle/>
                    <a:p>
                      <a:r>
                        <a:rPr sz="850">
                          <a:solidFill>
                            <a:srgbClr val="9CA3AF"/>
                          </a:solidFill>
                          <a:latin typeface="Inter"/>
                        </a:rPr>
                        <a:t>2026-03</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LPL</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4471</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Smith Grp</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6447655</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ETF</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US LC Blend</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Brokerage</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$4.2M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$52M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$0</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$18M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34.6%</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+220bps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-8bps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extLst>
                  <a:ext uri="{0D108BD9-81ED-4DB2-BD59-A6C34878D82A}">
                    <a16:rowId xmlns:a16="http://schemas.microsoft.com/office/drawing/2014/main" val="10002"/>
                  </a:ext>
                </a:extLst>
              </a:tr>
              <a:tr h="402336">
                <a:tc>
                  <a:txBody>
                    <a:bodyPr/>
                    <a:lstStyle/>
                    <a:p>
                      <a:r>
                        <a:rPr sz="850">
                          <a:solidFill>
                            <a:srgbClr val="9CA3AF"/>
                          </a:solidFill>
                          <a:latin typeface="Inter"/>
                        </a:rPr>
                        <a:t>2026-03</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LPL</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4471</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Smith Grp</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6447655</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SMA</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Int Core Bond</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Firm Disc</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$1.1M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$27M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$0.3M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$8M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29.6%</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+80bps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flat</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extLst>
                  <a:ext uri="{0D108BD9-81ED-4DB2-BD59-A6C34878D82A}">
                    <a16:rowId xmlns:a16="http://schemas.microsoft.com/office/drawing/2014/main" val="10003"/>
                  </a:ext>
                </a:extLst>
              </a:tr>
              <a:tr h="402336">
                <a:tc>
                  <a:txBody>
                    <a:bodyPr/>
                    <a:lstStyle/>
                    <a:p>
                      <a:r>
                        <a:rPr sz="850">
                          <a:solidFill>
                            <a:srgbClr val="9CA3AF"/>
                          </a:solidFill>
                          <a:latin typeface="Inter"/>
                        </a:rPr>
                        <a:t>2026-03</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Ameriprise</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Bost-3</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Chen Grp</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4488192</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MF</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Foreign Lg Gr</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a:solidFill>
                            <a:srgbClr val="9CA3AF"/>
                          </a:solidFill>
                          <a:latin typeface="Inter"/>
                        </a:rPr>
                        <a:t>Advisory</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$22.1M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$342M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$0.9M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$76M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22.2%</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+95bps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tc>
                  <a:txBody>
                    <a:bodyPr/>
                    <a:lstStyle/>
                    <a:p>
                      <a:r>
                        <a:rPr sz="850" b="0">
                          <a:solidFill>
                            <a:srgbClr val="FFFFFF"/>
                          </a:solidFill>
                          <a:latin typeface="Inter"/>
                        </a:rPr>
                        <a:t>-6bps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E1421"/>
                    </a:solidFill>
                  </a:tcPr>
                </a:tc>
                <a:extLst>
                  <a:ext uri="{0D108BD9-81ED-4DB2-BD59-A6C34878D82A}">
                    <a16:rowId xmlns:a16="http://schemas.microsoft.com/office/drawing/2014/main" val="10004"/>
                  </a:ext>
                </a:extLst>
              </a:tr>
              <a:tr h="402336">
                <a:tc>
                  <a:txBody>
                    <a:bodyPr/>
                    <a:lstStyle/>
                    <a:p>
                      <a:r>
                        <a:rPr sz="850">
                          <a:solidFill>
                            <a:srgbClr val="9CA3AF"/>
                          </a:solidFill>
                          <a:latin typeface="Inter"/>
                        </a:rPr>
                        <a:t>2026-03</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MS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Bost-1</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Rivera Grp</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5511239</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MF</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US LC Blend</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a:solidFill>
                            <a:srgbClr val="9CA3AF"/>
                          </a:solidFill>
                          <a:latin typeface="Inter"/>
                        </a:rPr>
                        <a:t>Advisory</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$14.8M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$188M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$0.7M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$41M</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21.8%</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+120bps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tc>
                  <a:txBody>
                    <a:bodyPr/>
                    <a:lstStyle/>
                    <a:p>
                      <a:r>
                        <a:rPr sz="850" b="0">
                          <a:solidFill>
                            <a:srgbClr val="FFFFFF"/>
                          </a:solidFill>
                          <a:latin typeface="Inter"/>
                        </a:rPr>
                        <a:t>-10bps</a:t>
                      </a:r>
                    </a:p>
                  </a:txBody>
                  <a:tcPr marL="36576" marR="36576" marT="18288" marB="18288" anchor="ctr">
                    <a:lnL w="6350" cap="flat">
                      <a:noFill/>
                    </a:lnL>
                    <a:lnR w="6350" cap="flat">
                      <a:noFill/>
                    </a:lnR>
                    <a:lnT w="6350" cap="flat" cmpd="sng" algn="ctr">
                      <a:solidFill>
                        <a:srgbClr val="2E4A44"/>
                      </a:solidFill>
                      <a:prstDash val="solid"/>
                      <a:round/>
                      <a:headEnd type="none" w="med" len="med"/>
                      <a:tailEnd type="none" w="med" len="med"/>
                    </a:lnT>
                    <a:lnB w="6350" cap="flat">
                      <a:solidFill>
                        <a:srgbClr val="2E4A44"/>
                      </a:solidFill>
                    </a:lnB>
                    <a:solidFill>
                      <a:srgbClr val="0B101A"/>
                    </a:solidFill>
                  </a:tcPr>
                </a:tc>
                <a:extLst>
                  <a:ext uri="{0D108BD9-81ED-4DB2-BD59-A6C34878D82A}">
                    <a16:rowId xmlns:a16="http://schemas.microsoft.com/office/drawing/2014/main" val="10005"/>
                  </a:ext>
                </a:extLst>
              </a:tr>
            </a:tbl>
          </a:graphicData>
        </a:graphic>
      </p:graphicFrame>
      <p:sp>
        <p:nvSpPr>
          <p:cNvPr id="12" name="TextBox 11"/>
          <p:cNvSpPr txBox="1"/>
          <p:nvPr/>
        </p:nvSpPr>
        <p:spPr>
          <a:xfrm>
            <a:off x="548640" y="6053328"/>
            <a:ext cx="11091672" cy="457200"/>
          </a:xfrm>
          <a:prstGeom prst="rect">
            <a:avLst/>
          </a:prstGeom>
          <a:noFill/>
        </p:spPr>
        <p:txBody>
          <a:bodyPr wrap="square" lIns="0" tIns="0" rIns="0" bIns="0" anchor="t"/>
          <a:lstStyle/>
          <a:p>
            <a:pPr algn="ctr"/>
            <a:r>
              <a:rPr sz="1050" b="1" i="0">
                <a:solidFill>
                  <a:srgbClr val="FFFFFF"/>
                </a:solidFill>
                <a:latin typeface="Inter"/>
              </a:rPr>
              <a:t>Same data, many views:  </a:t>
            </a:r>
            <a:r>
              <a:rPr sz="1050" b="0" i="1">
                <a:solidFill>
                  <a:srgbClr val="9CA3AF"/>
                </a:solidFill>
                <a:latin typeface="Inter"/>
              </a:rPr>
              <a:t>the channel, product, firm, and territory surfaces on the next page all query this one mart.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5</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400" b="1" i="0">
                <a:solidFill>
                  <a:srgbClr val="FFFFFF"/>
                </a:solidFill>
                <a:latin typeface="Inter"/>
              </a:rPr>
              <a:t>Interactive product surfaces</a:t>
            </a:r>
          </a:p>
        </p:txBody>
      </p:sp>
      <p:sp>
        <p:nvSpPr>
          <p:cNvPr id="5" name="TextBox 4"/>
          <p:cNvSpPr txBox="1"/>
          <p:nvPr/>
        </p:nvSpPr>
        <p:spPr>
          <a:xfrm>
            <a:off x="6766560" y="429768"/>
            <a:ext cx="4892040" cy="274320"/>
          </a:xfrm>
          <a:prstGeom prst="rect">
            <a:avLst/>
          </a:prstGeom>
          <a:noFill/>
        </p:spPr>
        <p:txBody>
          <a:bodyPr wrap="square" lIns="0" tIns="0" rIns="0" bIns="0" anchor="t"/>
          <a:lstStyle/>
          <a:p>
            <a:pPr algn="r"/>
            <a:r>
              <a:rPr sz="950" b="0" i="0">
                <a:solidFill>
                  <a:srgbClr val="6B7280"/>
                </a:solidFill>
                <a:latin typeface="Inter"/>
              </a:rPr>
              <a:t>Ingestion</a:t>
            </a:r>
            <a:r>
              <a:rPr sz="900" b="0" i="0">
                <a:solidFill>
                  <a:srgbClr val="6B7280"/>
                </a:solidFill>
                <a:latin typeface="Inter"/>
              </a:rPr>
              <a:t>  →  </a:t>
            </a:r>
            <a:r>
              <a:rPr sz="950" b="0" i="0">
                <a:solidFill>
                  <a:srgbClr val="6B7280"/>
                </a:solidFill>
                <a:latin typeface="Inter"/>
              </a:rPr>
              <a:t>Normalize</a:t>
            </a:r>
            <a:r>
              <a:rPr sz="900" b="0" i="0">
                <a:solidFill>
                  <a:srgbClr val="6B7280"/>
                </a:solidFill>
                <a:latin typeface="Inter"/>
              </a:rPr>
              <a:t>  →  </a:t>
            </a:r>
            <a:r>
              <a:rPr sz="950" b="0" i="0">
                <a:solidFill>
                  <a:srgbClr val="6B7280"/>
                </a:solidFill>
                <a:latin typeface="Inter"/>
              </a:rPr>
              <a:t>Synthesize</a:t>
            </a:r>
            <a:r>
              <a:rPr sz="900" b="0" i="0">
                <a:solidFill>
                  <a:srgbClr val="6B7280"/>
                </a:solidFill>
                <a:latin typeface="Inter"/>
              </a:rPr>
              <a:t>  →  </a:t>
            </a:r>
            <a:r>
              <a:rPr sz="950" b="0" i="0">
                <a:solidFill>
                  <a:srgbClr val="6B7280"/>
                </a:solidFill>
                <a:latin typeface="Inter"/>
              </a:rPr>
              <a:t>Attribute</a:t>
            </a:r>
            <a:r>
              <a:rPr sz="900" b="0" i="0">
                <a:solidFill>
                  <a:srgbClr val="6B7280"/>
                </a:solidFill>
                <a:latin typeface="Inter"/>
              </a:rPr>
              <a:t>  →  </a:t>
            </a:r>
            <a:r>
              <a:rPr sz="950" b="1" i="0">
                <a:solidFill>
                  <a:srgbClr val="31C48D"/>
                </a:solidFill>
                <a:latin typeface="Inter"/>
              </a:rPr>
              <a:t>Deliver</a:t>
            </a:r>
          </a:p>
        </p:txBody>
      </p:sp>
      <p:sp>
        <p:nvSpPr>
          <p:cNvPr id="7" name="TextBox 6"/>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8" name="TextBox 7"/>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19</a:t>
            </a:r>
          </a:p>
        </p:txBody>
      </p:sp>
      <p:sp>
        <p:nvSpPr>
          <p:cNvPr id="9" name="TextBox 8"/>
          <p:cNvSpPr txBox="1"/>
          <p:nvPr/>
        </p:nvSpPr>
        <p:spPr>
          <a:xfrm>
            <a:off x="548640" y="1261872"/>
            <a:ext cx="11064240" cy="548640"/>
          </a:xfrm>
          <a:prstGeom prst="rect">
            <a:avLst/>
          </a:prstGeom>
          <a:noFill/>
        </p:spPr>
        <p:txBody>
          <a:bodyPr wrap="square" lIns="0" tIns="0" rIns="0" bIns="0" anchor="t"/>
          <a:lstStyle/>
          <a:p>
            <a:pPr algn="l">
              <a:lnSpc>
                <a:spcPct val="125000"/>
              </a:lnSpc>
            </a:pPr>
            <a:r>
              <a:rPr sz="1150" b="0" i="0">
                <a:solidFill>
                  <a:srgbClr val="9CA3AF"/>
                </a:solidFill>
                <a:latin typeface="Inter"/>
              </a:rPr>
              <a:t>Three primary user surfaces ship on go-live: </a:t>
            </a:r>
            <a:r>
              <a:rPr sz="1150" b="1" i="0">
                <a:solidFill>
                  <a:srgbClr val="FFFFFF"/>
                </a:solidFill>
                <a:latin typeface="Inter"/>
              </a:rPr>
              <a:t>Ask Field</a:t>
            </a:r>
            <a:r>
              <a:rPr sz="1150" b="0" i="0">
                <a:solidFill>
                  <a:srgbClr val="9CA3AF"/>
                </a:solidFill>
                <a:latin typeface="Inter"/>
              </a:rPr>
              <a:t>, the </a:t>
            </a:r>
            <a:r>
              <a:rPr sz="1150" b="1" i="0">
                <a:solidFill>
                  <a:srgbClr val="FFFFFF"/>
                </a:solidFill>
                <a:latin typeface="Inter"/>
              </a:rPr>
              <a:t>management view</a:t>
            </a:r>
            <a:r>
              <a:rPr sz="1150" b="0" i="0">
                <a:solidFill>
                  <a:srgbClr val="9CA3AF"/>
                </a:solidFill>
                <a:latin typeface="Inter"/>
              </a:rPr>
              <a:t>, and the </a:t>
            </a:r>
            <a:r>
              <a:rPr sz="1150" b="1" i="0">
                <a:solidFill>
                  <a:srgbClr val="FFFFFF"/>
                </a:solidFill>
                <a:latin typeface="Inter"/>
              </a:rPr>
              <a:t>wholesaler opportunity view</a:t>
            </a:r>
            <a:r>
              <a:rPr sz="1150" b="0" i="0">
                <a:solidFill>
                  <a:srgbClr val="9CA3AF"/>
                </a:solidFill>
                <a:latin typeface="Inter"/>
              </a:rPr>
              <a:t>. Channel, product, firm, and territory views all run on the same unified mart.</a:t>
            </a:r>
          </a:p>
        </p:txBody>
      </p:sp>
      <p:sp>
        <p:nvSpPr>
          <p:cNvPr id="10" name="Rounded Rectangle 9"/>
          <p:cNvSpPr/>
          <p:nvPr/>
        </p:nvSpPr>
        <p:spPr>
          <a:xfrm>
            <a:off x="548639" y="1965960"/>
            <a:ext cx="3401568" cy="1755648"/>
          </a:xfrm>
          <a:prstGeom prst="roundRect">
            <a:avLst>
              <a:gd name="adj" fmla="val 4000"/>
            </a:avLst>
          </a:prstGeom>
          <a:solidFill>
            <a:srgbClr val="0B101A"/>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mgmt_dash_2x1.png"/>
          <p:cNvPicPr>
            <a:picLocks noChangeAspect="1"/>
          </p:cNvPicPr>
          <p:nvPr/>
        </p:nvPicPr>
        <p:blipFill>
          <a:blip r:embed="rId2"/>
          <a:stretch>
            <a:fillRect/>
          </a:stretch>
        </p:blipFill>
        <p:spPr>
          <a:xfrm>
            <a:off x="603503" y="2020824"/>
            <a:ext cx="3291840" cy="1645920"/>
          </a:xfrm>
          <a:prstGeom prst="rect">
            <a:avLst/>
          </a:prstGeom>
        </p:spPr>
      </p:pic>
      <p:sp>
        <p:nvSpPr>
          <p:cNvPr id="12" name="TextBox 11"/>
          <p:cNvSpPr txBox="1"/>
          <p:nvPr/>
        </p:nvSpPr>
        <p:spPr>
          <a:xfrm>
            <a:off x="548640" y="3858768"/>
            <a:ext cx="3419856" cy="685800"/>
          </a:xfrm>
          <a:prstGeom prst="rect">
            <a:avLst/>
          </a:prstGeom>
          <a:noFill/>
        </p:spPr>
        <p:txBody>
          <a:bodyPr wrap="square" lIns="0" tIns="0" rIns="0" bIns="0" anchor="t"/>
          <a:lstStyle/>
          <a:p>
            <a:pPr algn="l">
              <a:lnSpc>
                <a:spcPct val="118000"/>
              </a:lnSpc>
            </a:pPr>
            <a:r>
              <a:rPr sz="950" b="1" i="0">
                <a:solidFill>
                  <a:srgbClr val="FFFFFF"/>
                </a:solidFill>
                <a:latin typeface="Inter"/>
              </a:rPr>
              <a:t>Management view.  </a:t>
            </a:r>
            <a:r>
              <a:rPr sz="900" b="0" i="0">
                <a:solidFill>
                  <a:srgbClr val="9CA3AF"/>
                </a:solidFill>
                <a:latin typeface="Inter"/>
              </a:rPr>
              <a:t>Territory AUM, inflows, and net flow, opportunity vs share trend, rep leaderboard.</a:t>
            </a:r>
          </a:p>
        </p:txBody>
      </p:sp>
      <p:sp>
        <p:nvSpPr>
          <p:cNvPr id="13" name="Rounded Rectangle 12"/>
          <p:cNvSpPr/>
          <p:nvPr/>
        </p:nvSpPr>
        <p:spPr>
          <a:xfrm>
            <a:off x="4416552" y="1965960"/>
            <a:ext cx="3401568" cy="1755648"/>
          </a:xfrm>
          <a:prstGeom prst="roundRect">
            <a:avLst>
              <a:gd name="adj" fmla="val 4000"/>
            </a:avLst>
          </a:prstGeom>
          <a:solidFill>
            <a:srgbClr val="0B101A"/>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askfield_prompt_2x1.png"/>
          <p:cNvPicPr>
            <a:picLocks noChangeAspect="1"/>
          </p:cNvPicPr>
          <p:nvPr/>
        </p:nvPicPr>
        <p:blipFill>
          <a:blip r:embed="rId3"/>
          <a:stretch>
            <a:fillRect/>
          </a:stretch>
        </p:blipFill>
        <p:spPr>
          <a:xfrm>
            <a:off x="4471416" y="2020824"/>
            <a:ext cx="3291840" cy="1645920"/>
          </a:xfrm>
          <a:prstGeom prst="rect">
            <a:avLst/>
          </a:prstGeom>
        </p:spPr>
      </p:pic>
      <p:sp>
        <p:nvSpPr>
          <p:cNvPr id="15" name="TextBox 14"/>
          <p:cNvSpPr txBox="1"/>
          <p:nvPr/>
        </p:nvSpPr>
        <p:spPr>
          <a:xfrm>
            <a:off x="4416552" y="3858768"/>
            <a:ext cx="3419856" cy="685800"/>
          </a:xfrm>
          <a:prstGeom prst="rect">
            <a:avLst/>
          </a:prstGeom>
          <a:noFill/>
        </p:spPr>
        <p:txBody>
          <a:bodyPr wrap="square" lIns="0" tIns="0" rIns="0" bIns="0" anchor="t"/>
          <a:lstStyle/>
          <a:p>
            <a:pPr algn="l">
              <a:lnSpc>
                <a:spcPct val="118000"/>
              </a:lnSpc>
            </a:pPr>
            <a:r>
              <a:rPr sz="950" b="1" i="0">
                <a:solidFill>
                  <a:srgbClr val="FFFFFF"/>
                </a:solidFill>
                <a:latin typeface="Inter"/>
              </a:rPr>
              <a:t>Ask Field.  </a:t>
            </a:r>
            <a:r>
              <a:rPr sz="900" b="0" i="0">
                <a:solidFill>
                  <a:srgbClr val="9CA3AF"/>
                </a:solidFill>
                <a:latin typeface="Inter"/>
              </a:rPr>
              <a:t>Plain-English questions over every pack, grounded answers, drill-through to client detail.</a:t>
            </a:r>
          </a:p>
        </p:txBody>
      </p:sp>
      <p:sp>
        <p:nvSpPr>
          <p:cNvPr id="16" name="Rounded Rectangle 15"/>
          <p:cNvSpPr/>
          <p:nvPr/>
        </p:nvSpPr>
        <p:spPr>
          <a:xfrm>
            <a:off x="8284464" y="1965960"/>
            <a:ext cx="3401568" cy="1755648"/>
          </a:xfrm>
          <a:prstGeom prst="roundRect">
            <a:avLst>
              <a:gd name="adj" fmla="val 4000"/>
            </a:avLst>
          </a:prstGeom>
          <a:solidFill>
            <a:srgbClr val="0B101A"/>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client_detail_top_2x1.png"/>
          <p:cNvPicPr>
            <a:picLocks noChangeAspect="1"/>
          </p:cNvPicPr>
          <p:nvPr/>
        </p:nvPicPr>
        <p:blipFill>
          <a:blip r:embed="rId4"/>
          <a:stretch>
            <a:fillRect/>
          </a:stretch>
        </p:blipFill>
        <p:spPr>
          <a:xfrm>
            <a:off x="8339328" y="2020824"/>
            <a:ext cx="3291840" cy="1645920"/>
          </a:xfrm>
          <a:prstGeom prst="rect">
            <a:avLst/>
          </a:prstGeom>
        </p:spPr>
      </p:pic>
      <p:sp>
        <p:nvSpPr>
          <p:cNvPr id="18" name="TextBox 17"/>
          <p:cNvSpPr txBox="1"/>
          <p:nvPr/>
        </p:nvSpPr>
        <p:spPr>
          <a:xfrm>
            <a:off x="8284464" y="3858768"/>
            <a:ext cx="3419856" cy="685800"/>
          </a:xfrm>
          <a:prstGeom prst="rect">
            <a:avLst/>
          </a:prstGeom>
          <a:noFill/>
        </p:spPr>
        <p:txBody>
          <a:bodyPr wrap="square" lIns="0" tIns="0" rIns="0" bIns="0" anchor="t"/>
          <a:lstStyle/>
          <a:p>
            <a:pPr algn="l">
              <a:lnSpc>
                <a:spcPct val="118000"/>
              </a:lnSpc>
            </a:pPr>
            <a:r>
              <a:rPr sz="950" b="1" i="0">
                <a:solidFill>
                  <a:srgbClr val="FFFFFF"/>
                </a:solidFill>
                <a:latin typeface="Inter"/>
              </a:rPr>
              <a:t>Client detail.  </a:t>
            </a:r>
            <a:r>
              <a:rPr sz="900" b="0" i="0">
                <a:solidFill>
                  <a:srgbClr val="9CA3AF"/>
                </a:solidFill>
                <a:latin typeface="Inter"/>
              </a:rPr>
              <a:t>Team and branch view: AUM and flow tiles, vehicle, platform, and category allocation.</a:t>
            </a:r>
          </a:p>
        </p:txBody>
      </p:sp>
      <p:sp>
        <p:nvSpPr>
          <p:cNvPr id="19" name="Rounded Rectangle 18"/>
          <p:cNvSpPr/>
          <p:nvPr/>
        </p:nvSpPr>
        <p:spPr>
          <a:xfrm>
            <a:off x="2514600" y="4343400"/>
            <a:ext cx="3401568" cy="1755648"/>
          </a:xfrm>
          <a:prstGeom prst="roundRect">
            <a:avLst>
              <a:gd name="adj" fmla="val 4000"/>
            </a:avLst>
          </a:prstGeom>
          <a:solidFill>
            <a:srgbClr val="0B101A"/>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0" name="Picture 19" descr="wholesaler_dash_2x1.png"/>
          <p:cNvPicPr>
            <a:picLocks noChangeAspect="1"/>
          </p:cNvPicPr>
          <p:nvPr/>
        </p:nvPicPr>
        <p:blipFill>
          <a:blip r:embed="rId5"/>
          <a:stretch>
            <a:fillRect/>
          </a:stretch>
        </p:blipFill>
        <p:spPr>
          <a:xfrm>
            <a:off x="2569464" y="4398264"/>
            <a:ext cx="3291840" cy="1645920"/>
          </a:xfrm>
          <a:prstGeom prst="rect">
            <a:avLst/>
          </a:prstGeom>
        </p:spPr>
      </p:pic>
      <p:sp>
        <p:nvSpPr>
          <p:cNvPr id="21" name="TextBox 20"/>
          <p:cNvSpPr txBox="1"/>
          <p:nvPr/>
        </p:nvSpPr>
        <p:spPr>
          <a:xfrm>
            <a:off x="2514600" y="6236208"/>
            <a:ext cx="3419856" cy="548640"/>
          </a:xfrm>
          <a:prstGeom prst="rect">
            <a:avLst/>
          </a:prstGeom>
          <a:noFill/>
        </p:spPr>
        <p:txBody>
          <a:bodyPr wrap="square" lIns="0" tIns="0" rIns="0" bIns="0" anchor="t"/>
          <a:lstStyle/>
          <a:p>
            <a:pPr algn="l">
              <a:lnSpc>
                <a:spcPct val="118000"/>
              </a:lnSpc>
            </a:pPr>
            <a:r>
              <a:rPr sz="950" b="1" i="0">
                <a:solidFill>
                  <a:srgbClr val="FFFFFF"/>
                </a:solidFill>
                <a:latin typeface="Inter"/>
              </a:rPr>
              <a:t>Wholesaler opportunity dashboard.  </a:t>
            </a:r>
            <a:r>
              <a:rPr sz="900" b="0" i="0">
                <a:solidFill>
                  <a:srgbClr val="9CA3AF"/>
                </a:solidFill>
                <a:latin typeface="Inter"/>
              </a:rPr>
              <a:t>FA-level unified data. Territory heat map and category treemap.</a:t>
            </a:r>
          </a:p>
        </p:txBody>
      </p:sp>
      <p:sp>
        <p:nvSpPr>
          <p:cNvPr id="22" name="Rounded Rectangle 21"/>
          <p:cNvSpPr/>
          <p:nvPr/>
        </p:nvSpPr>
        <p:spPr>
          <a:xfrm>
            <a:off x="6382512" y="4343400"/>
            <a:ext cx="3401568" cy="1755648"/>
          </a:xfrm>
          <a:prstGeom prst="roundRect">
            <a:avLst>
              <a:gd name="adj" fmla="val 4000"/>
            </a:avLst>
          </a:prstGeom>
          <a:solidFill>
            <a:srgbClr val="0B101A"/>
          </a:solidFill>
          <a:ln w="9525">
            <a:solidFill>
              <a:srgbClr val="31C48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comp_adv_2x1.png"/>
          <p:cNvPicPr>
            <a:picLocks noChangeAspect="1"/>
          </p:cNvPicPr>
          <p:nvPr/>
        </p:nvPicPr>
        <p:blipFill>
          <a:blip r:embed="rId6"/>
          <a:stretch>
            <a:fillRect/>
          </a:stretch>
        </p:blipFill>
        <p:spPr>
          <a:xfrm>
            <a:off x="6437376" y="4398264"/>
            <a:ext cx="3291840" cy="1645920"/>
          </a:xfrm>
          <a:prstGeom prst="rect">
            <a:avLst/>
          </a:prstGeom>
        </p:spPr>
      </p:pic>
      <p:sp>
        <p:nvSpPr>
          <p:cNvPr id="24" name="TextBox 23"/>
          <p:cNvSpPr txBox="1"/>
          <p:nvPr/>
        </p:nvSpPr>
        <p:spPr>
          <a:xfrm>
            <a:off x="6382512" y="6236208"/>
            <a:ext cx="3419856" cy="548640"/>
          </a:xfrm>
          <a:prstGeom prst="rect">
            <a:avLst/>
          </a:prstGeom>
          <a:noFill/>
        </p:spPr>
        <p:txBody>
          <a:bodyPr wrap="square" lIns="0" tIns="0" rIns="0" bIns="0" anchor="t"/>
          <a:lstStyle/>
          <a:p>
            <a:pPr algn="l">
              <a:lnSpc>
                <a:spcPct val="118000"/>
              </a:lnSpc>
            </a:pPr>
            <a:r>
              <a:rPr sz="950" b="1" i="0">
                <a:solidFill>
                  <a:srgbClr val="FFFFFF"/>
                </a:solidFill>
                <a:latin typeface="Inter"/>
              </a:rPr>
              <a:t>Competitive advantage.  </a:t>
            </a:r>
            <a:r>
              <a:rPr sz="900" b="0" i="0">
                <a:solidFill>
                  <a:srgbClr val="9CA3AF"/>
                </a:solidFill>
                <a:latin typeface="Inter"/>
              </a:rPr>
              <a:t>Where you win on performance or fees versus what the advisor holds today.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6</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The Foundation Compounds</a:t>
            </a:r>
          </a:p>
        </p:txBody>
      </p:sp>
      <p:sp>
        <p:nvSpPr>
          <p:cNvPr id="5" name="TextBox 4"/>
          <p:cNvSpPr txBox="1"/>
          <p:nvPr/>
        </p:nvSpPr>
        <p:spPr>
          <a:xfrm>
            <a:off x="548640" y="1261872"/>
            <a:ext cx="11064240" cy="502920"/>
          </a:xfrm>
          <a:prstGeom prst="rect">
            <a:avLst/>
          </a:prstGeom>
          <a:noFill/>
        </p:spPr>
        <p:txBody>
          <a:bodyPr wrap="square" lIns="0" tIns="0" rIns="0" bIns="0" anchor="t"/>
          <a:lstStyle/>
          <a:p>
            <a:pPr algn="l">
              <a:lnSpc>
                <a:spcPct val="125000"/>
              </a:lnSpc>
            </a:pPr>
            <a:r>
              <a:rPr sz="1150" b="0" i="0">
                <a:solidFill>
                  <a:srgbClr val="9CA3AF"/>
                </a:solidFill>
                <a:latin typeface="Inter"/>
              </a:rPr>
              <a:t>Additional levels extend the same unified data set, semantic layer, and MCP server. </a:t>
            </a:r>
            <a:r>
              <a:rPr sz="1150" b="1" i="0">
                <a:solidFill>
                  <a:srgbClr val="FFFFFF"/>
                </a:solidFill>
                <a:latin typeface="Inter"/>
              </a:rPr>
              <a:t>Nothing gets rebuilt.</a:t>
            </a:r>
          </a:p>
        </p:txBody>
      </p:sp>
      <p:sp>
        <p:nvSpPr>
          <p:cNvPr id="6" name="TextBox 5"/>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7" name="TextBox 6"/>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20</a:t>
            </a:r>
          </a:p>
        </p:txBody>
      </p:sp>
      <p:sp>
        <p:nvSpPr>
          <p:cNvPr id="8" name="Rounded Rectangle 7"/>
          <p:cNvSpPr/>
          <p:nvPr/>
        </p:nvSpPr>
        <p:spPr>
          <a:xfrm>
            <a:off x="548640" y="1965960"/>
            <a:ext cx="5440680" cy="3566160"/>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04672" y="2212848"/>
            <a:ext cx="868680" cy="274320"/>
          </a:xfrm>
          <a:prstGeom prst="roundRect">
            <a:avLst>
              <a:gd name="adj" fmla="val 16000"/>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FFFFFF"/>
                </a:solidFill>
                <a:latin typeface="Inter"/>
              </a:rPr>
              <a:t>LEVEL 2</a:t>
            </a:r>
          </a:p>
        </p:txBody>
      </p:sp>
      <p:sp>
        <p:nvSpPr>
          <p:cNvPr id="10" name="TextBox 9"/>
          <p:cNvSpPr txBox="1"/>
          <p:nvPr/>
        </p:nvSpPr>
        <p:spPr>
          <a:xfrm>
            <a:off x="804672" y="2606040"/>
            <a:ext cx="4937760" cy="320040"/>
          </a:xfrm>
          <a:prstGeom prst="rect">
            <a:avLst/>
          </a:prstGeom>
          <a:noFill/>
        </p:spPr>
        <p:txBody>
          <a:bodyPr wrap="square" lIns="0" tIns="0" rIns="0" bIns="0" anchor="t"/>
          <a:lstStyle/>
          <a:p>
            <a:pPr algn="l"/>
            <a:r>
              <a:rPr sz="1400" b="1" i="0">
                <a:solidFill>
                  <a:srgbClr val="FFFFFF"/>
                </a:solidFill>
                <a:latin typeface="Inter"/>
              </a:rPr>
              <a:t>Advisor and Team Intelligence</a:t>
            </a:r>
          </a:p>
        </p:txBody>
      </p:sp>
      <p:sp>
        <p:nvSpPr>
          <p:cNvPr id="11" name="Rounded Rectangle 10"/>
          <p:cNvSpPr/>
          <p:nvPr/>
        </p:nvSpPr>
        <p:spPr>
          <a:xfrm>
            <a:off x="804672" y="3063240"/>
            <a:ext cx="4937760" cy="676656"/>
          </a:xfrm>
          <a:prstGeom prst="roundRect">
            <a:avLst>
              <a:gd name="adj" fmla="val 10000"/>
            </a:avLst>
          </a:prstGeom>
          <a:solidFill>
            <a:srgbClr val="0B101A"/>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05840" y="3172968"/>
            <a:ext cx="4572000" cy="475488"/>
          </a:xfrm>
          <a:prstGeom prst="rect">
            <a:avLst/>
          </a:prstGeom>
          <a:noFill/>
        </p:spPr>
        <p:txBody>
          <a:bodyPr wrap="square" lIns="0" tIns="0" rIns="0" bIns="0" anchor="t"/>
          <a:lstStyle/>
          <a:p>
            <a:pPr algn="l">
              <a:lnSpc>
                <a:spcPct val="112000"/>
              </a:lnSpc>
            </a:pPr>
            <a:r>
              <a:rPr sz="1000" b="1" i="0">
                <a:solidFill>
                  <a:srgbClr val="FFFFFF"/>
                </a:solidFill>
                <a:latin typeface="Inter"/>
              </a:rPr>
              <a:t>Commercial data blended.  </a:t>
            </a:r>
            <a:r>
              <a:rPr sz="950" b="0" i="0">
                <a:solidFill>
                  <a:srgbClr val="9CA3AF"/>
                </a:solidFill>
                <a:latin typeface="Inter"/>
              </a:rPr>
              <a:t>Your sales, AUM, and CRM activity joined with the market view for timely sales attribution.</a:t>
            </a:r>
          </a:p>
        </p:txBody>
      </p:sp>
      <p:sp>
        <p:nvSpPr>
          <p:cNvPr id="13" name="Rounded Rectangle 12"/>
          <p:cNvSpPr/>
          <p:nvPr/>
        </p:nvSpPr>
        <p:spPr>
          <a:xfrm>
            <a:off x="804672" y="3849624"/>
            <a:ext cx="4937760" cy="676656"/>
          </a:xfrm>
          <a:prstGeom prst="roundRect">
            <a:avLst>
              <a:gd name="adj" fmla="val 10000"/>
            </a:avLst>
          </a:prstGeom>
          <a:solidFill>
            <a:srgbClr val="0B101A"/>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5840" y="3959352"/>
            <a:ext cx="4572000" cy="475488"/>
          </a:xfrm>
          <a:prstGeom prst="rect">
            <a:avLst/>
          </a:prstGeom>
          <a:noFill/>
        </p:spPr>
        <p:txBody>
          <a:bodyPr wrap="square" lIns="0" tIns="0" rIns="0" bIns="0" anchor="t"/>
          <a:lstStyle/>
          <a:p>
            <a:pPr algn="l">
              <a:lnSpc>
                <a:spcPct val="112000"/>
              </a:lnSpc>
            </a:pPr>
            <a:r>
              <a:rPr sz="1000" b="1" i="0">
                <a:solidFill>
                  <a:srgbClr val="FFFFFF"/>
                </a:solidFill>
                <a:latin typeface="Inter"/>
              </a:rPr>
              <a:t>Closed loop tracking.  </a:t>
            </a:r>
            <a:r>
              <a:rPr sz="950" b="0" i="0">
                <a:solidFill>
                  <a:srgbClr val="9CA3AF"/>
                </a:solidFill>
                <a:latin typeface="Inter"/>
              </a:rPr>
              <a:t>Distribution effectiveness measured from opportunity identified to action executed.</a:t>
            </a:r>
          </a:p>
        </p:txBody>
      </p:sp>
      <p:sp>
        <p:nvSpPr>
          <p:cNvPr id="15" name="Rounded Rectangle 14"/>
          <p:cNvSpPr/>
          <p:nvPr/>
        </p:nvSpPr>
        <p:spPr>
          <a:xfrm>
            <a:off x="804672" y="4636008"/>
            <a:ext cx="4937760" cy="676656"/>
          </a:xfrm>
          <a:prstGeom prst="roundRect">
            <a:avLst>
              <a:gd name="adj" fmla="val 10000"/>
            </a:avLst>
          </a:prstGeom>
          <a:solidFill>
            <a:srgbClr val="0B101A"/>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4745736"/>
            <a:ext cx="4572000" cy="475488"/>
          </a:xfrm>
          <a:prstGeom prst="rect">
            <a:avLst/>
          </a:prstGeom>
          <a:noFill/>
        </p:spPr>
        <p:txBody>
          <a:bodyPr wrap="square" lIns="0" tIns="0" rIns="0" bIns="0" anchor="t"/>
          <a:lstStyle/>
          <a:p>
            <a:pPr algn="l">
              <a:lnSpc>
                <a:spcPct val="112000"/>
              </a:lnSpc>
            </a:pPr>
            <a:r>
              <a:rPr sz="1000" b="1" i="0">
                <a:solidFill>
                  <a:srgbClr val="FFFFFF"/>
                </a:solidFill>
                <a:latin typeface="Inter"/>
              </a:rPr>
              <a:t>CRM writeback.  </a:t>
            </a:r>
            <a:r>
              <a:rPr sz="950" b="0" i="0">
                <a:solidFill>
                  <a:srgbClr val="9CA3AF"/>
                </a:solidFill>
                <a:latin typeface="Inter"/>
              </a:rPr>
              <a:t>Scores and insights delivered into existing workflows via API. No new UI required.</a:t>
            </a:r>
          </a:p>
        </p:txBody>
      </p:sp>
      <p:sp>
        <p:nvSpPr>
          <p:cNvPr id="17" name="Rounded Rectangle 16"/>
          <p:cNvSpPr/>
          <p:nvPr/>
        </p:nvSpPr>
        <p:spPr>
          <a:xfrm>
            <a:off x="6291072" y="1965960"/>
            <a:ext cx="5440680" cy="3566160"/>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547104" y="2212848"/>
            <a:ext cx="868680" cy="274320"/>
          </a:xfrm>
          <a:prstGeom prst="roundRect">
            <a:avLst>
              <a:gd name="adj" fmla="val 16000"/>
            </a:avLst>
          </a:prstGeom>
          <a:solidFill>
            <a:srgbClr val="0E9F6E"/>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800" b="1">
                <a:solidFill>
                  <a:srgbClr val="FFFFFF"/>
                </a:solidFill>
                <a:latin typeface="Inter"/>
              </a:rPr>
              <a:t>LEVEL 3</a:t>
            </a:r>
          </a:p>
        </p:txBody>
      </p:sp>
      <p:sp>
        <p:nvSpPr>
          <p:cNvPr id="19" name="TextBox 18"/>
          <p:cNvSpPr txBox="1"/>
          <p:nvPr/>
        </p:nvSpPr>
        <p:spPr>
          <a:xfrm>
            <a:off x="6547104" y="2606040"/>
            <a:ext cx="4937760" cy="320040"/>
          </a:xfrm>
          <a:prstGeom prst="rect">
            <a:avLst/>
          </a:prstGeom>
          <a:noFill/>
        </p:spPr>
        <p:txBody>
          <a:bodyPr wrap="square" lIns="0" tIns="0" rIns="0" bIns="0" anchor="t"/>
          <a:lstStyle/>
          <a:p>
            <a:pPr algn="l"/>
            <a:r>
              <a:rPr sz="1400" b="1" i="0">
                <a:solidFill>
                  <a:srgbClr val="FFFFFF"/>
                </a:solidFill>
                <a:latin typeface="Inter"/>
              </a:rPr>
              <a:t>Predictive Intelligence</a:t>
            </a:r>
          </a:p>
        </p:txBody>
      </p:sp>
      <p:sp>
        <p:nvSpPr>
          <p:cNvPr id="20" name="Rounded Rectangle 19"/>
          <p:cNvSpPr/>
          <p:nvPr/>
        </p:nvSpPr>
        <p:spPr>
          <a:xfrm>
            <a:off x="6547104" y="3063240"/>
            <a:ext cx="4937760" cy="676656"/>
          </a:xfrm>
          <a:prstGeom prst="roundRect">
            <a:avLst>
              <a:gd name="adj" fmla="val 10000"/>
            </a:avLst>
          </a:prstGeom>
          <a:solidFill>
            <a:srgbClr val="0B101A"/>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748272" y="3172968"/>
            <a:ext cx="4572000" cy="475488"/>
          </a:xfrm>
          <a:prstGeom prst="rect">
            <a:avLst/>
          </a:prstGeom>
          <a:noFill/>
        </p:spPr>
        <p:txBody>
          <a:bodyPr wrap="square" lIns="0" tIns="0" rIns="0" bIns="0" anchor="t"/>
          <a:lstStyle/>
          <a:p>
            <a:pPr algn="l">
              <a:lnSpc>
                <a:spcPct val="112000"/>
              </a:lnSpc>
            </a:pPr>
            <a:r>
              <a:rPr sz="1000" b="1" i="0">
                <a:solidFill>
                  <a:srgbClr val="FFFFFF"/>
                </a:solidFill>
                <a:latin typeface="Inter"/>
              </a:rPr>
              <a:t>Deeper segmentation.  </a:t>
            </a:r>
            <a:r>
              <a:rPr sz="950" b="0" i="0">
                <a:solidFill>
                  <a:srgbClr val="9CA3AF"/>
                </a:solidFill>
                <a:latin typeface="Inter"/>
              </a:rPr>
              <a:t>Multi-attribute scoring designed with your analytics group, beyond a simple top-decile cut.</a:t>
            </a:r>
          </a:p>
        </p:txBody>
      </p:sp>
      <p:sp>
        <p:nvSpPr>
          <p:cNvPr id="22" name="Rounded Rectangle 21"/>
          <p:cNvSpPr/>
          <p:nvPr/>
        </p:nvSpPr>
        <p:spPr>
          <a:xfrm>
            <a:off x="6547104" y="3849624"/>
            <a:ext cx="4937760" cy="676656"/>
          </a:xfrm>
          <a:prstGeom prst="roundRect">
            <a:avLst>
              <a:gd name="adj" fmla="val 10000"/>
            </a:avLst>
          </a:prstGeom>
          <a:solidFill>
            <a:srgbClr val="0B101A"/>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748272" y="3959352"/>
            <a:ext cx="4572000" cy="475488"/>
          </a:xfrm>
          <a:prstGeom prst="rect">
            <a:avLst/>
          </a:prstGeom>
          <a:noFill/>
        </p:spPr>
        <p:txBody>
          <a:bodyPr wrap="square" lIns="0" tIns="0" rIns="0" bIns="0" anchor="t"/>
          <a:lstStyle/>
          <a:p>
            <a:pPr algn="l">
              <a:lnSpc>
                <a:spcPct val="112000"/>
              </a:lnSpc>
            </a:pPr>
            <a:r>
              <a:rPr sz="1000" b="1" i="0">
                <a:solidFill>
                  <a:srgbClr val="FFFFFF"/>
                </a:solidFill>
                <a:latin typeface="Inter"/>
              </a:rPr>
              <a:t>Predictive models.  </a:t>
            </a:r>
            <a:r>
              <a:rPr sz="950" b="0" i="0">
                <a:solidFill>
                  <a:srgbClr val="9CA3AF"/>
                </a:solidFill>
                <a:latin typeface="Inter"/>
              </a:rPr>
              <a:t>Propensity, market basket, and regression models tuned by Field data science.</a:t>
            </a:r>
          </a:p>
        </p:txBody>
      </p:sp>
      <p:sp>
        <p:nvSpPr>
          <p:cNvPr id="24" name="Rounded Rectangle 23"/>
          <p:cNvSpPr/>
          <p:nvPr/>
        </p:nvSpPr>
        <p:spPr>
          <a:xfrm>
            <a:off x="6547104" y="4636008"/>
            <a:ext cx="4937760" cy="676656"/>
          </a:xfrm>
          <a:prstGeom prst="roundRect">
            <a:avLst>
              <a:gd name="adj" fmla="val 10000"/>
            </a:avLst>
          </a:prstGeom>
          <a:solidFill>
            <a:srgbClr val="0B101A"/>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48272" y="4745736"/>
            <a:ext cx="4572000" cy="475488"/>
          </a:xfrm>
          <a:prstGeom prst="rect">
            <a:avLst/>
          </a:prstGeom>
          <a:noFill/>
        </p:spPr>
        <p:txBody>
          <a:bodyPr wrap="square" lIns="0" tIns="0" rIns="0" bIns="0" anchor="t"/>
          <a:lstStyle/>
          <a:p>
            <a:pPr algn="l">
              <a:lnSpc>
                <a:spcPct val="112000"/>
              </a:lnSpc>
            </a:pPr>
            <a:r>
              <a:rPr sz="1000" b="1" i="0">
                <a:solidFill>
                  <a:srgbClr val="FFFFFF"/>
                </a:solidFill>
                <a:latin typeface="Inter"/>
              </a:rPr>
              <a:t>Prescriptive targeting.  </a:t>
            </a:r>
            <a:r>
              <a:rPr sz="950" b="0" i="0">
                <a:solidFill>
                  <a:srgbClr val="9CA3AF"/>
                </a:solidFill>
                <a:latin typeface="Inter"/>
              </a:rPr>
              <a:t>The right opportunity surfaced at the right time, for the products you care about most.</a:t>
            </a:r>
          </a:p>
        </p:txBody>
      </p:sp>
      <p:sp>
        <p:nvSpPr>
          <p:cNvPr id="26" name="Rounded Rectangle 25"/>
          <p:cNvSpPr/>
          <p:nvPr/>
        </p:nvSpPr>
        <p:spPr>
          <a:xfrm>
            <a:off x="548640" y="5806440"/>
            <a:ext cx="11091672" cy="566928"/>
          </a:xfrm>
          <a:prstGeom prst="roundRect">
            <a:avLst>
              <a:gd name="adj" fmla="val 10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48640" y="5943600"/>
            <a:ext cx="11091672" cy="365760"/>
          </a:xfrm>
          <a:prstGeom prst="rect">
            <a:avLst/>
          </a:prstGeom>
          <a:noFill/>
        </p:spPr>
        <p:txBody>
          <a:bodyPr wrap="square" lIns="0" tIns="0" rIns="0" bIns="0" anchor="t"/>
          <a:lstStyle/>
          <a:p>
            <a:pPr algn="ctr"/>
            <a:r>
              <a:rPr sz="1100" b="1" i="0">
                <a:solidFill>
                  <a:srgbClr val="FFFFFF"/>
                </a:solidFill>
                <a:latin typeface="Inter"/>
              </a:rPr>
              <a:t>One durable asset that compounds in value</a:t>
            </a:r>
            <a:r>
              <a:rPr sz="1100" b="0" i="0">
                <a:solidFill>
                  <a:srgbClr val="9CA3AF"/>
                </a:solidFill>
                <a:latin typeface="Inter"/>
              </a:rPr>
              <a:t> as packs, commercial data, and models are added.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7</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Architecture &amp; Security</a:t>
            </a:r>
          </a:p>
        </p:txBody>
      </p:sp>
      <p:sp>
        <p:nvSpPr>
          <p:cNvPr id="5" name="TextBox 4"/>
          <p:cNvSpPr txBox="1"/>
          <p:nvPr/>
        </p:nvSpPr>
        <p:spPr>
          <a:xfrm>
            <a:off x="548640" y="1261872"/>
            <a:ext cx="11064240" cy="731520"/>
          </a:xfrm>
          <a:prstGeom prst="rect">
            <a:avLst/>
          </a:prstGeom>
          <a:noFill/>
        </p:spPr>
        <p:txBody>
          <a:bodyPr wrap="square" lIns="0" tIns="0" rIns="0" bIns="0" anchor="t"/>
          <a:lstStyle/>
          <a:p>
            <a:pPr algn="l">
              <a:lnSpc>
                <a:spcPct val="125000"/>
              </a:lnSpc>
            </a:pPr>
            <a:r>
              <a:rPr sz="1150" b="0" i="0">
                <a:solidFill>
                  <a:srgbClr val="9CA3AF"/>
                </a:solidFill>
                <a:latin typeface="Inter"/>
              </a:rPr>
              <a:t>Field's infrastructure is designed for enterprise asset management from day one. </a:t>
            </a:r>
            <a:r>
              <a:rPr sz="1150" b="1" i="0">
                <a:solidFill>
                  <a:srgbClr val="FFFFFF"/>
                </a:solidFill>
                <a:latin typeface="Inter"/>
              </a:rPr>
              <a:t>Database-per-tenant isolation</a:t>
            </a:r>
            <a:r>
              <a:rPr sz="1150" b="0" i="0">
                <a:solidFill>
                  <a:srgbClr val="9CA3AF"/>
                </a:solidFill>
                <a:latin typeface="Inter"/>
              </a:rPr>
              <a:t> as the primary boundary, defense in depth across identity, encryption, and infrastructure layers, comprehensive audit logging on every access path including MCP.</a:t>
            </a:r>
          </a:p>
        </p:txBody>
      </p:sp>
      <p:sp>
        <p:nvSpPr>
          <p:cNvPr id="6" name="TextBox 5"/>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7" name="TextBox 6"/>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21</a:t>
            </a:r>
          </a:p>
        </p:txBody>
      </p:sp>
      <p:sp>
        <p:nvSpPr>
          <p:cNvPr id="8" name="TextBox 7"/>
          <p:cNvSpPr txBox="1"/>
          <p:nvPr/>
        </p:nvSpPr>
        <p:spPr>
          <a:xfrm>
            <a:off x="548640" y="2148840"/>
            <a:ext cx="5486400" cy="274320"/>
          </a:xfrm>
          <a:prstGeom prst="rect">
            <a:avLst/>
          </a:prstGeom>
          <a:noFill/>
        </p:spPr>
        <p:txBody>
          <a:bodyPr wrap="square" lIns="0" tIns="0" rIns="0" bIns="0" anchor="t"/>
          <a:lstStyle/>
          <a:p>
            <a:pPr algn="l"/>
            <a:r>
              <a:rPr sz="900" b="1" i="0" spc="200">
                <a:solidFill>
                  <a:srgbClr val="31C48D"/>
                </a:solidFill>
                <a:latin typeface="Inter"/>
              </a:rPr>
              <a:t>SYSTEM ARCHITECTURE</a:t>
            </a:r>
          </a:p>
        </p:txBody>
      </p:sp>
      <p:sp>
        <p:nvSpPr>
          <p:cNvPr id="9" name="Rounded Rectangle 8"/>
          <p:cNvSpPr/>
          <p:nvPr/>
        </p:nvSpPr>
        <p:spPr>
          <a:xfrm>
            <a:off x="548640" y="2468880"/>
            <a:ext cx="11091672" cy="3886200"/>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8" y="2779776"/>
            <a:ext cx="1737360" cy="274320"/>
          </a:xfrm>
          <a:prstGeom prst="rect">
            <a:avLst/>
          </a:prstGeom>
          <a:noFill/>
        </p:spPr>
        <p:txBody>
          <a:bodyPr wrap="square" lIns="0" tIns="0" rIns="0" bIns="0" anchor="t"/>
          <a:lstStyle/>
          <a:p>
            <a:pPr algn="l"/>
            <a:r>
              <a:rPr sz="900" b="1" i="0" spc="120">
                <a:solidFill>
                  <a:srgbClr val="31C48D"/>
                </a:solidFill>
                <a:latin typeface="Inter"/>
              </a:rPr>
              <a:t>INGESTION</a:t>
            </a:r>
          </a:p>
        </p:txBody>
      </p:sp>
      <p:sp>
        <p:nvSpPr>
          <p:cNvPr id="11" name="Rounded Rectangle 10"/>
          <p:cNvSpPr/>
          <p:nvPr/>
        </p:nvSpPr>
        <p:spPr>
          <a:xfrm>
            <a:off x="2743200" y="2670048"/>
            <a:ext cx="2752344" cy="402336"/>
          </a:xfrm>
          <a:prstGeom prst="roundRect">
            <a:avLst>
              <a:gd name="adj" fmla="val 12000"/>
            </a:avLst>
          </a:prstGeom>
          <a:solidFill>
            <a:srgbClr val="0B101A"/>
          </a:solidFill>
          <a:ln w="9525">
            <a:solidFill>
              <a:srgbClr val="384252"/>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0">
                <a:solidFill>
                  <a:srgbClr val="FFFFFF"/>
                </a:solidFill>
                <a:latin typeface="Inter"/>
              </a:rPr>
              <a:t>Snowflake data share (default)</a:t>
            </a:r>
          </a:p>
        </p:txBody>
      </p:sp>
      <p:sp>
        <p:nvSpPr>
          <p:cNvPr id="12" name="Rounded Rectangle 11"/>
          <p:cNvSpPr/>
          <p:nvPr/>
        </p:nvSpPr>
        <p:spPr>
          <a:xfrm>
            <a:off x="5660136" y="2670048"/>
            <a:ext cx="2602382" cy="402336"/>
          </a:xfrm>
          <a:prstGeom prst="roundRect">
            <a:avLst>
              <a:gd name="adj" fmla="val 12000"/>
            </a:avLst>
          </a:prstGeom>
          <a:solidFill>
            <a:srgbClr val="0B101A"/>
          </a:solidFill>
          <a:ln w="9525">
            <a:solidFill>
              <a:srgbClr val="384252"/>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0">
                <a:solidFill>
                  <a:srgbClr val="FFFFFF"/>
                </a:solidFill>
                <a:latin typeface="Inter"/>
              </a:rPr>
              <a:t>SFTP → S3 landing (fallback)</a:t>
            </a:r>
          </a:p>
        </p:txBody>
      </p:sp>
      <p:cxnSp>
        <p:nvCxnSpPr>
          <p:cNvPr id="13" name="Connector 12"/>
          <p:cNvCxnSpPr/>
          <p:nvPr/>
        </p:nvCxnSpPr>
        <p:spPr>
          <a:xfrm>
            <a:off x="841248" y="3191256"/>
            <a:ext cx="10497312" cy="0"/>
          </a:xfrm>
          <a:prstGeom prst="line">
            <a:avLst/>
          </a:prstGeom>
          <a:ln w="9525">
            <a:solidFill>
              <a:srgbClr val="2B3443"/>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841248" y="3401568"/>
            <a:ext cx="1737360" cy="274320"/>
          </a:xfrm>
          <a:prstGeom prst="rect">
            <a:avLst/>
          </a:prstGeom>
          <a:noFill/>
        </p:spPr>
        <p:txBody>
          <a:bodyPr wrap="square" lIns="0" tIns="0" rIns="0" bIns="0" anchor="t"/>
          <a:lstStyle/>
          <a:p>
            <a:pPr algn="l"/>
            <a:r>
              <a:rPr sz="900" b="1" i="0" spc="120">
                <a:solidFill>
                  <a:srgbClr val="31C48D"/>
                </a:solidFill>
                <a:latin typeface="Inter"/>
              </a:rPr>
              <a:t>UNIFIED STORE</a:t>
            </a:r>
          </a:p>
        </p:txBody>
      </p:sp>
      <p:sp>
        <p:nvSpPr>
          <p:cNvPr id="15" name="Rounded Rectangle 14"/>
          <p:cNvSpPr/>
          <p:nvPr/>
        </p:nvSpPr>
        <p:spPr>
          <a:xfrm>
            <a:off x="2743200" y="3291840"/>
            <a:ext cx="2827324" cy="402336"/>
          </a:xfrm>
          <a:prstGeom prst="roundRect">
            <a:avLst>
              <a:gd name="adj" fmla="val 12000"/>
            </a:avLst>
          </a:prstGeom>
          <a:solidFill>
            <a:srgbClr val="103637"/>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1">
                <a:solidFill>
                  <a:srgbClr val="31C48D"/>
                </a:solidFill>
                <a:latin typeface="Inter"/>
              </a:rPr>
              <a:t>Snowflake · database-per-tenant</a:t>
            </a:r>
          </a:p>
        </p:txBody>
      </p:sp>
      <p:cxnSp>
        <p:nvCxnSpPr>
          <p:cNvPr id="16" name="Connector 15"/>
          <p:cNvCxnSpPr/>
          <p:nvPr/>
        </p:nvCxnSpPr>
        <p:spPr>
          <a:xfrm>
            <a:off x="841248" y="3813048"/>
            <a:ext cx="10497312" cy="0"/>
          </a:xfrm>
          <a:prstGeom prst="line">
            <a:avLst/>
          </a:prstGeom>
          <a:ln w="9525">
            <a:solidFill>
              <a:srgbClr val="2B3443"/>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41248" y="4023360"/>
            <a:ext cx="1737360" cy="274320"/>
          </a:xfrm>
          <a:prstGeom prst="rect">
            <a:avLst/>
          </a:prstGeom>
          <a:noFill/>
        </p:spPr>
        <p:txBody>
          <a:bodyPr wrap="square" lIns="0" tIns="0" rIns="0" bIns="0" anchor="t"/>
          <a:lstStyle/>
          <a:p>
            <a:pPr algn="l"/>
            <a:r>
              <a:rPr sz="900" b="1" i="0" spc="120">
                <a:solidFill>
                  <a:srgbClr val="31C48D"/>
                </a:solidFill>
                <a:latin typeface="Inter"/>
              </a:rPr>
              <a:t>TRANSFORMATION</a:t>
            </a:r>
          </a:p>
        </p:txBody>
      </p:sp>
      <p:sp>
        <p:nvSpPr>
          <p:cNvPr id="18" name="Rounded Rectangle 17"/>
          <p:cNvSpPr/>
          <p:nvPr/>
        </p:nvSpPr>
        <p:spPr>
          <a:xfrm>
            <a:off x="2743200" y="3913632"/>
            <a:ext cx="1927555" cy="402336"/>
          </a:xfrm>
          <a:prstGeom prst="roundRect">
            <a:avLst>
              <a:gd name="adj" fmla="val 12000"/>
            </a:avLst>
          </a:prstGeom>
          <a:solidFill>
            <a:srgbClr val="0B101A"/>
          </a:solidFill>
          <a:ln w="9525">
            <a:solidFill>
              <a:srgbClr val="384252"/>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0">
                <a:solidFill>
                  <a:srgbClr val="FFFFFF"/>
                </a:solidFill>
                <a:latin typeface="Inter"/>
              </a:rPr>
              <a:t>dbt Cloud (SQL DAG)</a:t>
            </a:r>
          </a:p>
        </p:txBody>
      </p:sp>
      <p:sp>
        <p:nvSpPr>
          <p:cNvPr id="19" name="Rounded Rectangle 18"/>
          <p:cNvSpPr/>
          <p:nvPr/>
        </p:nvSpPr>
        <p:spPr>
          <a:xfrm>
            <a:off x="4835347" y="3913632"/>
            <a:ext cx="2752344" cy="402336"/>
          </a:xfrm>
          <a:prstGeom prst="roundRect">
            <a:avLst>
              <a:gd name="adj" fmla="val 12000"/>
            </a:avLst>
          </a:prstGeom>
          <a:solidFill>
            <a:srgbClr val="0B101A"/>
          </a:solidFill>
          <a:ln w="9525">
            <a:solidFill>
              <a:srgbClr val="384252"/>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0">
                <a:solidFill>
                  <a:srgbClr val="FFFFFF"/>
                </a:solidFill>
                <a:latin typeface="Inter"/>
              </a:rPr>
              <a:t>Python notebooks (ML, Level 3)</a:t>
            </a:r>
          </a:p>
        </p:txBody>
      </p:sp>
      <p:sp>
        <p:nvSpPr>
          <p:cNvPr id="20" name="Rounded Rectangle 19"/>
          <p:cNvSpPr/>
          <p:nvPr/>
        </p:nvSpPr>
        <p:spPr>
          <a:xfrm>
            <a:off x="7752283" y="3913632"/>
            <a:ext cx="952804" cy="402336"/>
          </a:xfrm>
          <a:prstGeom prst="roundRect">
            <a:avLst>
              <a:gd name="adj" fmla="val 12000"/>
            </a:avLst>
          </a:prstGeom>
          <a:solidFill>
            <a:srgbClr val="0B101A"/>
          </a:solidFill>
          <a:ln w="9525">
            <a:solidFill>
              <a:srgbClr val="384252"/>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0">
                <a:solidFill>
                  <a:srgbClr val="FFFFFF"/>
                </a:solidFill>
                <a:latin typeface="Inter"/>
              </a:rPr>
              <a:t>GitHub</a:t>
            </a:r>
          </a:p>
        </p:txBody>
      </p:sp>
      <p:cxnSp>
        <p:nvCxnSpPr>
          <p:cNvPr id="21" name="Connector 20"/>
          <p:cNvCxnSpPr/>
          <p:nvPr/>
        </p:nvCxnSpPr>
        <p:spPr>
          <a:xfrm>
            <a:off x="841248" y="4434840"/>
            <a:ext cx="10497312" cy="0"/>
          </a:xfrm>
          <a:prstGeom prst="line">
            <a:avLst/>
          </a:prstGeom>
          <a:ln w="9525">
            <a:solidFill>
              <a:srgbClr val="2B3443"/>
            </a:solidFill>
          </a:ln>
          <a:effectLst/>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841248" y="4645152"/>
            <a:ext cx="1737360" cy="274320"/>
          </a:xfrm>
          <a:prstGeom prst="rect">
            <a:avLst/>
          </a:prstGeom>
          <a:noFill/>
        </p:spPr>
        <p:txBody>
          <a:bodyPr wrap="square" lIns="0" tIns="0" rIns="0" bIns="0" anchor="t"/>
          <a:lstStyle/>
          <a:p>
            <a:pPr algn="l"/>
            <a:r>
              <a:rPr sz="900" b="1" i="0" spc="120">
                <a:solidFill>
                  <a:srgbClr val="31C48D"/>
                </a:solidFill>
                <a:latin typeface="Inter"/>
              </a:rPr>
              <a:t>SEMANTIC + AI</a:t>
            </a:r>
          </a:p>
        </p:txBody>
      </p:sp>
      <p:sp>
        <p:nvSpPr>
          <p:cNvPr id="23" name="Rounded Rectangle 22"/>
          <p:cNvSpPr/>
          <p:nvPr/>
        </p:nvSpPr>
        <p:spPr>
          <a:xfrm>
            <a:off x="2743200" y="4535424"/>
            <a:ext cx="2227478" cy="402336"/>
          </a:xfrm>
          <a:prstGeom prst="roundRect">
            <a:avLst>
              <a:gd name="adj" fmla="val 12000"/>
            </a:avLst>
          </a:prstGeom>
          <a:solidFill>
            <a:srgbClr val="103637"/>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1">
                <a:solidFill>
                  <a:srgbClr val="31C48D"/>
                </a:solidFill>
                <a:latin typeface="Inter"/>
              </a:rPr>
              <a:t>Snowflake Semantic View</a:t>
            </a:r>
          </a:p>
        </p:txBody>
      </p:sp>
      <p:sp>
        <p:nvSpPr>
          <p:cNvPr id="24" name="Rounded Rectangle 23"/>
          <p:cNvSpPr/>
          <p:nvPr/>
        </p:nvSpPr>
        <p:spPr>
          <a:xfrm>
            <a:off x="5135270" y="4535424"/>
            <a:ext cx="1852574" cy="402336"/>
          </a:xfrm>
          <a:prstGeom prst="roundRect">
            <a:avLst>
              <a:gd name="adj" fmla="val 12000"/>
            </a:avLst>
          </a:prstGeom>
          <a:solidFill>
            <a:srgbClr val="103637"/>
          </a:solidFill>
          <a:ln w="9525">
            <a:solidFill>
              <a:srgbClr val="0E9F6E"/>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1">
                <a:solidFill>
                  <a:srgbClr val="31C48D"/>
                </a:solidFill>
                <a:latin typeface="Inter"/>
              </a:rPr>
              <a:t>Managed MCP Server</a:t>
            </a:r>
          </a:p>
        </p:txBody>
      </p:sp>
      <p:sp>
        <p:nvSpPr>
          <p:cNvPr id="25" name="Rounded Rectangle 24"/>
          <p:cNvSpPr/>
          <p:nvPr/>
        </p:nvSpPr>
        <p:spPr>
          <a:xfrm>
            <a:off x="7152436" y="4535424"/>
            <a:ext cx="2002536" cy="402336"/>
          </a:xfrm>
          <a:prstGeom prst="roundRect">
            <a:avLst>
              <a:gd name="adj" fmla="val 12000"/>
            </a:avLst>
          </a:prstGeom>
          <a:solidFill>
            <a:srgbClr val="0B101A"/>
          </a:solidFill>
          <a:ln w="9525">
            <a:solidFill>
              <a:srgbClr val="384252"/>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lang="en-US" sz="1000" b="0" dirty="0">
                <a:solidFill>
                  <a:srgbClr val="FFFFFF"/>
                </a:solidFill>
                <a:latin typeface="Inter"/>
              </a:rPr>
              <a:t>Frontier LLM’s </a:t>
            </a:r>
            <a:r>
              <a:rPr lang="en-US" sz="1000" b="0">
                <a:solidFill>
                  <a:srgbClr val="FFFFFF"/>
                </a:solidFill>
                <a:latin typeface="Inter"/>
              </a:rPr>
              <a:t>for </a:t>
            </a:r>
            <a:r>
              <a:rPr sz="1000" b="0">
                <a:solidFill>
                  <a:srgbClr val="FFFFFF"/>
                </a:solidFill>
                <a:latin typeface="Inter"/>
              </a:rPr>
              <a:t>NLP</a:t>
            </a:r>
            <a:endParaRPr sz="1000" b="0" dirty="0">
              <a:solidFill>
                <a:srgbClr val="FFFFFF"/>
              </a:solidFill>
              <a:latin typeface="Inter"/>
            </a:endParaRPr>
          </a:p>
        </p:txBody>
      </p:sp>
      <p:cxnSp>
        <p:nvCxnSpPr>
          <p:cNvPr id="26" name="Connector 25"/>
          <p:cNvCxnSpPr/>
          <p:nvPr/>
        </p:nvCxnSpPr>
        <p:spPr>
          <a:xfrm>
            <a:off x="841248" y="5056631"/>
            <a:ext cx="10497312" cy="0"/>
          </a:xfrm>
          <a:prstGeom prst="line">
            <a:avLst/>
          </a:prstGeom>
          <a:ln w="9525">
            <a:solidFill>
              <a:srgbClr val="2B3443"/>
            </a:solidFill>
          </a:ln>
          <a:effectLst/>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41248" y="5266944"/>
            <a:ext cx="1737360" cy="274320"/>
          </a:xfrm>
          <a:prstGeom prst="rect">
            <a:avLst/>
          </a:prstGeom>
          <a:noFill/>
        </p:spPr>
        <p:txBody>
          <a:bodyPr wrap="square" lIns="0" tIns="0" rIns="0" bIns="0" anchor="t"/>
          <a:lstStyle/>
          <a:p>
            <a:pPr algn="l"/>
            <a:r>
              <a:rPr sz="900" b="1" i="0" spc="120">
                <a:solidFill>
                  <a:srgbClr val="31C48D"/>
                </a:solidFill>
                <a:latin typeface="Inter"/>
              </a:rPr>
              <a:t>DASHBOARDS</a:t>
            </a:r>
          </a:p>
        </p:txBody>
      </p:sp>
      <p:sp>
        <p:nvSpPr>
          <p:cNvPr id="28" name="Rounded Rectangle 27"/>
          <p:cNvSpPr/>
          <p:nvPr/>
        </p:nvSpPr>
        <p:spPr>
          <a:xfrm>
            <a:off x="2743200" y="5157216"/>
            <a:ext cx="1252728" cy="402336"/>
          </a:xfrm>
          <a:prstGeom prst="roundRect">
            <a:avLst>
              <a:gd name="adj" fmla="val 12000"/>
            </a:avLst>
          </a:prstGeom>
          <a:solidFill>
            <a:srgbClr val="0B101A"/>
          </a:solidFill>
          <a:ln w="9525">
            <a:solidFill>
              <a:srgbClr val="384252"/>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0">
                <a:solidFill>
                  <a:srgbClr val="FFFFFF"/>
                </a:solidFill>
                <a:latin typeface="Inter"/>
              </a:rPr>
              <a:t>ClickHouse</a:t>
            </a:r>
          </a:p>
        </p:txBody>
      </p:sp>
      <p:sp>
        <p:nvSpPr>
          <p:cNvPr id="29" name="Rounded Rectangle 28"/>
          <p:cNvSpPr/>
          <p:nvPr/>
        </p:nvSpPr>
        <p:spPr>
          <a:xfrm>
            <a:off x="4160520" y="5157216"/>
            <a:ext cx="1327708" cy="402336"/>
          </a:xfrm>
          <a:prstGeom prst="roundRect">
            <a:avLst>
              <a:gd name="adj" fmla="val 12000"/>
            </a:avLst>
          </a:prstGeom>
          <a:solidFill>
            <a:srgbClr val="0B101A"/>
          </a:solidFill>
          <a:ln w="9525">
            <a:solidFill>
              <a:srgbClr val="384252"/>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0">
                <a:solidFill>
                  <a:srgbClr val="FFFFFF"/>
                </a:solidFill>
                <a:latin typeface="Inter"/>
              </a:rPr>
              <a:t>React.JS UI</a:t>
            </a:r>
          </a:p>
        </p:txBody>
      </p:sp>
      <p:cxnSp>
        <p:nvCxnSpPr>
          <p:cNvPr id="30" name="Connector 29"/>
          <p:cNvCxnSpPr/>
          <p:nvPr/>
        </p:nvCxnSpPr>
        <p:spPr>
          <a:xfrm>
            <a:off x="841248" y="5678423"/>
            <a:ext cx="10497312" cy="0"/>
          </a:xfrm>
          <a:prstGeom prst="line">
            <a:avLst/>
          </a:prstGeom>
          <a:ln w="9525">
            <a:solidFill>
              <a:srgbClr val="2B3443"/>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41248" y="5888736"/>
            <a:ext cx="1737360" cy="274320"/>
          </a:xfrm>
          <a:prstGeom prst="rect">
            <a:avLst/>
          </a:prstGeom>
          <a:noFill/>
        </p:spPr>
        <p:txBody>
          <a:bodyPr wrap="square" lIns="0" tIns="0" rIns="0" bIns="0" anchor="t"/>
          <a:lstStyle/>
          <a:p>
            <a:pPr algn="l"/>
            <a:r>
              <a:rPr sz="900" b="1" i="0" spc="120">
                <a:solidFill>
                  <a:srgbClr val="31C48D"/>
                </a:solidFill>
                <a:latin typeface="Inter"/>
              </a:rPr>
              <a:t>RETURN TO CLIENT</a:t>
            </a:r>
          </a:p>
        </p:txBody>
      </p:sp>
      <p:sp>
        <p:nvSpPr>
          <p:cNvPr id="32" name="Rounded Rectangle 31"/>
          <p:cNvSpPr/>
          <p:nvPr/>
        </p:nvSpPr>
        <p:spPr>
          <a:xfrm>
            <a:off x="2743200" y="5779007"/>
            <a:ext cx="2002536" cy="402336"/>
          </a:xfrm>
          <a:prstGeom prst="roundRect">
            <a:avLst>
              <a:gd name="adj" fmla="val 12000"/>
            </a:avLst>
          </a:prstGeom>
          <a:solidFill>
            <a:srgbClr val="0B101A"/>
          </a:solidFill>
          <a:ln w="9525">
            <a:solidFill>
              <a:srgbClr val="384252"/>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0">
                <a:solidFill>
                  <a:srgbClr val="FFFFFF"/>
                </a:solidFill>
                <a:latin typeface="Inter"/>
              </a:rPr>
              <a:t>Snowflake data share</a:t>
            </a:r>
          </a:p>
        </p:txBody>
      </p:sp>
      <p:sp>
        <p:nvSpPr>
          <p:cNvPr id="33" name="Rounded Rectangle 32"/>
          <p:cNvSpPr/>
          <p:nvPr/>
        </p:nvSpPr>
        <p:spPr>
          <a:xfrm>
            <a:off x="4910328" y="5779007"/>
            <a:ext cx="1402689" cy="402336"/>
          </a:xfrm>
          <a:prstGeom prst="roundRect">
            <a:avLst>
              <a:gd name="adj" fmla="val 12000"/>
            </a:avLst>
          </a:prstGeom>
          <a:solidFill>
            <a:srgbClr val="0B101A"/>
          </a:solidFill>
          <a:ln w="9525">
            <a:solidFill>
              <a:srgbClr val="384252"/>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0">
                <a:solidFill>
                  <a:srgbClr val="FFFFFF"/>
                </a:solidFill>
                <a:latin typeface="Inter"/>
              </a:rPr>
              <a:t>MCP endpoint</a:t>
            </a:r>
          </a:p>
        </p:txBody>
      </p:sp>
      <p:sp>
        <p:nvSpPr>
          <p:cNvPr id="34" name="Rounded Rectangle 33"/>
          <p:cNvSpPr/>
          <p:nvPr/>
        </p:nvSpPr>
        <p:spPr>
          <a:xfrm>
            <a:off x="6477609" y="5779007"/>
            <a:ext cx="2527401" cy="402336"/>
          </a:xfrm>
          <a:prstGeom prst="roundRect">
            <a:avLst>
              <a:gd name="adj" fmla="val 12000"/>
            </a:avLst>
          </a:prstGeom>
          <a:solidFill>
            <a:srgbClr val="0B101A"/>
          </a:solidFill>
          <a:ln w="9525">
            <a:solidFill>
              <a:srgbClr val="384252"/>
            </a:solidFill>
          </a:ln>
          <a:effectLst/>
        </p:spPr>
        <p:style>
          <a:lnRef idx="1">
            <a:schemeClr val="accent1"/>
          </a:lnRef>
          <a:fillRef idx="3">
            <a:schemeClr val="accent1"/>
          </a:fillRef>
          <a:effectRef idx="2">
            <a:schemeClr val="accent1"/>
          </a:effectRef>
          <a:fontRef idx="minor">
            <a:schemeClr val="lt1"/>
          </a:fontRef>
        </p:style>
        <p:txBody>
          <a:bodyPr wrap="none" lIns="73152" tIns="0" rIns="73152" bIns="0" rtlCol="0" anchor="ctr"/>
          <a:lstStyle/>
          <a:p>
            <a:pPr algn="ctr"/>
            <a:r>
              <a:rPr sz="1000" b="0">
                <a:solidFill>
                  <a:srgbClr val="FFFFFF"/>
                </a:solidFill>
                <a:latin typeface="Inter"/>
              </a:rPr>
              <a:t>CRM writeback API (Phase 2)</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7</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Multi-tenant isolation</a:t>
            </a:r>
          </a:p>
        </p:txBody>
      </p:sp>
      <p:sp>
        <p:nvSpPr>
          <p:cNvPr id="5" name="TextBox 4"/>
          <p:cNvSpPr txBox="1"/>
          <p:nvPr/>
        </p:nvSpPr>
        <p:spPr>
          <a:xfrm>
            <a:off x="548640" y="1261872"/>
            <a:ext cx="11064240" cy="548640"/>
          </a:xfrm>
          <a:prstGeom prst="rect">
            <a:avLst/>
          </a:prstGeom>
          <a:noFill/>
        </p:spPr>
        <p:txBody>
          <a:bodyPr wrap="square" lIns="0" tIns="0" rIns="0" bIns="0" anchor="t"/>
          <a:lstStyle/>
          <a:p>
            <a:pPr algn="l">
              <a:lnSpc>
                <a:spcPct val="125000"/>
              </a:lnSpc>
            </a:pPr>
            <a:r>
              <a:rPr sz="1150" b="1" i="0">
                <a:solidFill>
                  <a:srgbClr val="FFFFFF"/>
                </a:solidFill>
                <a:latin typeface="Inter"/>
              </a:rPr>
              <a:t>Database-per-AM, enforced at the warehouse layer.</a:t>
            </a:r>
            <a:r>
              <a:rPr sz="1150" b="0" i="0">
                <a:solidFill>
                  <a:srgbClr val="9CA3AF"/>
                </a:solidFill>
                <a:latin typeface="Inter"/>
              </a:rPr>
              <a:t> Each client's data resides in its own Snowflake database, and every access path is scoped and logged.</a:t>
            </a:r>
          </a:p>
        </p:txBody>
      </p:sp>
      <p:sp>
        <p:nvSpPr>
          <p:cNvPr id="6" name="TextBox 5"/>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7" name="TextBox 6"/>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22</a:t>
            </a:r>
          </a:p>
        </p:txBody>
      </p:sp>
      <p:sp>
        <p:nvSpPr>
          <p:cNvPr id="8" name="Rounded Rectangle 7"/>
          <p:cNvSpPr/>
          <p:nvPr/>
        </p:nvSpPr>
        <p:spPr>
          <a:xfrm>
            <a:off x="548640" y="2011680"/>
            <a:ext cx="11091672" cy="73152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2139696"/>
            <a:ext cx="2286000" cy="502920"/>
          </a:xfrm>
          <a:prstGeom prst="rect">
            <a:avLst/>
          </a:prstGeom>
          <a:noFill/>
        </p:spPr>
        <p:txBody>
          <a:bodyPr wrap="square" lIns="0" tIns="0" rIns="0" bIns="0" anchor="t"/>
          <a:lstStyle/>
          <a:p>
            <a:pPr algn="l"/>
            <a:r>
              <a:rPr sz="1100" b="1" i="0">
                <a:solidFill>
                  <a:srgbClr val="FFFFFF"/>
                </a:solidFill>
                <a:latin typeface="Inter"/>
              </a:rPr>
              <a:t>Physical isolation</a:t>
            </a:r>
          </a:p>
        </p:txBody>
      </p:sp>
      <p:sp>
        <p:nvSpPr>
          <p:cNvPr id="10" name="TextBox 9"/>
          <p:cNvSpPr txBox="1"/>
          <p:nvPr/>
        </p:nvSpPr>
        <p:spPr>
          <a:xfrm>
            <a:off x="3291840" y="2139696"/>
            <a:ext cx="8138160" cy="502920"/>
          </a:xfrm>
          <a:prstGeom prst="rect">
            <a:avLst/>
          </a:prstGeom>
          <a:noFill/>
        </p:spPr>
        <p:txBody>
          <a:bodyPr wrap="square" lIns="0" tIns="0" rIns="0" bIns="0" anchor="t"/>
          <a:lstStyle/>
          <a:p>
            <a:pPr algn="l">
              <a:lnSpc>
                <a:spcPct val="118000"/>
              </a:lnSpc>
            </a:pPr>
            <a:r>
              <a:rPr sz="1000" b="0" i="0">
                <a:solidFill>
                  <a:srgbClr val="9CA3AF"/>
                </a:solidFill>
                <a:latin typeface="Inter"/>
              </a:rPr>
              <a:t>Each AM client's data resides in its own Snowflake database. No shared table with a tenant filter. Cross-tenant access is impossible by design.</a:t>
            </a:r>
          </a:p>
        </p:txBody>
      </p:sp>
      <p:sp>
        <p:nvSpPr>
          <p:cNvPr id="11" name="Rounded Rectangle 10"/>
          <p:cNvSpPr/>
          <p:nvPr/>
        </p:nvSpPr>
        <p:spPr>
          <a:xfrm>
            <a:off x="548640" y="2871216"/>
            <a:ext cx="11091672" cy="73152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 y="2999232"/>
            <a:ext cx="2286000" cy="502920"/>
          </a:xfrm>
          <a:prstGeom prst="rect">
            <a:avLst/>
          </a:prstGeom>
          <a:noFill/>
        </p:spPr>
        <p:txBody>
          <a:bodyPr wrap="square" lIns="0" tIns="0" rIns="0" bIns="0" anchor="t"/>
          <a:lstStyle/>
          <a:p>
            <a:pPr algn="l"/>
            <a:r>
              <a:rPr sz="1100" b="1" i="0">
                <a:solidFill>
                  <a:srgbClr val="FFFFFF"/>
                </a:solidFill>
                <a:latin typeface="Inter"/>
              </a:rPr>
              <a:t>Role-based access</a:t>
            </a:r>
          </a:p>
        </p:txBody>
      </p:sp>
      <p:sp>
        <p:nvSpPr>
          <p:cNvPr id="13" name="TextBox 12"/>
          <p:cNvSpPr txBox="1"/>
          <p:nvPr/>
        </p:nvSpPr>
        <p:spPr>
          <a:xfrm>
            <a:off x="3291840" y="2999232"/>
            <a:ext cx="8138160" cy="502920"/>
          </a:xfrm>
          <a:prstGeom prst="rect">
            <a:avLst/>
          </a:prstGeom>
          <a:noFill/>
        </p:spPr>
        <p:txBody>
          <a:bodyPr wrap="square" lIns="0" tIns="0" rIns="0" bIns="0" anchor="t"/>
          <a:lstStyle/>
          <a:p>
            <a:pPr algn="l">
              <a:lnSpc>
                <a:spcPct val="118000"/>
              </a:lnSpc>
            </a:pPr>
            <a:r>
              <a:rPr sz="1000" b="0" i="0">
                <a:solidFill>
                  <a:srgbClr val="9CA3AF"/>
                </a:solidFill>
                <a:latin typeface="Inter"/>
              </a:rPr>
              <a:t>RBAC roles scoped per tenant. Service accounts and users bound to their tenant's database only.</a:t>
            </a:r>
          </a:p>
        </p:txBody>
      </p:sp>
      <p:sp>
        <p:nvSpPr>
          <p:cNvPr id="14" name="Rounded Rectangle 13"/>
          <p:cNvSpPr/>
          <p:nvPr/>
        </p:nvSpPr>
        <p:spPr>
          <a:xfrm>
            <a:off x="548640" y="3730752"/>
            <a:ext cx="11091672" cy="73152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2960" y="3858768"/>
            <a:ext cx="2286000" cy="502920"/>
          </a:xfrm>
          <a:prstGeom prst="rect">
            <a:avLst/>
          </a:prstGeom>
          <a:noFill/>
        </p:spPr>
        <p:txBody>
          <a:bodyPr wrap="square" lIns="0" tIns="0" rIns="0" bIns="0" anchor="t"/>
          <a:lstStyle/>
          <a:p>
            <a:pPr algn="l"/>
            <a:r>
              <a:rPr sz="1100" b="1" i="0">
                <a:solidFill>
                  <a:srgbClr val="FFFFFF"/>
                </a:solidFill>
                <a:latin typeface="Inter"/>
              </a:rPr>
              <a:t>Dynamic data masking</a:t>
            </a:r>
          </a:p>
        </p:txBody>
      </p:sp>
      <p:sp>
        <p:nvSpPr>
          <p:cNvPr id="16" name="TextBox 15"/>
          <p:cNvSpPr txBox="1"/>
          <p:nvPr/>
        </p:nvSpPr>
        <p:spPr>
          <a:xfrm>
            <a:off x="3291840" y="3858768"/>
            <a:ext cx="8138160" cy="502920"/>
          </a:xfrm>
          <a:prstGeom prst="rect">
            <a:avLst/>
          </a:prstGeom>
          <a:noFill/>
        </p:spPr>
        <p:txBody>
          <a:bodyPr wrap="square" lIns="0" tIns="0" rIns="0" bIns="0" anchor="t"/>
          <a:lstStyle/>
          <a:p>
            <a:pPr algn="l">
              <a:lnSpc>
                <a:spcPct val="118000"/>
              </a:lnSpc>
            </a:pPr>
            <a:r>
              <a:rPr sz="1000" b="0" i="0">
                <a:solidFill>
                  <a:srgbClr val="9CA3AF"/>
                </a:solidFill>
                <a:latin typeface="Inter"/>
              </a:rPr>
              <a:t>Column-level PII masks applied at query time based on role.</a:t>
            </a:r>
          </a:p>
        </p:txBody>
      </p:sp>
      <p:sp>
        <p:nvSpPr>
          <p:cNvPr id="17" name="Rounded Rectangle 16"/>
          <p:cNvSpPr/>
          <p:nvPr/>
        </p:nvSpPr>
        <p:spPr>
          <a:xfrm>
            <a:off x="548640" y="4590288"/>
            <a:ext cx="11091672" cy="731520"/>
          </a:xfrm>
          <a:prstGeom prst="roundRect">
            <a:avLst>
              <a:gd name="adj" fmla="val 90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4718303"/>
            <a:ext cx="2286000" cy="502920"/>
          </a:xfrm>
          <a:prstGeom prst="rect">
            <a:avLst/>
          </a:prstGeom>
          <a:noFill/>
        </p:spPr>
        <p:txBody>
          <a:bodyPr wrap="square" lIns="0" tIns="0" rIns="0" bIns="0" anchor="t"/>
          <a:lstStyle/>
          <a:p>
            <a:pPr algn="l"/>
            <a:r>
              <a:rPr sz="1100" b="1" i="0">
                <a:solidFill>
                  <a:srgbClr val="FFFFFF"/>
                </a:solidFill>
                <a:latin typeface="Inter"/>
              </a:rPr>
              <a:t>MCP tenancy</a:t>
            </a:r>
          </a:p>
        </p:txBody>
      </p:sp>
      <p:sp>
        <p:nvSpPr>
          <p:cNvPr id="19" name="TextBox 18"/>
          <p:cNvSpPr txBox="1"/>
          <p:nvPr/>
        </p:nvSpPr>
        <p:spPr>
          <a:xfrm>
            <a:off x="3291840" y="4718303"/>
            <a:ext cx="8138160" cy="502920"/>
          </a:xfrm>
          <a:prstGeom prst="rect">
            <a:avLst/>
          </a:prstGeom>
          <a:noFill/>
        </p:spPr>
        <p:txBody>
          <a:bodyPr wrap="square" lIns="0" tIns="0" rIns="0" bIns="0" anchor="t"/>
          <a:lstStyle/>
          <a:p>
            <a:pPr algn="l">
              <a:lnSpc>
                <a:spcPct val="118000"/>
              </a:lnSpc>
            </a:pPr>
            <a:r>
              <a:rPr sz="1000" b="0" i="0">
                <a:solidFill>
                  <a:srgbClr val="9CA3AF"/>
                </a:solidFill>
                <a:latin typeface="Inter"/>
              </a:rPr>
              <a:t>MCP credentials are per-tenant. Every call scoped to a single tenant's database. Short-lived tokens, audit-logged.</a:t>
            </a:r>
          </a:p>
        </p:txBody>
      </p:sp>
      <p:sp>
        <p:nvSpPr>
          <p:cNvPr id="20" name="Rounded Rectangle 19"/>
          <p:cNvSpPr/>
          <p:nvPr/>
        </p:nvSpPr>
        <p:spPr>
          <a:xfrm>
            <a:off x="548640" y="5532120"/>
            <a:ext cx="11091672" cy="932688"/>
          </a:xfrm>
          <a:prstGeom prst="roundRect">
            <a:avLst>
              <a:gd name="adj" fmla="val 6000"/>
            </a:avLst>
          </a:prstGeom>
          <a:solidFill>
            <a:srgbClr val="11262F"/>
          </a:solidFill>
          <a:ln w="12700">
            <a:solidFill>
              <a:srgbClr val="0E9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5669280"/>
            <a:ext cx="10515600" cy="713232"/>
          </a:xfrm>
          <a:prstGeom prst="rect">
            <a:avLst/>
          </a:prstGeom>
          <a:noFill/>
        </p:spPr>
        <p:txBody>
          <a:bodyPr wrap="square" lIns="0" tIns="0" rIns="0" bIns="0" anchor="t"/>
          <a:lstStyle/>
          <a:p>
            <a:pPr algn="l">
              <a:spcAft>
                <a:spcPts val="200"/>
              </a:spcAft>
            </a:pPr>
            <a:r>
              <a:rPr sz="800" b="1" i="0" spc="160">
                <a:solidFill>
                  <a:srgbClr val="31C48D"/>
                </a:solidFill>
                <a:latin typeface="Inter"/>
              </a:rPr>
              <a:t>WHY DATABASE-PER-TENANT MATTERS</a:t>
            </a:r>
          </a:p>
          <a:p>
            <a:pPr algn="l">
              <a:lnSpc>
                <a:spcPct val="118000"/>
              </a:lnSpc>
            </a:pPr>
            <a:r>
              <a:rPr sz="1000" b="0" i="0">
                <a:solidFill>
                  <a:srgbClr val="FFFFFF"/>
                </a:solidFill>
                <a:latin typeface="Inter"/>
              </a:rPr>
              <a:t>Shared-schema-with-tenant-filter designs, even done well, carry nonzero risk. Field eliminates that class of risk by making cross-tenant access architecturally impossible, not just policy-blocked. Combined with per-tenant MCP credentialing and audit logging, the security posture matches what large asset managers already require for their internal Snowflake tenants.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119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7315200" cy="274320"/>
          </a:xfrm>
          <a:prstGeom prst="rect">
            <a:avLst/>
          </a:prstGeom>
          <a:noFill/>
        </p:spPr>
        <p:txBody>
          <a:bodyPr wrap="square" lIns="0" tIns="0" rIns="0" bIns="0" anchor="t"/>
          <a:lstStyle/>
          <a:p>
            <a:pPr algn="l"/>
            <a:r>
              <a:rPr sz="1000" b="1" i="0" spc="220">
                <a:solidFill>
                  <a:srgbClr val="31C48D"/>
                </a:solidFill>
                <a:latin typeface="Inter"/>
              </a:rPr>
              <a:t>STAGE 7</a:t>
            </a:r>
          </a:p>
        </p:txBody>
      </p:sp>
      <p:sp>
        <p:nvSpPr>
          <p:cNvPr id="4" name="TextBox 3"/>
          <p:cNvSpPr txBox="1"/>
          <p:nvPr/>
        </p:nvSpPr>
        <p:spPr>
          <a:xfrm>
            <a:off x="548640" y="658368"/>
            <a:ext cx="8778240" cy="566928"/>
          </a:xfrm>
          <a:prstGeom prst="rect">
            <a:avLst/>
          </a:prstGeom>
          <a:noFill/>
        </p:spPr>
        <p:txBody>
          <a:bodyPr wrap="square" lIns="0" tIns="0" rIns="0" bIns="0" anchor="t"/>
          <a:lstStyle/>
          <a:p>
            <a:pPr algn="l"/>
            <a:r>
              <a:rPr sz="2700" b="1" i="0">
                <a:solidFill>
                  <a:srgbClr val="FFFFFF"/>
                </a:solidFill>
                <a:latin typeface="Inter"/>
              </a:rPr>
              <a:t>Identity, access, encryption, infrastructure</a:t>
            </a:r>
          </a:p>
        </p:txBody>
      </p:sp>
      <p:sp>
        <p:nvSpPr>
          <p:cNvPr id="5" name="TextBox 4"/>
          <p:cNvSpPr txBox="1"/>
          <p:nvPr/>
        </p:nvSpPr>
        <p:spPr>
          <a:xfrm>
            <a:off x="548640" y="6510528"/>
            <a:ext cx="5486400" cy="228600"/>
          </a:xfrm>
          <a:prstGeom prst="rect">
            <a:avLst/>
          </a:prstGeom>
          <a:noFill/>
        </p:spPr>
        <p:txBody>
          <a:bodyPr wrap="square" lIns="0" tIns="0" rIns="0" bIns="0" anchor="t"/>
          <a:lstStyle/>
          <a:p>
            <a:pPr algn="l"/>
            <a:r>
              <a:rPr sz="800" b="0" i="0">
                <a:solidFill>
                  <a:srgbClr val="6B7280"/>
                </a:solidFill>
                <a:latin typeface="Inter"/>
              </a:rPr>
              <a:t>Field · AM Distribution Intelligence</a:t>
            </a:r>
          </a:p>
        </p:txBody>
      </p:sp>
      <p:sp>
        <p:nvSpPr>
          <p:cNvPr id="6" name="TextBox 5"/>
          <p:cNvSpPr txBox="1"/>
          <p:nvPr/>
        </p:nvSpPr>
        <p:spPr>
          <a:xfrm>
            <a:off x="11292840" y="6510528"/>
            <a:ext cx="365760" cy="228600"/>
          </a:xfrm>
          <a:prstGeom prst="rect">
            <a:avLst/>
          </a:prstGeom>
          <a:noFill/>
        </p:spPr>
        <p:txBody>
          <a:bodyPr wrap="square" lIns="0" tIns="0" rIns="0" bIns="0" anchor="t"/>
          <a:lstStyle/>
          <a:p>
            <a:pPr algn="r"/>
            <a:r>
              <a:rPr sz="800" b="0" i="0">
                <a:solidFill>
                  <a:srgbClr val="6B7280"/>
                </a:solidFill>
                <a:latin typeface="Inter"/>
              </a:rPr>
              <a:t>23</a:t>
            </a:r>
          </a:p>
        </p:txBody>
      </p:sp>
      <p:sp>
        <p:nvSpPr>
          <p:cNvPr id="7" name="TextBox 6"/>
          <p:cNvSpPr txBox="1"/>
          <p:nvPr/>
        </p:nvSpPr>
        <p:spPr>
          <a:xfrm>
            <a:off x="548640" y="1371600"/>
            <a:ext cx="5394960" cy="274320"/>
          </a:xfrm>
          <a:prstGeom prst="rect">
            <a:avLst/>
          </a:prstGeom>
          <a:noFill/>
        </p:spPr>
        <p:txBody>
          <a:bodyPr wrap="square" lIns="0" tIns="0" rIns="0" bIns="0" anchor="t"/>
          <a:lstStyle/>
          <a:p>
            <a:pPr algn="l"/>
            <a:r>
              <a:rPr sz="900" b="1" i="0" spc="200">
                <a:solidFill>
                  <a:srgbClr val="31C48D"/>
                </a:solidFill>
                <a:latin typeface="Inter"/>
              </a:rPr>
              <a:t>IDENTITY &amp; ACCESS</a:t>
            </a:r>
          </a:p>
        </p:txBody>
      </p:sp>
      <p:sp>
        <p:nvSpPr>
          <p:cNvPr id="8" name="Rounded Rectangle 7"/>
          <p:cNvSpPr/>
          <p:nvPr/>
        </p:nvSpPr>
        <p:spPr>
          <a:xfrm>
            <a:off x="548640" y="1691640"/>
            <a:ext cx="5532120" cy="4096511"/>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847088"/>
            <a:ext cx="1783080" cy="676656"/>
          </a:xfrm>
          <a:prstGeom prst="rect">
            <a:avLst/>
          </a:prstGeom>
          <a:noFill/>
        </p:spPr>
        <p:txBody>
          <a:bodyPr wrap="square" lIns="0" tIns="0" rIns="0" bIns="0" anchor="t"/>
          <a:lstStyle/>
          <a:p>
            <a:pPr algn="l">
              <a:lnSpc>
                <a:spcPct val="105000"/>
              </a:lnSpc>
            </a:pPr>
            <a:r>
              <a:rPr sz="1000" b="1" i="0">
                <a:solidFill>
                  <a:srgbClr val="FFFFFF"/>
                </a:solidFill>
                <a:latin typeface="Inter"/>
              </a:rPr>
              <a:t>Field UI</a:t>
            </a:r>
          </a:p>
        </p:txBody>
      </p:sp>
      <p:sp>
        <p:nvSpPr>
          <p:cNvPr id="10" name="TextBox 9"/>
          <p:cNvSpPr txBox="1"/>
          <p:nvPr/>
        </p:nvSpPr>
        <p:spPr>
          <a:xfrm>
            <a:off x="2697480" y="1847088"/>
            <a:ext cx="3200400" cy="676656"/>
          </a:xfrm>
          <a:prstGeom prst="rect">
            <a:avLst/>
          </a:prstGeom>
          <a:noFill/>
        </p:spPr>
        <p:txBody>
          <a:bodyPr wrap="square" lIns="0" tIns="0" rIns="0" bIns="0" anchor="t"/>
          <a:lstStyle/>
          <a:p>
            <a:pPr algn="l">
              <a:lnSpc>
                <a:spcPct val="110000"/>
              </a:lnSpc>
            </a:pPr>
            <a:r>
              <a:rPr sz="950" b="0" i="0">
                <a:solidFill>
                  <a:srgbClr val="9CA3AF"/>
                </a:solidFill>
                <a:latin typeface="Inter"/>
              </a:rPr>
              <a:t>Amazon Cognito with TOTP MFA. Federated sign-in via Microsoft Entra and Google.</a:t>
            </a:r>
          </a:p>
        </p:txBody>
      </p:sp>
      <p:cxnSp>
        <p:nvCxnSpPr>
          <p:cNvPr id="11" name="Connector 10"/>
          <p:cNvCxnSpPr/>
          <p:nvPr/>
        </p:nvCxnSpPr>
        <p:spPr>
          <a:xfrm>
            <a:off x="804672" y="2551176"/>
            <a:ext cx="5047487" cy="0"/>
          </a:xfrm>
          <a:prstGeom prst="line">
            <a:avLst/>
          </a:prstGeom>
          <a:ln w="6350">
            <a:solidFill>
              <a:srgbClr val="283140"/>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04672" y="2633472"/>
            <a:ext cx="1783080" cy="676656"/>
          </a:xfrm>
          <a:prstGeom prst="rect">
            <a:avLst/>
          </a:prstGeom>
          <a:noFill/>
        </p:spPr>
        <p:txBody>
          <a:bodyPr wrap="square" lIns="0" tIns="0" rIns="0" bIns="0" anchor="t"/>
          <a:lstStyle/>
          <a:p>
            <a:pPr algn="l">
              <a:lnSpc>
                <a:spcPct val="105000"/>
              </a:lnSpc>
            </a:pPr>
            <a:r>
              <a:rPr sz="1000" b="1" i="0">
                <a:solidFill>
                  <a:srgbClr val="FFFFFF"/>
                </a:solidFill>
                <a:latin typeface="Inter"/>
              </a:rPr>
              <a:t>Snowflake · humans</a:t>
            </a:r>
          </a:p>
        </p:txBody>
      </p:sp>
      <p:sp>
        <p:nvSpPr>
          <p:cNvPr id="13" name="TextBox 12"/>
          <p:cNvSpPr txBox="1"/>
          <p:nvPr/>
        </p:nvSpPr>
        <p:spPr>
          <a:xfrm>
            <a:off x="2697480" y="2633472"/>
            <a:ext cx="3200400" cy="676656"/>
          </a:xfrm>
          <a:prstGeom prst="rect">
            <a:avLst/>
          </a:prstGeom>
          <a:noFill/>
        </p:spPr>
        <p:txBody>
          <a:bodyPr wrap="square" lIns="0" tIns="0" rIns="0" bIns="0" anchor="t"/>
          <a:lstStyle/>
          <a:p>
            <a:pPr algn="l">
              <a:lnSpc>
                <a:spcPct val="110000"/>
              </a:lnSpc>
            </a:pPr>
            <a:r>
              <a:rPr sz="950" b="0" i="0">
                <a:solidFill>
                  <a:srgbClr val="9CA3AF"/>
                </a:solidFill>
                <a:latin typeface="Inter"/>
              </a:rPr>
              <a:t>SSO via client IdP. MFA enforced upstream.</a:t>
            </a:r>
          </a:p>
        </p:txBody>
      </p:sp>
      <p:cxnSp>
        <p:nvCxnSpPr>
          <p:cNvPr id="14" name="Connector 13"/>
          <p:cNvCxnSpPr/>
          <p:nvPr/>
        </p:nvCxnSpPr>
        <p:spPr>
          <a:xfrm>
            <a:off x="804672" y="3337560"/>
            <a:ext cx="5047487" cy="0"/>
          </a:xfrm>
          <a:prstGeom prst="line">
            <a:avLst/>
          </a:prstGeom>
          <a:ln w="6350">
            <a:solidFill>
              <a:srgbClr val="28314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804672" y="3419856"/>
            <a:ext cx="1783080" cy="676656"/>
          </a:xfrm>
          <a:prstGeom prst="rect">
            <a:avLst/>
          </a:prstGeom>
          <a:noFill/>
        </p:spPr>
        <p:txBody>
          <a:bodyPr wrap="square" lIns="0" tIns="0" rIns="0" bIns="0" anchor="t"/>
          <a:lstStyle/>
          <a:p>
            <a:pPr algn="l">
              <a:lnSpc>
                <a:spcPct val="105000"/>
              </a:lnSpc>
            </a:pPr>
            <a:r>
              <a:rPr sz="1000" b="1" i="0">
                <a:solidFill>
                  <a:srgbClr val="FFFFFF"/>
                </a:solidFill>
                <a:latin typeface="Inter"/>
              </a:rPr>
              <a:t>Snowflake · services</a:t>
            </a:r>
          </a:p>
        </p:txBody>
      </p:sp>
      <p:sp>
        <p:nvSpPr>
          <p:cNvPr id="16" name="TextBox 15"/>
          <p:cNvSpPr txBox="1"/>
          <p:nvPr/>
        </p:nvSpPr>
        <p:spPr>
          <a:xfrm>
            <a:off x="2697480" y="3419856"/>
            <a:ext cx="3200400" cy="676656"/>
          </a:xfrm>
          <a:prstGeom prst="rect">
            <a:avLst/>
          </a:prstGeom>
          <a:noFill/>
        </p:spPr>
        <p:txBody>
          <a:bodyPr wrap="square" lIns="0" tIns="0" rIns="0" bIns="0" anchor="t"/>
          <a:lstStyle/>
          <a:p>
            <a:pPr algn="l">
              <a:lnSpc>
                <a:spcPct val="110000"/>
              </a:lnSpc>
            </a:pPr>
            <a:r>
              <a:rPr sz="950" b="0" i="0">
                <a:solidFill>
                  <a:srgbClr val="9CA3AF"/>
                </a:solidFill>
                <a:latin typeface="Inter"/>
              </a:rPr>
              <a:t>Key-pair authentication. Quarterly key rotation.</a:t>
            </a:r>
          </a:p>
        </p:txBody>
      </p:sp>
      <p:cxnSp>
        <p:nvCxnSpPr>
          <p:cNvPr id="17" name="Connector 16"/>
          <p:cNvCxnSpPr/>
          <p:nvPr/>
        </p:nvCxnSpPr>
        <p:spPr>
          <a:xfrm>
            <a:off x="804672" y="4123944"/>
            <a:ext cx="5047487" cy="0"/>
          </a:xfrm>
          <a:prstGeom prst="line">
            <a:avLst/>
          </a:prstGeom>
          <a:ln w="6350">
            <a:solidFill>
              <a:srgbClr val="283140"/>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04672" y="4206240"/>
            <a:ext cx="1783080" cy="676656"/>
          </a:xfrm>
          <a:prstGeom prst="rect">
            <a:avLst/>
          </a:prstGeom>
          <a:noFill/>
        </p:spPr>
        <p:txBody>
          <a:bodyPr wrap="square" lIns="0" tIns="0" rIns="0" bIns="0" anchor="t"/>
          <a:lstStyle/>
          <a:p>
            <a:pPr algn="l">
              <a:lnSpc>
                <a:spcPct val="105000"/>
              </a:lnSpc>
            </a:pPr>
            <a:r>
              <a:rPr sz="1000" b="1" i="0">
                <a:solidFill>
                  <a:srgbClr val="FFFFFF"/>
                </a:solidFill>
                <a:latin typeface="Inter"/>
              </a:rPr>
              <a:t>MCP access</a:t>
            </a:r>
          </a:p>
        </p:txBody>
      </p:sp>
      <p:sp>
        <p:nvSpPr>
          <p:cNvPr id="19" name="TextBox 18"/>
          <p:cNvSpPr txBox="1"/>
          <p:nvPr/>
        </p:nvSpPr>
        <p:spPr>
          <a:xfrm>
            <a:off x="2697480" y="4206240"/>
            <a:ext cx="3200400" cy="676656"/>
          </a:xfrm>
          <a:prstGeom prst="rect">
            <a:avLst/>
          </a:prstGeom>
          <a:noFill/>
        </p:spPr>
        <p:txBody>
          <a:bodyPr wrap="square" lIns="0" tIns="0" rIns="0" bIns="0" anchor="t"/>
          <a:lstStyle/>
          <a:p>
            <a:pPr algn="l">
              <a:lnSpc>
                <a:spcPct val="110000"/>
              </a:lnSpc>
            </a:pPr>
            <a:r>
              <a:rPr sz="950" b="0" i="0">
                <a:solidFill>
                  <a:srgbClr val="9CA3AF"/>
                </a:solidFill>
                <a:latin typeface="Inter"/>
              </a:rPr>
              <a:t>Scoped service credentials, per-AM tenancy isolation, short-lived tokens, audit-logged with actor, tool, and query.</a:t>
            </a:r>
          </a:p>
        </p:txBody>
      </p:sp>
      <p:cxnSp>
        <p:nvCxnSpPr>
          <p:cNvPr id="20" name="Connector 19"/>
          <p:cNvCxnSpPr/>
          <p:nvPr/>
        </p:nvCxnSpPr>
        <p:spPr>
          <a:xfrm>
            <a:off x="804672" y="4910328"/>
            <a:ext cx="5047487" cy="0"/>
          </a:xfrm>
          <a:prstGeom prst="line">
            <a:avLst/>
          </a:prstGeom>
          <a:ln w="6350">
            <a:solidFill>
              <a:srgbClr val="283140"/>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04672" y="4992624"/>
            <a:ext cx="1783080" cy="676656"/>
          </a:xfrm>
          <a:prstGeom prst="rect">
            <a:avLst/>
          </a:prstGeom>
          <a:noFill/>
        </p:spPr>
        <p:txBody>
          <a:bodyPr wrap="square" lIns="0" tIns="0" rIns="0" bIns="0" anchor="t"/>
          <a:lstStyle/>
          <a:p>
            <a:pPr algn="l">
              <a:lnSpc>
                <a:spcPct val="105000"/>
              </a:lnSpc>
            </a:pPr>
            <a:r>
              <a:rPr sz="1000" b="1" i="0">
                <a:solidFill>
                  <a:srgbClr val="FFFFFF"/>
                </a:solidFill>
                <a:latin typeface="Inter"/>
              </a:rPr>
              <a:t>Transport</a:t>
            </a:r>
          </a:p>
        </p:txBody>
      </p:sp>
      <p:sp>
        <p:nvSpPr>
          <p:cNvPr id="22" name="TextBox 21"/>
          <p:cNvSpPr txBox="1"/>
          <p:nvPr/>
        </p:nvSpPr>
        <p:spPr>
          <a:xfrm>
            <a:off x="2697480" y="4992624"/>
            <a:ext cx="3200400" cy="676656"/>
          </a:xfrm>
          <a:prstGeom prst="rect">
            <a:avLst/>
          </a:prstGeom>
          <a:noFill/>
        </p:spPr>
        <p:txBody>
          <a:bodyPr wrap="square" lIns="0" tIns="0" rIns="0" bIns="0" anchor="t"/>
          <a:lstStyle/>
          <a:p>
            <a:pPr algn="l">
              <a:lnSpc>
                <a:spcPct val="110000"/>
              </a:lnSpc>
            </a:pPr>
            <a:r>
              <a:rPr sz="950" b="0" i="0">
                <a:solidFill>
                  <a:srgbClr val="9CA3AF"/>
                </a:solidFill>
                <a:latin typeface="Inter"/>
              </a:rPr>
              <a:t>TLS 1.2+ enforced on all endpoints.</a:t>
            </a:r>
          </a:p>
        </p:txBody>
      </p:sp>
      <p:sp>
        <p:nvSpPr>
          <p:cNvPr id="23" name="TextBox 22"/>
          <p:cNvSpPr txBox="1"/>
          <p:nvPr/>
        </p:nvSpPr>
        <p:spPr>
          <a:xfrm>
            <a:off x="6263640" y="1371600"/>
            <a:ext cx="5394960" cy="274320"/>
          </a:xfrm>
          <a:prstGeom prst="rect">
            <a:avLst/>
          </a:prstGeom>
          <a:noFill/>
        </p:spPr>
        <p:txBody>
          <a:bodyPr wrap="square" lIns="0" tIns="0" rIns="0" bIns="0" anchor="t"/>
          <a:lstStyle/>
          <a:p>
            <a:pPr algn="l"/>
            <a:r>
              <a:rPr sz="900" b="1" i="0" spc="200">
                <a:solidFill>
                  <a:srgbClr val="31C48D"/>
                </a:solidFill>
                <a:latin typeface="Inter"/>
              </a:rPr>
              <a:t>ENCRYPTION &amp; INFRASTRUCTURE</a:t>
            </a:r>
          </a:p>
        </p:txBody>
      </p:sp>
      <p:sp>
        <p:nvSpPr>
          <p:cNvPr id="24" name="Rounded Rectangle 23"/>
          <p:cNvSpPr/>
          <p:nvPr/>
        </p:nvSpPr>
        <p:spPr>
          <a:xfrm>
            <a:off x="6263640" y="1691640"/>
            <a:ext cx="5532120" cy="4224527"/>
          </a:xfrm>
          <a:prstGeom prst="roundRect">
            <a:avLst>
              <a:gd name="adj" fmla="val 5500"/>
            </a:avLst>
          </a:prstGeom>
          <a:solidFill>
            <a:srgbClr val="1D2433"/>
          </a:solidFill>
          <a:ln w="12700">
            <a:solidFill>
              <a:srgbClr val="38425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19672" y="1847088"/>
            <a:ext cx="1783080" cy="566928"/>
          </a:xfrm>
          <a:prstGeom prst="rect">
            <a:avLst/>
          </a:prstGeom>
          <a:noFill/>
        </p:spPr>
        <p:txBody>
          <a:bodyPr wrap="square" lIns="0" tIns="0" rIns="0" bIns="0" anchor="t"/>
          <a:lstStyle/>
          <a:p>
            <a:pPr algn="l">
              <a:lnSpc>
                <a:spcPct val="105000"/>
              </a:lnSpc>
            </a:pPr>
            <a:r>
              <a:rPr sz="1000" b="1" i="0">
                <a:solidFill>
                  <a:srgbClr val="FFFFFF"/>
                </a:solidFill>
                <a:latin typeface="Inter"/>
              </a:rPr>
              <a:t>At-rest encryption</a:t>
            </a:r>
          </a:p>
        </p:txBody>
      </p:sp>
      <p:sp>
        <p:nvSpPr>
          <p:cNvPr id="26" name="TextBox 25"/>
          <p:cNvSpPr txBox="1"/>
          <p:nvPr/>
        </p:nvSpPr>
        <p:spPr>
          <a:xfrm>
            <a:off x="8412480" y="1847088"/>
            <a:ext cx="3200400" cy="566928"/>
          </a:xfrm>
          <a:prstGeom prst="rect">
            <a:avLst/>
          </a:prstGeom>
          <a:noFill/>
        </p:spPr>
        <p:txBody>
          <a:bodyPr wrap="square" lIns="0" tIns="0" rIns="0" bIns="0" anchor="t"/>
          <a:lstStyle/>
          <a:p>
            <a:pPr algn="l">
              <a:lnSpc>
                <a:spcPct val="110000"/>
              </a:lnSpc>
            </a:pPr>
            <a:r>
              <a:rPr sz="950" b="0" i="0">
                <a:solidFill>
                  <a:srgbClr val="9CA3AF"/>
                </a:solidFill>
                <a:latin typeface="Inter"/>
              </a:rPr>
              <a:t>Snowflake, S3, ClickHouse. All storage encrypted at rest by default.</a:t>
            </a:r>
          </a:p>
        </p:txBody>
      </p:sp>
      <p:cxnSp>
        <p:nvCxnSpPr>
          <p:cNvPr id="27" name="Connector 26"/>
          <p:cNvCxnSpPr/>
          <p:nvPr/>
        </p:nvCxnSpPr>
        <p:spPr>
          <a:xfrm>
            <a:off x="6519672" y="2441448"/>
            <a:ext cx="5047487" cy="0"/>
          </a:xfrm>
          <a:prstGeom prst="line">
            <a:avLst/>
          </a:prstGeom>
          <a:ln w="6350">
            <a:solidFill>
              <a:srgbClr val="283140"/>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519672" y="2523744"/>
            <a:ext cx="1783080" cy="566928"/>
          </a:xfrm>
          <a:prstGeom prst="rect">
            <a:avLst/>
          </a:prstGeom>
          <a:noFill/>
        </p:spPr>
        <p:txBody>
          <a:bodyPr wrap="square" lIns="0" tIns="0" rIns="0" bIns="0" anchor="t"/>
          <a:lstStyle/>
          <a:p>
            <a:pPr algn="l">
              <a:lnSpc>
                <a:spcPct val="105000"/>
              </a:lnSpc>
            </a:pPr>
            <a:r>
              <a:rPr sz="1000" b="1" i="0">
                <a:solidFill>
                  <a:srgbClr val="FFFFFF"/>
                </a:solidFill>
                <a:latin typeface="Inter"/>
              </a:rPr>
              <a:t>Secrets management</a:t>
            </a:r>
          </a:p>
        </p:txBody>
      </p:sp>
      <p:sp>
        <p:nvSpPr>
          <p:cNvPr id="29" name="TextBox 28"/>
          <p:cNvSpPr txBox="1"/>
          <p:nvPr/>
        </p:nvSpPr>
        <p:spPr>
          <a:xfrm>
            <a:off x="8412480" y="2523744"/>
            <a:ext cx="3200400" cy="566928"/>
          </a:xfrm>
          <a:prstGeom prst="rect">
            <a:avLst/>
          </a:prstGeom>
          <a:noFill/>
        </p:spPr>
        <p:txBody>
          <a:bodyPr wrap="square" lIns="0" tIns="0" rIns="0" bIns="0" anchor="t"/>
          <a:lstStyle/>
          <a:p>
            <a:pPr algn="l">
              <a:lnSpc>
                <a:spcPct val="110000"/>
              </a:lnSpc>
            </a:pPr>
            <a:r>
              <a:rPr sz="950" b="0" i="0">
                <a:solidFill>
                  <a:srgbClr val="9CA3AF"/>
                </a:solidFill>
                <a:latin typeface="Inter"/>
              </a:rPr>
              <a:t>AWS Secrets Manager. Zero credentials in source code.</a:t>
            </a:r>
          </a:p>
        </p:txBody>
      </p:sp>
      <p:cxnSp>
        <p:nvCxnSpPr>
          <p:cNvPr id="30" name="Connector 29"/>
          <p:cNvCxnSpPr/>
          <p:nvPr/>
        </p:nvCxnSpPr>
        <p:spPr>
          <a:xfrm>
            <a:off x="6519672" y="3118104"/>
            <a:ext cx="5047487" cy="0"/>
          </a:xfrm>
          <a:prstGeom prst="line">
            <a:avLst/>
          </a:prstGeom>
          <a:ln w="6350">
            <a:solidFill>
              <a:srgbClr val="283140"/>
            </a:solidFill>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519672" y="3200400"/>
            <a:ext cx="1783080" cy="566928"/>
          </a:xfrm>
          <a:prstGeom prst="rect">
            <a:avLst/>
          </a:prstGeom>
          <a:noFill/>
        </p:spPr>
        <p:txBody>
          <a:bodyPr wrap="square" lIns="0" tIns="0" rIns="0" bIns="0" anchor="t"/>
          <a:lstStyle/>
          <a:p>
            <a:pPr algn="l">
              <a:lnSpc>
                <a:spcPct val="105000"/>
              </a:lnSpc>
            </a:pPr>
            <a:r>
              <a:rPr sz="1000" b="1" i="0">
                <a:solidFill>
                  <a:srgbClr val="FFFFFF"/>
                </a:solidFill>
                <a:latin typeface="Inter"/>
              </a:rPr>
              <a:t>Service authentication</a:t>
            </a:r>
          </a:p>
        </p:txBody>
      </p:sp>
      <p:sp>
        <p:nvSpPr>
          <p:cNvPr id="32" name="TextBox 31"/>
          <p:cNvSpPr txBox="1"/>
          <p:nvPr/>
        </p:nvSpPr>
        <p:spPr>
          <a:xfrm>
            <a:off x="8412480" y="3200400"/>
            <a:ext cx="3200400" cy="566928"/>
          </a:xfrm>
          <a:prstGeom prst="rect">
            <a:avLst/>
          </a:prstGeom>
          <a:noFill/>
        </p:spPr>
        <p:txBody>
          <a:bodyPr wrap="square" lIns="0" tIns="0" rIns="0" bIns="0" anchor="t"/>
          <a:lstStyle/>
          <a:p>
            <a:pPr algn="l">
              <a:lnSpc>
                <a:spcPct val="110000"/>
              </a:lnSpc>
            </a:pPr>
            <a:r>
              <a:rPr sz="950" b="0" i="0">
                <a:solidFill>
                  <a:srgbClr val="9CA3AF"/>
                </a:solidFill>
                <a:latin typeface="Inter"/>
              </a:rPr>
              <a:t>IAM Roles for Service Accounts. No long-lived keys.</a:t>
            </a:r>
          </a:p>
        </p:txBody>
      </p:sp>
      <p:cxnSp>
        <p:nvCxnSpPr>
          <p:cNvPr id="33" name="Connector 32"/>
          <p:cNvCxnSpPr/>
          <p:nvPr/>
        </p:nvCxnSpPr>
        <p:spPr>
          <a:xfrm>
            <a:off x="6519672" y="3794760"/>
            <a:ext cx="5047487" cy="0"/>
          </a:xfrm>
          <a:prstGeom prst="line">
            <a:avLst/>
          </a:prstGeom>
          <a:ln w="6350">
            <a:solidFill>
              <a:srgbClr val="283140"/>
            </a:solidFill>
          </a:ln>
          <a:effectLst/>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519672" y="3877056"/>
            <a:ext cx="1783080" cy="566928"/>
          </a:xfrm>
          <a:prstGeom prst="rect">
            <a:avLst/>
          </a:prstGeom>
          <a:noFill/>
        </p:spPr>
        <p:txBody>
          <a:bodyPr wrap="square" lIns="0" tIns="0" rIns="0" bIns="0" anchor="t"/>
          <a:lstStyle/>
          <a:p>
            <a:pPr algn="l">
              <a:lnSpc>
                <a:spcPct val="105000"/>
              </a:lnSpc>
            </a:pPr>
            <a:r>
              <a:rPr sz="1000" b="1" i="0">
                <a:solidFill>
                  <a:srgbClr val="FFFFFF"/>
                </a:solidFill>
                <a:latin typeface="Inter"/>
              </a:rPr>
              <a:t>Configuration scanning</a:t>
            </a:r>
          </a:p>
        </p:txBody>
      </p:sp>
      <p:sp>
        <p:nvSpPr>
          <p:cNvPr id="35" name="TextBox 34"/>
          <p:cNvSpPr txBox="1"/>
          <p:nvPr/>
        </p:nvSpPr>
        <p:spPr>
          <a:xfrm>
            <a:off x="8412480" y="3877056"/>
            <a:ext cx="3200400" cy="566928"/>
          </a:xfrm>
          <a:prstGeom prst="rect">
            <a:avLst/>
          </a:prstGeom>
          <a:noFill/>
        </p:spPr>
        <p:txBody>
          <a:bodyPr wrap="square" lIns="0" tIns="0" rIns="0" bIns="0" anchor="t"/>
          <a:lstStyle/>
          <a:p>
            <a:pPr algn="l">
              <a:lnSpc>
                <a:spcPct val="110000"/>
              </a:lnSpc>
            </a:pPr>
            <a:r>
              <a:rPr sz="950" b="0" i="0">
                <a:solidFill>
                  <a:srgbClr val="9CA3AF"/>
                </a:solidFill>
                <a:latin typeface="Inter"/>
              </a:rPr>
              <a:t>AWS config scanned daily against CIS benchmark.</a:t>
            </a:r>
          </a:p>
        </p:txBody>
      </p:sp>
      <p:cxnSp>
        <p:nvCxnSpPr>
          <p:cNvPr id="36" name="Connector 35"/>
          <p:cNvCxnSpPr/>
          <p:nvPr/>
        </p:nvCxnSpPr>
        <p:spPr>
          <a:xfrm>
            <a:off x="6519672" y="4471416"/>
            <a:ext cx="5047487" cy="0"/>
          </a:xfrm>
          <a:prstGeom prst="line">
            <a:avLst/>
          </a:prstGeom>
          <a:ln w="6350">
            <a:solidFill>
              <a:srgbClr val="283140"/>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519672" y="4553712"/>
            <a:ext cx="1783080" cy="566928"/>
          </a:xfrm>
          <a:prstGeom prst="rect">
            <a:avLst/>
          </a:prstGeom>
          <a:noFill/>
        </p:spPr>
        <p:txBody>
          <a:bodyPr wrap="square" lIns="0" tIns="0" rIns="0" bIns="0" anchor="t"/>
          <a:lstStyle/>
          <a:p>
            <a:pPr algn="l">
              <a:lnSpc>
                <a:spcPct val="105000"/>
              </a:lnSpc>
            </a:pPr>
            <a:r>
              <a:rPr sz="1000" b="1" i="0">
                <a:solidFill>
                  <a:srgbClr val="FFFFFF"/>
                </a:solidFill>
                <a:latin typeface="Inter"/>
              </a:rPr>
              <a:t>Change management</a:t>
            </a:r>
          </a:p>
        </p:txBody>
      </p:sp>
      <p:sp>
        <p:nvSpPr>
          <p:cNvPr id="38" name="TextBox 37"/>
          <p:cNvSpPr txBox="1"/>
          <p:nvPr/>
        </p:nvSpPr>
        <p:spPr>
          <a:xfrm>
            <a:off x="8412480" y="4553712"/>
            <a:ext cx="3200400" cy="566928"/>
          </a:xfrm>
          <a:prstGeom prst="rect">
            <a:avLst/>
          </a:prstGeom>
          <a:noFill/>
        </p:spPr>
        <p:txBody>
          <a:bodyPr wrap="square" lIns="0" tIns="0" rIns="0" bIns="0" anchor="t"/>
          <a:lstStyle/>
          <a:p>
            <a:pPr algn="l">
              <a:lnSpc>
                <a:spcPct val="110000"/>
              </a:lnSpc>
            </a:pPr>
            <a:r>
              <a:rPr sz="950" b="0" i="0">
                <a:solidFill>
                  <a:srgbClr val="9CA3AF"/>
                </a:solidFill>
                <a:latin typeface="Inter"/>
              </a:rPr>
              <a:t>Terraform pipeline with audit trail. No click-ops in production.</a:t>
            </a:r>
          </a:p>
        </p:txBody>
      </p:sp>
      <p:cxnSp>
        <p:nvCxnSpPr>
          <p:cNvPr id="39" name="Connector 38"/>
          <p:cNvCxnSpPr/>
          <p:nvPr/>
        </p:nvCxnSpPr>
        <p:spPr>
          <a:xfrm>
            <a:off x="6519672" y="5148072"/>
            <a:ext cx="5047487" cy="0"/>
          </a:xfrm>
          <a:prstGeom prst="line">
            <a:avLst/>
          </a:prstGeom>
          <a:ln w="6350">
            <a:solidFill>
              <a:srgbClr val="283140"/>
            </a:solidFill>
          </a:ln>
          <a:effectLst/>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519672" y="5230368"/>
            <a:ext cx="1783080" cy="566928"/>
          </a:xfrm>
          <a:prstGeom prst="rect">
            <a:avLst/>
          </a:prstGeom>
          <a:noFill/>
        </p:spPr>
        <p:txBody>
          <a:bodyPr wrap="square" lIns="0" tIns="0" rIns="0" bIns="0" anchor="t"/>
          <a:lstStyle/>
          <a:p>
            <a:pPr algn="l">
              <a:lnSpc>
                <a:spcPct val="105000"/>
              </a:lnSpc>
            </a:pPr>
            <a:r>
              <a:rPr sz="1000" b="1" i="0">
                <a:solidFill>
                  <a:srgbClr val="FFFFFF"/>
                </a:solidFill>
                <a:latin typeface="Inter"/>
              </a:rPr>
              <a:t>Hosting</a:t>
            </a:r>
          </a:p>
        </p:txBody>
      </p:sp>
      <p:sp>
        <p:nvSpPr>
          <p:cNvPr id="41" name="TextBox 40"/>
          <p:cNvSpPr txBox="1"/>
          <p:nvPr/>
        </p:nvSpPr>
        <p:spPr>
          <a:xfrm>
            <a:off x="8412480" y="5230368"/>
            <a:ext cx="3200400" cy="566928"/>
          </a:xfrm>
          <a:prstGeom prst="rect">
            <a:avLst/>
          </a:prstGeom>
          <a:noFill/>
        </p:spPr>
        <p:txBody>
          <a:bodyPr wrap="square" lIns="0" tIns="0" rIns="0" bIns="0" anchor="t"/>
          <a:lstStyle/>
          <a:p>
            <a:pPr algn="l">
              <a:lnSpc>
                <a:spcPct val="110000"/>
              </a:lnSpc>
            </a:pPr>
            <a:r>
              <a:rPr sz="950" b="0" i="0">
                <a:solidFill>
                  <a:srgbClr val="9CA3AF"/>
                </a:solidFill>
                <a:latin typeface="Inter"/>
              </a:rPr>
              <a:t>AWS US-East-1. SOC 2 Type II environment.</a:t>
            </a:r>
          </a:p>
        </p:txBody>
      </p:sp>
      <p:sp>
        <p:nvSpPr>
          <p:cNvPr id="42" name="TextBox 41"/>
          <p:cNvSpPr txBox="1"/>
          <p:nvPr/>
        </p:nvSpPr>
        <p:spPr>
          <a:xfrm>
            <a:off x="548640" y="6126480"/>
            <a:ext cx="11091672" cy="365760"/>
          </a:xfrm>
          <a:prstGeom prst="rect">
            <a:avLst/>
          </a:prstGeom>
          <a:noFill/>
        </p:spPr>
        <p:txBody>
          <a:bodyPr wrap="square" lIns="0" tIns="0" rIns="0" bIns="0" anchor="t"/>
          <a:lstStyle/>
          <a:p>
            <a:pPr algn="ctr"/>
            <a:r>
              <a:rPr sz="1050" b="0" i="1">
                <a:solidFill>
                  <a:srgbClr val="9CA3AF"/>
                </a:solidFill>
                <a:latin typeface="Inter"/>
              </a:rPr>
              <a:t>Every access path, including MCP, is audit-logged with actor, tool, and query.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4C82E7C6B8A84890BFA6E9F7684B59" ma:contentTypeVersion="11" ma:contentTypeDescription="Create a new document." ma:contentTypeScope="" ma:versionID="19a796ea76208058763919d3ff832536">
  <xsd:schema xmlns:xsd="http://www.w3.org/2001/XMLSchema" xmlns:xs="http://www.w3.org/2001/XMLSchema" xmlns:p="http://schemas.microsoft.com/office/2006/metadata/properties" xmlns:ns2="656fa211-1bb6-4223-b434-ceee676f9b01" xmlns:ns3="91ef800e-70e9-4b16-8040-622f487824c4" targetNamespace="http://schemas.microsoft.com/office/2006/metadata/properties" ma:root="true" ma:fieldsID="50695ed16ce2f0385f863c038493fc29" ns2:_="" ns3:_="">
    <xsd:import namespace="656fa211-1bb6-4223-b434-ceee676f9b01"/>
    <xsd:import namespace="91ef800e-70e9-4b16-8040-622f487824c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GenerationTime" minOccurs="0"/>
                <xsd:element ref="ns2:MediaServiceEventHashCode" minOccurs="0"/>
                <xsd:element ref="ns2:MediaServiceDateTaken"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56fa211-1bb6-4223-b434-ceee676f9b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dedd125e-53b4-44b8-9166-ed3820ef25d2"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1ef800e-70e9-4b16-8040-622f487824c4"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dd73185f-94de-42dc-9f19-4237dca778aa}" ma:internalName="TaxCatchAll" ma:showField="CatchAllData" ma:web="91ef800e-70e9-4b16-8040-622f487824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91ef800e-70e9-4b16-8040-622f487824c4" xsi:nil="true"/>
    <lcf76f155ced4ddcb4097134ff3c332f xmlns="656fa211-1bb6-4223-b434-ceee676f9b01">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9644B28-B3EF-499C-A25E-57653A6226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56fa211-1bb6-4223-b434-ceee676f9b01"/>
    <ds:schemaRef ds:uri="91ef800e-70e9-4b16-8040-622f487824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57276E9-4C71-4AA7-9B9B-BBFEA34592CA}">
  <ds:schemaRefs>
    <ds:schemaRef ds:uri="http://schemas.microsoft.com/office/2006/metadata/properties"/>
    <ds:schemaRef ds:uri="http://schemas.microsoft.com/office/infopath/2007/PartnerControls"/>
    <ds:schemaRef ds:uri="91ef800e-70e9-4b16-8040-622f487824c4"/>
    <ds:schemaRef ds:uri="656fa211-1bb6-4223-b434-ceee676f9b01"/>
  </ds:schemaRefs>
</ds:datastoreItem>
</file>

<file path=customXml/itemProps3.xml><?xml version="1.0" encoding="utf-8"?>
<ds:datastoreItem xmlns:ds="http://schemas.openxmlformats.org/officeDocument/2006/customXml" ds:itemID="{78AB7930-DD25-4F1A-B747-1896CE3A33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322</TotalTime>
  <Words>4621</Words>
  <Application>Microsoft Office PowerPoint</Application>
  <PresentationFormat>Widescreen</PresentationFormat>
  <Paragraphs>573</Paragraphs>
  <Slides>23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Aptos</vt: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Chris O'Connor</cp:lastModifiedBy>
  <cp:revision>1</cp:revision>
  <dcterms:created xsi:type="dcterms:W3CDTF">2013-01-27T09:14:16Z</dcterms:created>
  <dcterms:modified xsi:type="dcterms:W3CDTF">2026-08-20T17:01:25Z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0x010100784C82E7C6B8A84890BFA6E9F7684B59</vt:lpwstr>
  </property>
  <property fmtid="{D5CDD505-2E9C-101B-9397-08002B2CF9AE}" pid="3" name="MediaServiceImageTags">
    <vt:lpwstr/>
  </property>
</Properties>
</file>